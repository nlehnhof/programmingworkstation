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10" d="100"/>
          <a:sy n="110" d="100"/>
        </p:scale>
        <p:origin x="106" y="12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3954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2A4A"/>
          </a:solidFill>
          <a:ln/>
        </p:spPr>
        <p:txBody>
          <a:bodyPr/>
          <a:lstStyle/>
          <a:p>
            <a:endParaRPr lang="en-US"/>
          </a:p>
        </p:txBody>
      </p:sp>
      <p:sp>
        <p:nvSpPr>
          <p:cNvPr id="3" name="Shape 1"/>
          <p:cNvSpPr/>
          <p:nvPr/>
        </p:nvSpPr>
        <p:spPr>
          <a:xfrm>
            <a:off x="8778240" y="-2011680"/>
            <a:ext cx="5486400" cy="5486400"/>
          </a:xfrm>
          <a:prstGeom prst="ellipse">
            <a:avLst/>
          </a:prstGeom>
          <a:solidFill>
            <a:srgbClr val="13203A"/>
          </a:solidFill>
          <a:ln/>
        </p:spPr>
        <p:txBody>
          <a:bodyPr/>
          <a:lstStyle/>
          <a:p>
            <a:endParaRPr lang="en-US"/>
          </a:p>
        </p:txBody>
      </p:sp>
      <p:sp>
        <p:nvSpPr>
          <p:cNvPr id="4" name="Shape 2"/>
          <p:cNvSpPr/>
          <p:nvPr/>
        </p:nvSpPr>
        <p:spPr>
          <a:xfrm>
            <a:off x="9875520" y="4389120"/>
            <a:ext cx="3657600" cy="3657600"/>
          </a:xfrm>
          <a:prstGeom prst="ellipse">
            <a:avLst/>
          </a:prstGeom>
          <a:solidFill>
            <a:srgbClr val="13203A"/>
          </a:solidFill>
          <a:ln/>
        </p:spPr>
        <p:txBody>
          <a:bodyPr/>
          <a:lstStyle/>
          <a:p>
            <a:endParaRPr lang="en-US"/>
          </a:p>
        </p:txBody>
      </p:sp>
      <p:sp>
        <p:nvSpPr>
          <p:cNvPr id="5" name="Text 3"/>
          <p:cNvSpPr/>
          <p:nvPr/>
        </p:nvSpPr>
        <p:spPr>
          <a:xfrm>
            <a:off x="731520" y="1965960"/>
            <a:ext cx="7315200" cy="365760"/>
          </a:xfrm>
          <a:prstGeom prst="rect">
            <a:avLst/>
          </a:prstGeom>
          <a:noFill/>
          <a:ln/>
        </p:spPr>
        <p:txBody>
          <a:bodyPr wrap="square" lIns="0" tIns="0" rIns="0" bIns="0" rtlCol="0" anchor="ctr"/>
          <a:lstStyle/>
          <a:p>
            <a:pPr marL="0" indent="0">
              <a:buNone/>
            </a:pPr>
            <a:r>
              <a:rPr lang="en-US" sz="1400" b="1" kern="0" spc="300" dirty="0">
                <a:solidFill>
                  <a:srgbClr val="2E9E6D"/>
                </a:solidFill>
                <a:latin typeface="Calibri" pitchFamily="34" charset="0"/>
                <a:ea typeface="Calibri" pitchFamily="34" charset="-122"/>
                <a:cs typeface="Calibri" pitchFamily="34" charset="-120"/>
              </a:rPr>
              <a:t>PROJECT HANDOFF</a:t>
            </a:r>
            <a:endParaRPr lang="en-US" sz="1400" dirty="0"/>
          </a:p>
        </p:txBody>
      </p:sp>
      <p:sp>
        <p:nvSpPr>
          <p:cNvPr id="6" name="Text 4"/>
          <p:cNvSpPr/>
          <p:nvPr/>
        </p:nvSpPr>
        <p:spPr>
          <a:xfrm>
            <a:off x="731520" y="2331720"/>
            <a:ext cx="9601200" cy="118872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The Programming Workstation</a:t>
            </a:r>
            <a:endParaRPr lang="en-US" sz="4600" dirty="0"/>
          </a:p>
        </p:txBody>
      </p:sp>
      <p:sp>
        <p:nvSpPr>
          <p:cNvPr id="7" name="Text 5"/>
          <p:cNvSpPr/>
          <p:nvPr/>
        </p:nvSpPr>
        <p:spPr>
          <a:xfrm>
            <a:off x="731520" y="3429000"/>
            <a:ext cx="8229600" cy="548640"/>
          </a:xfrm>
          <a:prstGeom prst="rect">
            <a:avLst/>
          </a:prstGeom>
          <a:noFill/>
          <a:ln/>
        </p:spPr>
        <p:txBody>
          <a:bodyPr wrap="square" lIns="0" tIns="0" rIns="0" bIns="0" rtlCol="0" anchor="ctr"/>
          <a:lstStyle/>
          <a:p>
            <a:pPr marL="0" indent="0">
              <a:buNone/>
            </a:pPr>
            <a:r>
              <a:rPr lang="en-US" sz="1800" dirty="0">
                <a:solidFill>
                  <a:srgbClr val="CADCFC"/>
                </a:solidFill>
                <a:latin typeface="Calibri" pitchFamily="34" charset="0"/>
                <a:ea typeface="Calibri" pitchFamily="34" charset="-122"/>
                <a:cs typeface="Calibri" pitchFamily="34" charset="-120"/>
              </a:rPr>
              <a:t>What it does, how it's built, and where to pick up.</a:t>
            </a:r>
            <a:endParaRPr lang="en-US" sz="1800" dirty="0"/>
          </a:p>
        </p:txBody>
      </p:sp>
      <p:sp>
        <p:nvSpPr>
          <p:cNvPr id="8" name="Text 6"/>
          <p:cNvSpPr/>
          <p:nvPr/>
        </p:nvSpPr>
        <p:spPr>
          <a:xfrm>
            <a:off x="731520" y="6035040"/>
            <a:ext cx="7315200" cy="365760"/>
          </a:xfrm>
          <a:prstGeom prst="rect">
            <a:avLst/>
          </a:prstGeom>
          <a:noFill/>
          <a:ln/>
        </p:spPr>
        <p:txBody>
          <a:bodyPr wrap="square" lIns="0" tIns="0" rIns="0" bIns="0" rtlCol="0" anchor="ctr"/>
          <a:lstStyle/>
          <a:p>
            <a:pPr marL="0" indent="0">
              <a:buNone/>
            </a:pPr>
            <a:r>
              <a:rPr lang="en-US" sz="1300" dirty="0">
                <a:solidFill>
                  <a:srgbClr val="8A98B5"/>
                </a:solidFill>
                <a:latin typeface="Calibri" pitchFamily="34" charset="0"/>
                <a:ea typeface="Calibri" pitchFamily="34" charset="-122"/>
                <a:cs typeface="Calibri" pitchFamily="34" charset="-120"/>
              </a:rPr>
              <a:t>Nate Lehnhof   ·   August 4,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828800" y="4754880"/>
            <a:ext cx="5486400" cy="5486400"/>
          </a:xfrm>
          <a:prstGeom prst="ellipse">
            <a:avLst/>
          </a:prstGeom>
          <a:solidFill>
            <a:srgbClr val="13203A"/>
          </a:solidFill>
          <a:ln/>
        </p:spPr>
        <p:txBody>
          <a:bodyPr/>
          <a:lstStyle/>
          <a:p>
            <a:endParaRPr lang="en-US"/>
          </a:p>
        </p:txBody>
      </p:sp>
      <p:sp>
        <p:nvSpPr>
          <p:cNvPr id="3" name="Text 1"/>
          <p:cNvSpPr/>
          <p:nvPr/>
        </p:nvSpPr>
        <p:spPr>
          <a:xfrm>
            <a:off x="822960" y="2651760"/>
            <a:ext cx="7315200" cy="365760"/>
          </a:xfrm>
          <a:prstGeom prst="rect">
            <a:avLst/>
          </a:prstGeom>
          <a:noFill/>
          <a:ln/>
        </p:spPr>
        <p:txBody>
          <a:bodyPr wrap="square" lIns="0" tIns="0" rIns="0" bIns="0" rtlCol="0" anchor="ctr"/>
          <a:lstStyle/>
          <a:p>
            <a:pPr marL="0" indent="0">
              <a:buNone/>
            </a:pPr>
            <a:r>
              <a:rPr lang="en-US" sz="1400" b="1" kern="0" spc="300" dirty="0">
                <a:solidFill>
                  <a:srgbClr val="2E9E6D"/>
                </a:solidFill>
                <a:latin typeface="Calibri" pitchFamily="34" charset="0"/>
                <a:ea typeface="Calibri" pitchFamily="34" charset="-122"/>
                <a:cs typeface="Calibri" pitchFamily="34" charset="-120"/>
              </a:rPr>
              <a:t>PART 1 OF 4</a:t>
            </a:r>
            <a:endParaRPr lang="en-US" sz="1400" dirty="0"/>
          </a:p>
        </p:txBody>
      </p:sp>
      <p:sp>
        <p:nvSpPr>
          <p:cNvPr id="4" name="Text 2"/>
          <p:cNvSpPr/>
          <p:nvPr/>
        </p:nvSpPr>
        <p:spPr>
          <a:xfrm>
            <a:off x="822960" y="3017520"/>
            <a:ext cx="9601200" cy="109728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What It Does</a:t>
            </a:r>
            <a:endParaRPr lang="en-US" sz="4000" dirty="0"/>
          </a:p>
        </p:txBody>
      </p:sp>
      <p:sp>
        <p:nvSpPr>
          <p:cNvPr id="5" name="Text 3"/>
          <p:cNvSpPr/>
          <p:nvPr/>
        </p:nvSpPr>
        <p:spPr>
          <a:xfrm>
            <a:off x="822960" y="3977640"/>
            <a:ext cx="8229600" cy="54864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The problem, the fix, and what an operator sees.</a:t>
            </a:r>
            <a:endParaRPr lang="en-US" sz="1600" dirty="0"/>
          </a:p>
        </p:txBody>
      </p:sp>
      <p:sp>
        <p:nvSpPr>
          <p:cNvPr id="6" name="Text 4"/>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8A98B5"/>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2E9E6D"/>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marL="0" indent="0" algn="l">
              <a:buNone/>
            </a:pPr>
            <a:r>
              <a:rPr lang="en-US" sz="3200" b="1" dirty="0">
                <a:solidFill>
                  <a:srgbClr val="1B2A4A"/>
                </a:solidFill>
                <a:latin typeface="Cambria" pitchFamily="34" charset="0"/>
                <a:ea typeface="Cambria" pitchFamily="34" charset="-122"/>
                <a:cs typeface="Cambria" pitchFamily="34" charset="-120"/>
              </a:rPr>
              <a:t>Every gate router used to be set up by hand</a:t>
            </a:r>
            <a:endParaRPr lang="en-US" sz="3200" dirty="0"/>
          </a:p>
        </p:txBody>
      </p:sp>
      <p:sp>
        <p:nvSpPr>
          <p:cNvPr id="4" name="Text 2"/>
          <p:cNvSpPr/>
          <p:nvPr/>
        </p:nvSpPr>
        <p:spPr>
          <a:xfrm>
            <a:off x="548640" y="1417320"/>
            <a:ext cx="6035040" cy="2377440"/>
          </a:xfrm>
          <a:prstGeom prst="rect">
            <a:avLst/>
          </a:prstGeom>
          <a:noFill/>
          <a:ln/>
        </p:spPr>
        <p:txBody>
          <a:bodyPr wrap="square" lIns="0" tIns="0" rIns="0" bIns="0" rtlCol="0" anchor="ctr"/>
          <a:lstStyle/>
          <a:p>
            <a:pPr marL="0" indent="0">
              <a:lnSpc>
                <a:spcPct val="125000"/>
              </a:lnSpc>
              <a:buNone/>
            </a:pPr>
            <a:r>
              <a:rPr lang="en-US" sz="1500" dirty="0">
                <a:solidFill>
                  <a:srgbClr val="44536B"/>
                </a:solidFill>
                <a:latin typeface="Calibri" pitchFamily="34" charset="0"/>
                <a:ea typeface="Calibri" pitchFamily="34" charset="-122"/>
                <a:cs typeface="Calibri" pitchFamily="34" charset="-120"/>
              </a:rPr>
              <a:t>Airport jet bridges each have a small router that controls the gate equipment. Before one can be installed, someone must load the right firmware onto it, give it the right network address for that specific gate, test that it works, and print a label — and there are hundreds of gates.</a:t>
            </a:r>
            <a:endParaRPr lang="en-US" sz="1500" dirty="0"/>
          </a:p>
        </p:txBody>
      </p:sp>
      <p:sp>
        <p:nvSpPr>
          <p:cNvPr id="5" name="Shape 3"/>
          <p:cNvSpPr/>
          <p:nvPr/>
        </p:nvSpPr>
        <p:spPr>
          <a:xfrm>
            <a:off x="7040880" y="1417320"/>
            <a:ext cx="4572000" cy="1920240"/>
          </a:xfrm>
          <a:prstGeom prst="roundRect">
            <a:avLst>
              <a:gd name="adj" fmla="val 3810"/>
            </a:avLst>
          </a:prstGeom>
          <a:solidFill>
            <a:srgbClr val="F5F7FA"/>
          </a:solidFill>
          <a:ln/>
          <a:effectLst>
            <a:outerShdw blurRad="76200" dist="25400" dir="5400000" algn="bl" rotWithShape="0">
              <a:srgbClr val="1B2A4A">
                <a:alpha val="18000"/>
              </a:srgbClr>
            </a:outerShdw>
          </a:effectLst>
        </p:spPr>
        <p:txBody>
          <a:bodyPr/>
          <a:lstStyle/>
          <a:p>
            <a:endParaRPr lang="en-US"/>
          </a:p>
        </p:txBody>
      </p:sp>
      <p:sp>
        <p:nvSpPr>
          <p:cNvPr id="6" name="Text 4"/>
          <p:cNvSpPr/>
          <p:nvPr/>
        </p:nvSpPr>
        <p:spPr>
          <a:xfrm>
            <a:off x="7223760" y="1554480"/>
            <a:ext cx="4206240" cy="822960"/>
          </a:xfrm>
          <a:prstGeom prst="rect">
            <a:avLst/>
          </a:prstGeom>
          <a:noFill/>
          <a:ln/>
        </p:spPr>
        <p:txBody>
          <a:bodyPr wrap="square" lIns="0" tIns="0" rIns="0" bIns="0" rtlCol="0" anchor="ctr"/>
          <a:lstStyle/>
          <a:p>
            <a:pPr marL="0" indent="0">
              <a:buNone/>
            </a:pPr>
            <a:r>
              <a:rPr lang="en-US" sz="4000" b="1" dirty="0">
                <a:solidFill>
                  <a:srgbClr val="1B2A4A"/>
                </a:solidFill>
                <a:latin typeface="Cambria" pitchFamily="34" charset="0"/>
                <a:ea typeface="Cambria" pitchFamily="34" charset="-122"/>
                <a:cs typeface="Cambria" pitchFamily="34" charset="-120"/>
              </a:rPr>
              <a:t>~30 min</a:t>
            </a:r>
            <a:endParaRPr lang="en-US" sz="4000" dirty="0"/>
          </a:p>
        </p:txBody>
      </p:sp>
      <p:sp>
        <p:nvSpPr>
          <p:cNvPr id="7" name="Text 5"/>
          <p:cNvSpPr/>
          <p:nvPr/>
        </p:nvSpPr>
        <p:spPr>
          <a:xfrm>
            <a:off x="7223760" y="2377440"/>
            <a:ext cx="4206240" cy="457200"/>
          </a:xfrm>
          <a:prstGeom prst="rect">
            <a:avLst/>
          </a:prstGeom>
          <a:noFill/>
          <a:ln/>
        </p:spPr>
        <p:txBody>
          <a:bodyPr wrap="square" lIns="0" tIns="0" rIns="0" bIns="0" rtlCol="0" anchor="ctr"/>
          <a:lstStyle/>
          <a:p>
            <a:pPr marL="0" indent="0">
              <a:buNone/>
            </a:pPr>
            <a:r>
              <a:rPr lang="en-US" sz="1300" dirty="0">
                <a:solidFill>
                  <a:srgbClr val="44536B"/>
                </a:solidFill>
                <a:latin typeface="Calibri" pitchFamily="34" charset="0"/>
                <a:ea typeface="Calibri" pitchFamily="34" charset="-122"/>
                <a:cs typeface="Calibri" pitchFamily="34" charset="-120"/>
              </a:rPr>
              <a:t>per router, done manually</a:t>
            </a:r>
            <a:endParaRPr lang="en-US" sz="1300" dirty="0"/>
          </a:p>
        </p:txBody>
      </p:sp>
      <p:sp>
        <p:nvSpPr>
          <p:cNvPr id="8" name="Shape 6"/>
          <p:cNvSpPr/>
          <p:nvPr/>
        </p:nvSpPr>
        <p:spPr>
          <a:xfrm>
            <a:off x="7040880" y="3520440"/>
            <a:ext cx="4572000" cy="1920240"/>
          </a:xfrm>
          <a:prstGeom prst="roundRect">
            <a:avLst>
              <a:gd name="adj" fmla="val 3810"/>
            </a:avLst>
          </a:prstGeom>
          <a:solidFill>
            <a:srgbClr val="F5F7FA"/>
          </a:solidFill>
          <a:ln/>
          <a:effectLst>
            <a:outerShdw blurRad="76200" dist="25400" dir="5400000" algn="bl" rotWithShape="0">
              <a:srgbClr val="1B2A4A">
                <a:alpha val="18000"/>
              </a:srgbClr>
            </a:outerShdw>
          </a:effectLst>
        </p:spPr>
        <p:txBody>
          <a:bodyPr/>
          <a:lstStyle/>
          <a:p>
            <a:endParaRPr lang="en-US"/>
          </a:p>
        </p:txBody>
      </p:sp>
      <p:sp>
        <p:nvSpPr>
          <p:cNvPr id="9" name="Text 7"/>
          <p:cNvSpPr/>
          <p:nvPr/>
        </p:nvSpPr>
        <p:spPr>
          <a:xfrm>
            <a:off x="7223760" y="3657600"/>
            <a:ext cx="4206240" cy="822960"/>
          </a:xfrm>
          <a:prstGeom prst="rect">
            <a:avLst/>
          </a:prstGeom>
          <a:noFill/>
          <a:ln/>
        </p:spPr>
        <p:txBody>
          <a:bodyPr wrap="square" lIns="0" tIns="0" rIns="0" bIns="0" rtlCol="0" anchor="ctr"/>
          <a:lstStyle/>
          <a:p>
            <a:pPr marL="0" indent="0">
              <a:buNone/>
            </a:pPr>
            <a:r>
              <a:rPr lang="en-US" sz="4000" b="1" dirty="0">
                <a:solidFill>
                  <a:srgbClr val="1B2A4A"/>
                </a:solidFill>
                <a:latin typeface="Cambria" pitchFamily="34" charset="0"/>
                <a:ea typeface="Cambria" pitchFamily="34" charset="-122"/>
                <a:cs typeface="Cambria" pitchFamily="34" charset="-120"/>
              </a:rPr>
              <a:t>Hundreds</a:t>
            </a:r>
            <a:endParaRPr lang="en-US" sz="4000" dirty="0"/>
          </a:p>
        </p:txBody>
      </p:sp>
      <p:sp>
        <p:nvSpPr>
          <p:cNvPr id="10" name="Text 8"/>
          <p:cNvSpPr/>
          <p:nvPr/>
        </p:nvSpPr>
        <p:spPr>
          <a:xfrm>
            <a:off x="7223760" y="4480560"/>
            <a:ext cx="4206240" cy="457200"/>
          </a:xfrm>
          <a:prstGeom prst="rect">
            <a:avLst/>
          </a:prstGeom>
          <a:noFill/>
          <a:ln/>
        </p:spPr>
        <p:txBody>
          <a:bodyPr wrap="square" lIns="0" tIns="0" rIns="0" bIns="0" rtlCol="0" anchor="ctr"/>
          <a:lstStyle/>
          <a:p>
            <a:pPr marL="0" indent="0">
              <a:buNone/>
            </a:pPr>
            <a:r>
              <a:rPr lang="en-US" sz="1300" dirty="0">
                <a:solidFill>
                  <a:srgbClr val="44536B"/>
                </a:solidFill>
                <a:latin typeface="Calibri" pitchFamily="34" charset="0"/>
                <a:ea typeface="Calibri" pitchFamily="34" charset="-122"/>
                <a:cs typeface="Calibri" pitchFamily="34" charset="-120"/>
              </a:rPr>
              <a:t>of gates across every airport deployment</a:t>
            </a:r>
            <a:endParaRPr lang="en-US" sz="1300" dirty="0"/>
          </a:p>
        </p:txBody>
      </p:sp>
      <p:sp>
        <p:nvSpPr>
          <p:cNvPr id="11" name="Text 9"/>
          <p:cNvSpPr/>
          <p:nvPr/>
        </p:nvSpPr>
        <p:spPr>
          <a:xfrm>
            <a:off x="548640" y="5394960"/>
            <a:ext cx="6035040" cy="914400"/>
          </a:xfrm>
          <a:prstGeom prst="rect">
            <a:avLst/>
          </a:prstGeom>
          <a:noFill/>
          <a:ln/>
        </p:spPr>
        <p:txBody>
          <a:bodyPr wrap="square" lIns="0" tIns="0" rIns="0" bIns="0" rtlCol="0" anchor="ctr"/>
          <a:lstStyle/>
          <a:p>
            <a:pPr marL="0" indent="0">
              <a:buNone/>
            </a:pPr>
            <a:r>
              <a:rPr lang="en-US" sz="1400" i="1" dirty="0">
                <a:solidFill>
                  <a:srgbClr val="7A879B"/>
                </a:solidFill>
                <a:latin typeface="Calibri" pitchFamily="34" charset="0"/>
                <a:ea typeface="Calibri" pitchFamily="34" charset="-122"/>
                <a:cs typeface="Calibri" pitchFamily="34" charset="-120"/>
              </a:rPr>
              <a:t>Manual, repetitive, and easy to get wrong — a mistyped IP or a skipped step doesn't show up until the gate is live.</a:t>
            </a:r>
            <a:endParaRPr lang="en-US" sz="1400" dirty="0"/>
          </a:p>
        </p:txBody>
      </p:sp>
      <p:sp>
        <p:nvSpPr>
          <p:cNvPr id="12" name="Text 10"/>
          <p:cNvSpPr/>
          <p:nvPr/>
        </p:nvSpPr>
        <p:spPr>
          <a:xfrm>
            <a:off x="457200" y="6473952"/>
            <a:ext cx="7315200" cy="274320"/>
          </a:xfrm>
          <a:prstGeom prst="rect">
            <a:avLst/>
          </a:prstGeom>
          <a:noFill/>
          <a:ln/>
        </p:spPr>
        <p:txBody>
          <a:bodyPr wrap="square" lIns="0" tIns="0" rIns="0" bIns="0" rtlCol="0" anchor="ctr"/>
          <a:lstStyle/>
          <a:p>
            <a:pPr marL="0" indent="0">
              <a:buNone/>
            </a:pPr>
            <a:r>
              <a:rPr lang="en-US" sz="1000" dirty="0">
                <a:solidFill>
                  <a:srgbClr val="7A879B"/>
                </a:solidFill>
                <a:latin typeface="Calibri" pitchFamily="34" charset="0"/>
                <a:ea typeface="Calibri" pitchFamily="34" charset="-122"/>
                <a:cs typeface="Calibri" pitchFamily="34" charset="-120"/>
              </a:rPr>
              <a:t>Programming Workstation — Handoff</a:t>
            </a:r>
            <a:endParaRPr lang="en-US" sz="1000" dirty="0"/>
          </a:p>
        </p:txBody>
      </p:sp>
      <p:sp>
        <p:nvSpPr>
          <p:cNvPr id="13" name="Text 11"/>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7A879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2E9E6D"/>
                </a:solidFill>
                <a:latin typeface="Calibri" pitchFamily="34" charset="0"/>
                <a:ea typeface="Calibri" pitchFamily="34" charset="-122"/>
                <a:cs typeface="Calibri" pitchFamily="34" charset="-120"/>
              </a:rPr>
              <a:t>THE SOLUTION</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marL="0" indent="0" algn="l">
              <a:buNone/>
            </a:pPr>
            <a:r>
              <a:rPr lang="en-US" sz="3200" b="1" dirty="0">
                <a:solidFill>
                  <a:srgbClr val="1B2A4A"/>
                </a:solidFill>
                <a:latin typeface="Cambria" pitchFamily="34" charset="0"/>
                <a:ea typeface="Cambria" pitchFamily="34" charset="-122"/>
                <a:cs typeface="Cambria" pitchFamily="34" charset="-120"/>
              </a:rPr>
              <a:t>This app does it in about 7 minutes</a:t>
            </a:r>
            <a:endParaRPr lang="en-US" sz="3200" dirty="0"/>
          </a:p>
        </p:txBody>
      </p:sp>
      <p:sp>
        <p:nvSpPr>
          <p:cNvPr id="4" name="Text 2"/>
          <p:cNvSpPr/>
          <p:nvPr/>
        </p:nvSpPr>
        <p:spPr>
          <a:xfrm>
            <a:off x="548640" y="1188720"/>
            <a:ext cx="9144000" cy="457200"/>
          </a:xfrm>
          <a:prstGeom prst="rect">
            <a:avLst/>
          </a:prstGeom>
          <a:noFill/>
          <a:ln/>
        </p:spPr>
        <p:txBody>
          <a:bodyPr wrap="square" lIns="0" tIns="0" rIns="0" bIns="0" rtlCol="0" anchor="ctr"/>
          <a:lstStyle/>
          <a:p>
            <a:pPr marL="0" indent="0">
              <a:buNone/>
            </a:pPr>
            <a:r>
              <a:rPr lang="en-US" sz="1600" dirty="0">
                <a:solidFill>
                  <a:srgbClr val="44536B"/>
                </a:solidFill>
                <a:latin typeface="Calibri" pitchFamily="34" charset="0"/>
                <a:ea typeface="Calibri" pitchFamily="34" charset="-122"/>
                <a:cs typeface="Calibri" pitchFamily="34" charset="-120"/>
              </a:rPr>
              <a:t>The same way, every time — and it writes down what happened.</a:t>
            </a:r>
            <a:endParaRPr lang="en-US" sz="1600" dirty="0"/>
          </a:p>
        </p:txBody>
      </p:sp>
      <p:sp>
        <p:nvSpPr>
          <p:cNvPr id="5" name="Shape 3"/>
          <p:cNvSpPr/>
          <p:nvPr/>
        </p:nvSpPr>
        <p:spPr>
          <a:xfrm>
            <a:off x="548640" y="1920240"/>
            <a:ext cx="5212080" cy="4023360"/>
          </a:xfrm>
          <a:prstGeom prst="roundRect">
            <a:avLst>
              <a:gd name="adj" fmla="val 1818"/>
            </a:avLst>
          </a:prstGeom>
          <a:solidFill>
            <a:srgbClr val="F5F7FA"/>
          </a:solidFill>
          <a:ln/>
          <a:effectLst>
            <a:outerShdw blurRad="76200" dist="25400" dir="5400000" algn="bl" rotWithShape="0">
              <a:srgbClr val="1B2A4A">
                <a:alpha val="18000"/>
              </a:srgbClr>
            </a:outerShdw>
          </a:effectLst>
        </p:spPr>
        <p:txBody>
          <a:bodyPr/>
          <a:lstStyle/>
          <a:p>
            <a:endParaRPr lang="en-US"/>
          </a:p>
        </p:txBody>
      </p:sp>
      <p:sp>
        <p:nvSpPr>
          <p:cNvPr id="6" name="Text 4"/>
          <p:cNvSpPr/>
          <p:nvPr/>
        </p:nvSpPr>
        <p:spPr>
          <a:xfrm>
            <a:off x="914400" y="2194560"/>
            <a:ext cx="4480560" cy="320040"/>
          </a:xfrm>
          <a:prstGeom prst="rect">
            <a:avLst/>
          </a:prstGeom>
          <a:noFill/>
          <a:ln/>
        </p:spPr>
        <p:txBody>
          <a:bodyPr wrap="square" lIns="0" tIns="0" rIns="0" bIns="0" rtlCol="0" anchor="ctr"/>
          <a:lstStyle/>
          <a:p>
            <a:pPr marL="0" indent="0">
              <a:buNone/>
            </a:pPr>
            <a:r>
              <a:rPr lang="en-US" sz="1200" b="1" kern="0" spc="200" dirty="0">
                <a:solidFill>
                  <a:srgbClr val="C0443A"/>
                </a:solidFill>
                <a:latin typeface="Calibri" pitchFamily="34" charset="0"/>
                <a:ea typeface="Calibri" pitchFamily="34" charset="-122"/>
                <a:cs typeface="Calibri" pitchFamily="34" charset="-120"/>
              </a:rPr>
              <a:t>BEFORE</a:t>
            </a:r>
            <a:endParaRPr lang="en-US" sz="1200" dirty="0"/>
          </a:p>
        </p:txBody>
      </p:sp>
      <p:sp>
        <p:nvSpPr>
          <p:cNvPr id="7" name="Text 5"/>
          <p:cNvSpPr/>
          <p:nvPr/>
        </p:nvSpPr>
        <p:spPr>
          <a:xfrm>
            <a:off x="914400" y="2514600"/>
            <a:ext cx="4480560" cy="457200"/>
          </a:xfrm>
          <a:prstGeom prst="rect">
            <a:avLst/>
          </a:prstGeom>
          <a:noFill/>
          <a:ln/>
        </p:spPr>
        <p:txBody>
          <a:bodyPr wrap="square" lIns="0" tIns="0" rIns="0" bIns="0" rtlCol="0" anchor="ctr"/>
          <a:lstStyle/>
          <a:p>
            <a:pPr marL="0" indent="0">
              <a:buNone/>
            </a:pPr>
            <a:r>
              <a:rPr lang="en-US" sz="2200" b="1" dirty="0">
                <a:solidFill>
                  <a:srgbClr val="1B2A4A"/>
                </a:solidFill>
                <a:latin typeface="Cambria" pitchFamily="34" charset="0"/>
                <a:ea typeface="Cambria" pitchFamily="34" charset="-122"/>
                <a:cs typeface="Cambria" pitchFamily="34" charset="-120"/>
              </a:rPr>
              <a:t>Manual setup</a:t>
            </a:r>
            <a:endParaRPr lang="en-US" sz="2200" dirty="0"/>
          </a:p>
        </p:txBody>
      </p:sp>
      <p:sp>
        <p:nvSpPr>
          <p:cNvPr id="8" name="Text 6"/>
          <p:cNvSpPr/>
          <p:nvPr/>
        </p:nvSpPr>
        <p:spPr>
          <a:xfrm>
            <a:off x="914400" y="3063240"/>
            <a:ext cx="4480560" cy="26517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44536B"/>
                </a:solidFill>
                <a:latin typeface="Calibri" pitchFamily="34" charset="0"/>
                <a:ea typeface="Calibri" pitchFamily="34" charset="-122"/>
                <a:cs typeface="Calibri" pitchFamily="34" charset="-120"/>
              </a:rPr>
              <a:t>~30 minutes of manual steps per router</a:t>
            </a:r>
            <a:endParaRPr lang="en-US" sz="1400" dirty="0"/>
          </a:p>
          <a:p>
            <a:pPr marL="342900" indent="-342900">
              <a:spcAft>
                <a:spcPts val="1000"/>
              </a:spcAft>
              <a:buSzPct val="100000"/>
              <a:buChar char="✗"/>
            </a:pPr>
            <a:r>
              <a:rPr lang="en-US" sz="1400" dirty="0">
                <a:solidFill>
                  <a:srgbClr val="44536B"/>
                </a:solidFill>
                <a:latin typeface="Calibri" pitchFamily="34" charset="0"/>
                <a:ea typeface="Calibri" pitchFamily="34" charset="-122"/>
                <a:cs typeface="Calibri" pitchFamily="34" charset="-120"/>
              </a:rPr>
              <a:t>Column position in Excel decides what gets read/written</a:t>
            </a:r>
            <a:endParaRPr lang="en-US" sz="1400" dirty="0"/>
          </a:p>
          <a:p>
            <a:pPr marL="342900" indent="-342900">
              <a:spcAft>
                <a:spcPts val="1000"/>
              </a:spcAft>
              <a:buSzPct val="100000"/>
              <a:buChar char="✗"/>
            </a:pPr>
            <a:r>
              <a:rPr lang="en-US" sz="1400" dirty="0">
                <a:solidFill>
                  <a:srgbClr val="44536B"/>
                </a:solidFill>
                <a:latin typeface="Calibri" pitchFamily="34" charset="0"/>
                <a:ea typeface="Calibri" pitchFamily="34" charset="-122"/>
                <a:cs typeface="Calibri" pitchFamily="34" charset="-120"/>
              </a:rPr>
              <a:t>No consistent record of what happened, or why a run failed</a:t>
            </a:r>
            <a:endParaRPr lang="en-US" sz="1400" dirty="0"/>
          </a:p>
        </p:txBody>
      </p:sp>
      <p:sp>
        <p:nvSpPr>
          <p:cNvPr id="9" name="Shape 7"/>
          <p:cNvSpPr/>
          <p:nvPr/>
        </p:nvSpPr>
        <p:spPr>
          <a:xfrm>
            <a:off x="6035040" y="1920240"/>
            <a:ext cx="5577840" cy="4023360"/>
          </a:xfrm>
          <a:prstGeom prst="roundRect">
            <a:avLst>
              <a:gd name="adj" fmla="val 1818"/>
            </a:avLst>
          </a:prstGeom>
          <a:solidFill>
            <a:srgbClr val="1B2A4A"/>
          </a:solidFill>
          <a:ln/>
          <a:effectLst>
            <a:outerShdw blurRad="76200" dist="25400" dir="5400000" algn="bl" rotWithShape="0">
              <a:srgbClr val="1B2A4A">
                <a:alpha val="18000"/>
              </a:srgbClr>
            </a:outerShdw>
          </a:effectLst>
        </p:spPr>
        <p:txBody>
          <a:bodyPr/>
          <a:lstStyle/>
          <a:p>
            <a:endParaRPr lang="en-US"/>
          </a:p>
        </p:txBody>
      </p:sp>
      <p:sp>
        <p:nvSpPr>
          <p:cNvPr id="10" name="Text 8"/>
          <p:cNvSpPr/>
          <p:nvPr/>
        </p:nvSpPr>
        <p:spPr>
          <a:xfrm>
            <a:off x="6400800" y="2194560"/>
            <a:ext cx="4846320" cy="320040"/>
          </a:xfrm>
          <a:prstGeom prst="rect">
            <a:avLst/>
          </a:prstGeom>
          <a:noFill/>
          <a:ln/>
        </p:spPr>
        <p:txBody>
          <a:bodyPr wrap="square" lIns="0" tIns="0" rIns="0" bIns="0" rtlCol="0" anchor="ctr"/>
          <a:lstStyle/>
          <a:p>
            <a:pPr marL="0" indent="0">
              <a:buNone/>
            </a:pPr>
            <a:r>
              <a:rPr lang="en-US" sz="1200" b="1" kern="0" spc="200" dirty="0">
                <a:solidFill>
                  <a:srgbClr val="2E9E6D"/>
                </a:solidFill>
                <a:latin typeface="Calibri" pitchFamily="34" charset="0"/>
                <a:ea typeface="Calibri" pitchFamily="34" charset="-122"/>
                <a:cs typeface="Calibri" pitchFamily="34" charset="-120"/>
              </a:rPr>
              <a:t>AFTER</a:t>
            </a:r>
            <a:endParaRPr lang="en-US" sz="1200" dirty="0"/>
          </a:p>
        </p:txBody>
      </p:sp>
      <p:sp>
        <p:nvSpPr>
          <p:cNvPr id="11" name="Text 9"/>
          <p:cNvSpPr/>
          <p:nvPr/>
        </p:nvSpPr>
        <p:spPr>
          <a:xfrm>
            <a:off x="6400800" y="2514600"/>
            <a:ext cx="484632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Programming Workstation</a:t>
            </a:r>
            <a:endParaRPr lang="en-US" sz="2200" dirty="0"/>
          </a:p>
        </p:txBody>
      </p:sp>
      <p:sp>
        <p:nvSpPr>
          <p:cNvPr id="12" name="Text 10"/>
          <p:cNvSpPr/>
          <p:nvPr/>
        </p:nvSpPr>
        <p:spPr>
          <a:xfrm>
            <a:off x="6400800" y="3063240"/>
            <a:ext cx="4846320" cy="26517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CADCFC"/>
                </a:solidFill>
                <a:latin typeface="Calibri" pitchFamily="34" charset="0"/>
                <a:ea typeface="Calibri" pitchFamily="34" charset="-122"/>
                <a:cs typeface="Calibri" pitchFamily="34" charset="-120"/>
              </a:rPr>
              <a:t>~7 minutes, guided, same steps every run</a:t>
            </a:r>
            <a:endParaRPr lang="en-US" sz="1400" dirty="0"/>
          </a:p>
          <a:p>
            <a:pPr marL="342900" indent="-342900">
              <a:spcAft>
                <a:spcPts val="1000"/>
              </a:spcAft>
              <a:buSzPct val="100000"/>
              <a:buChar char="✓"/>
            </a:pPr>
            <a:r>
              <a:rPr lang="en-US" sz="1400" dirty="0">
                <a:solidFill>
                  <a:srgbClr val="CADCFC"/>
                </a:solidFill>
                <a:latin typeface="Calibri" pitchFamily="34" charset="0"/>
                <a:ea typeface="Calibri" pitchFamily="34" charset="-122"/>
                <a:cs typeface="Calibri" pitchFamily="34" charset="-120"/>
              </a:rPr>
              <a:t>Spreadsheet columns resolved by header name — reordering can't misdirect a write</a:t>
            </a:r>
            <a:endParaRPr lang="en-US" sz="1400" dirty="0"/>
          </a:p>
          <a:p>
            <a:pPr marL="342900" indent="-342900">
              <a:spcAft>
                <a:spcPts val="1000"/>
              </a:spcAft>
              <a:buSzPct val="100000"/>
              <a:buChar char="✓"/>
            </a:pPr>
            <a:r>
              <a:rPr lang="en-US" sz="1400" dirty="0">
                <a:solidFill>
                  <a:srgbClr val="CADCFC"/>
                </a:solidFill>
                <a:latin typeface="Calibri" pitchFamily="34" charset="0"/>
                <a:ea typeface="Calibri" pitchFamily="34" charset="-122"/>
                <a:cs typeface="Calibri" pitchFamily="34" charset="-120"/>
              </a:rPr>
              <a:t>Every run stamps the sheet: black timestamp on success, red on failure, with a linked crash log</a:t>
            </a:r>
            <a:endParaRPr lang="en-US" sz="1400" dirty="0"/>
          </a:p>
        </p:txBody>
      </p:sp>
      <p:sp>
        <p:nvSpPr>
          <p:cNvPr id="13" name="Text 11"/>
          <p:cNvSpPr/>
          <p:nvPr/>
        </p:nvSpPr>
        <p:spPr>
          <a:xfrm>
            <a:off x="457200" y="6473952"/>
            <a:ext cx="7315200" cy="274320"/>
          </a:xfrm>
          <a:prstGeom prst="rect">
            <a:avLst/>
          </a:prstGeom>
          <a:noFill/>
          <a:ln/>
        </p:spPr>
        <p:txBody>
          <a:bodyPr wrap="square" lIns="0" tIns="0" rIns="0" bIns="0" rtlCol="0" anchor="ctr"/>
          <a:lstStyle/>
          <a:p>
            <a:pPr marL="0" indent="0">
              <a:buNone/>
            </a:pPr>
            <a:r>
              <a:rPr lang="en-US" sz="1000" dirty="0">
                <a:solidFill>
                  <a:srgbClr val="7A879B"/>
                </a:solidFill>
                <a:latin typeface="Calibri" pitchFamily="34" charset="0"/>
                <a:ea typeface="Calibri" pitchFamily="34" charset="-122"/>
                <a:cs typeface="Calibri" pitchFamily="34" charset="-120"/>
              </a:rPr>
              <a:t>Programming Workstation — Handoff</a:t>
            </a:r>
            <a:endParaRPr lang="en-US" sz="1000" dirty="0"/>
          </a:p>
        </p:txBody>
      </p:sp>
      <p:sp>
        <p:nvSpPr>
          <p:cNvPr id="14" name="Text 12"/>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7A879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2E9E6D"/>
                </a:solidFill>
                <a:latin typeface="Calibri" pitchFamily="34" charset="0"/>
                <a:ea typeface="Calibri" pitchFamily="34" charset="-122"/>
                <a:cs typeface="Calibri" pitchFamily="34" charset="-120"/>
              </a:rPr>
              <a:t>THE OPERATOR'S VIEW</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marL="0" indent="0" algn="l">
              <a:buNone/>
            </a:pPr>
            <a:r>
              <a:rPr lang="en-US" sz="3200" b="1" dirty="0">
                <a:solidFill>
                  <a:srgbClr val="1B2A4A"/>
                </a:solidFill>
                <a:latin typeface="Cambria" pitchFamily="34" charset="0"/>
                <a:ea typeface="Cambria" pitchFamily="34" charset="-122"/>
                <a:cs typeface="Cambria" pitchFamily="34" charset="-120"/>
              </a:rPr>
              <a:t>Four steps, then the app takes over</a:t>
            </a:r>
            <a:endParaRPr lang="en-US" sz="3200" dirty="0"/>
          </a:p>
        </p:txBody>
      </p:sp>
      <p:sp>
        <p:nvSpPr>
          <p:cNvPr id="4" name="Shape 2"/>
          <p:cNvSpPr/>
          <p:nvPr/>
        </p:nvSpPr>
        <p:spPr>
          <a:xfrm>
            <a:off x="548640" y="1417320"/>
            <a:ext cx="2606040" cy="1828800"/>
          </a:xfrm>
          <a:prstGeom prst="roundRect">
            <a:avLst>
              <a:gd name="adj" fmla="val 4000"/>
            </a:avLst>
          </a:prstGeom>
          <a:solidFill>
            <a:srgbClr val="F5F7FA"/>
          </a:solidFill>
          <a:ln/>
          <a:effectLst>
            <a:outerShdw blurRad="76200" dist="25400" dir="5400000" algn="bl" rotWithShape="0">
              <a:srgbClr val="1B2A4A">
                <a:alpha val="18000"/>
              </a:srgbClr>
            </a:outerShdw>
          </a:effectLst>
        </p:spPr>
        <p:txBody>
          <a:bodyPr/>
          <a:lstStyle/>
          <a:p>
            <a:endParaRPr lang="en-US"/>
          </a:p>
        </p:txBody>
      </p:sp>
      <p:sp>
        <p:nvSpPr>
          <p:cNvPr id="5" name="Shape 3"/>
          <p:cNvSpPr/>
          <p:nvPr/>
        </p:nvSpPr>
        <p:spPr>
          <a:xfrm>
            <a:off x="749808" y="1618488"/>
            <a:ext cx="457200" cy="457200"/>
          </a:xfrm>
          <a:prstGeom prst="ellipse">
            <a:avLst/>
          </a:prstGeom>
          <a:solidFill>
            <a:srgbClr val="1B2A4A"/>
          </a:solidFill>
          <a:ln/>
        </p:spPr>
        <p:txBody>
          <a:bodyPr/>
          <a:lstStyle/>
          <a:p>
            <a:endParaRPr lang="en-US"/>
          </a:p>
        </p:txBody>
      </p:sp>
      <p:sp>
        <p:nvSpPr>
          <p:cNvPr id="6" name="Text 4"/>
          <p:cNvSpPr/>
          <p:nvPr/>
        </p:nvSpPr>
        <p:spPr>
          <a:xfrm>
            <a:off x="749808" y="161848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731520" y="2194560"/>
            <a:ext cx="2240280" cy="548640"/>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Plug in the router</a:t>
            </a:r>
            <a:endParaRPr lang="en-US" sz="1400" dirty="0"/>
          </a:p>
        </p:txBody>
      </p:sp>
      <p:sp>
        <p:nvSpPr>
          <p:cNvPr id="8" name="Text 6"/>
          <p:cNvSpPr/>
          <p:nvPr/>
        </p:nvSpPr>
        <p:spPr>
          <a:xfrm>
            <a:off x="731520" y="2651760"/>
            <a:ext cx="2240280" cy="548640"/>
          </a:xfrm>
          <a:prstGeom prst="rect">
            <a:avLst/>
          </a:prstGeom>
          <a:noFill/>
          <a:ln/>
        </p:spPr>
        <p:txBody>
          <a:bodyPr wrap="square" lIns="0" tIns="0" rIns="0" bIns="0" rtlCol="0" anchor="ctr"/>
          <a:lstStyle/>
          <a:p>
            <a:pPr marL="0" indent="0">
              <a:buNone/>
            </a:pPr>
            <a:r>
              <a:rPr lang="en-US" sz="1100" dirty="0">
                <a:solidFill>
                  <a:srgbClr val="44536B"/>
                </a:solidFill>
                <a:latin typeface="Calibri" pitchFamily="34" charset="0"/>
                <a:ea typeface="Calibri" pitchFamily="34" charset="-122"/>
                <a:cs typeface="Calibri" pitchFamily="34" charset="-120"/>
              </a:rPr>
              <a:t>Per the wiring diagram or by following the instructions dialog</a:t>
            </a:r>
            <a:endParaRPr lang="en-US" sz="1100" dirty="0"/>
          </a:p>
        </p:txBody>
      </p:sp>
      <p:sp>
        <p:nvSpPr>
          <p:cNvPr id="9" name="Text 7"/>
          <p:cNvSpPr/>
          <p:nvPr/>
        </p:nvSpPr>
        <p:spPr>
          <a:xfrm>
            <a:off x="3154680" y="2011680"/>
            <a:ext cx="182880" cy="548640"/>
          </a:xfrm>
          <a:prstGeom prst="rect">
            <a:avLst/>
          </a:prstGeom>
          <a:noFill/>
          <a:ln/>
        </p:spPr>
        <p:txBody>
          <a:bodyPr wrap="square" lIns="0" tIns="0" rIns="0" bIns="0" rtlCol="0" anchor="ctr"/>
          <a:lstStyle/>
          <a:p>
            <a:pPr marL="0" indent="0" algn="ctr">
              <a:buNone/>
            </a:pPr>
            <a:r>
              <a:rPr lang="en-US" sz="1800" dirty="0">
                <a:solidFill>
                  <a:srgbClr val="7A879B"/>
                </a:solidFill>
              </a:rPr>
              <a:t>→</a:t>
            </a:r>
            <a:endParaRPr lang="en-US" sz="1800" dirty="0"/>
          </a:p>
        </p:txBody>
      </p:sp>
      <p:sp>
        <p:nvSpPr>
          <p:cNvPr id="10" name="Shape 8"/>
          <p:cNvSpPr/>
          <p:nvPr/>
        </p:nvSpPr>
        <p:spPr>
          <a:xfrm>
            <a:off x="3337560" y="1417320"/>
            <a:ext cx="2606040" cy="1828800"/>
          </a:xfrm>
          <a:prstGeom prst="roundRect">
            <a:avLst>
              <a:gd name="adj" fmla="val 4000"/>
            </a:avLst>
          </a:prstGeom>
          <a:solidFill>
            <a:srgbClr val="F5F7FA"/>
          </a:solidFill>
          <a:ln/>
          <a:effectLst>
            <a:outerShdw blurRad="76200" dist="25400" dir="5400000" algn="bl" rotWithShape="0">
              <a:srgbClr val="1B2A4A">
                <a:alpha val="18000"/>
              </a:srgbClr>
            </a:outerShdw>
          </a:effectLst>
        </p:spPr>
        <p:txBody>
          <a:bodyPr/>
          <a:lstStyle/>
          <a:p>
            <a:endParaRPr lang="en-US"/>
          </a:p>
        </p:txBody>
      </p:sp>
      <p:sp>
        <p:nvSpPr>
          <p:cNvPr id="11" name="Shape 9"/>
          <p:cNvSpPr/>
          <p:nvPr/>
        </p:nvSpPr>
        <p:spPr>
          <a:xfrm>
            <a:off x="3538728" y="1618488"/>
            <a:ext cx="457200" cy="457200"/>
          </a:xfrm>
          <a:prstGeom prst="ellipse">
            <a:avLst/>
          </a:prstGeom>
          <a:solidFill>
            <a:srgbClr val="1B2A4A"/>
          </a:solidFill>
          <a:ln/>
        </p:spPr>
        <p:txBody>
          <a:bodyPr/>
          <a:lstStyle/>
          <a:p>
            <a:endParaRPr lang="en-US"/>
          </a:p>
        </p:txBody>
      </p:sp>
      <p:sp>
        <p:nvSpPr>
          <p:cNvPr id="12" name="Text 10"/>
          <p:cNvSpPr/>
          <p:nvPr/>
        </p:nvSpPr>
        <p:spPr>
          <a:xfrm>
            <a:off x="3538728" y="161848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3520440" y="2194560"/>
            <a:ext cx="2240280" cy="548640"/>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Pick the gate</a:t>
            </a:r>
            <a:endParaRPr lang="en-US" sz="1400" dirty="0"/>
          </a:p>
        </p:txBody>
      </p:sp>
      <p:sp>
        <p:nvSpPr>
          <p:cNvPr id="14" name="Text 12"/>
          <p:cNvSpPr/>
          <p:nvPr/>
        </p:nvSpPr>
        <p:spPr>
          <a:xfrm>
            <a:off x="3520440" y="2651760"/>
            <a:ext cx="2240280" cy="548640"/>
          </a:xfrm>
          <a:prstGeom prst="rect">
            <a:avLst/>
          </a:prstGeom>
          <a:noFill/>
          <a:ln/>
        </p:spPr>
        <p:txBody>
          <a:bodyPr wrap="square" lIns="0" tIns="0" rIns="0" bIns="0" rtlCol="0" anchor="ctr"/>
          <a:lstStyle/>
          <a:p>
            <a:pPr marL="0" indent="0">
              <a:buNone/>
            </a:pPr>
            <a:r>
              <a:rPr lang="en-US" sz="1100" dirty="0">
                <a:solidFill>
                  <a:srgbClr val="44536B"/>
                </a:solidFill>
                <a:latin typeface="Calibri" pitchFamily="34" charset="0"/>
                <a:ea typeface="Calibri" pitchFamily="34" charset="-122"/>
                <a:cs typeface="Calibri" pitchFamily="34" charset="-120"/>
              </a:rPr>
              <a:t>From a dropdown, sourced from the airport's spreadsheet (also selected)</a:t>
            </a:r>
            <a:endParaRPr lang="en-US" sz="1100" dirty="0"/>
          </a:p>
        </p:txBody>
      </p:sp>
      <p:sp>
        <p:nvSpPr>
          <p:cNvPr id="15" name="Text 13"/>
          <p:cNvSpPr/>
          <p:nvPr/>
        </p:nvSpPr>
        <p:spPr>
          <a:xfrm>
            <a:off x="5943600" y="2011680"/>
            <a:ext cx="182880" cy="548640"/>
          </a:xfrm>
          <a:prstGeom prst="rect">
            <a:avLst/>
          </a:prstGeom>
          <a:noFill/>
          <a:ln/>
        </p:spPr>
        <p:txBody>
          <a:bodyPr wrap="square" lIns="0" tIns="0" rIns="0" bIns="0" rtlCol="0" anchor="ctr"/>
          <a:lstStyle/>
          <a:p>
            <a:pPr marL="0" indent="0" algn="ctr">
              <a:buNone/>
            </a:pPr>
            <a:r>
              <a:rPr lang="en-US" sz="1800" dirty="0">
                <a:solidFill>
                  <a:srgbClr val="7A879B"/>
                </a:solidFill>
              </a:rPr>
              <a:t>→</a:t>
            </a:r>
            <a:endParaRPr lang="en-US" sz="1800" dirty="0"/>
          </a:p>
        </p:txBody>
      </p:sp>
      <p:sp>
        <p:nvSpPr>
          <p:cNvPr id="16" name="Shape 14"/>
          <p:cNvSpPr/>
          <p:nvPr/>
        </p:nvSpPr>
        <p:spPr>
          <a:xfrm>
            <a:off x="6126480" y="1417320"/>
            <a:ext cx="2606040" cy="1828800"/>
          </a:xfrm>
          <a:prstGeom prst="roundRect">
            <a:avLst>
              <a:gd name="adj" fmla="val 4000"/>
            </a:avLst>
          </a:prstGeom>
          <a:solidFill>
            <a:srgbClr val="F5F7FA"/>
          </a:solidFill>
          <a:ln/>
          <a:effectLst>
            <a:outerShdw blurRad="76200" dist="25400" dir="5400000" algn="bl" rotWithShape="0">
              <a:srgbClr val="1B2A4A">
                <a:alpha val="18000"/>
              </a:srgbClr>
            </a:outerShdw>
          </a:effectLst>
        </p:spPr>
        <p:txBody>
          <a:bodyPr/>
          <a:lstStyle/>
          <a:p>
            <a:endParaRPr lang="en-US"/>
          </a:p>
        </p:txBody>
      </p:sp>
      <p:sp>
        <p:nvSpPr>
          <p:cNvPr id="17" name="Shape 15"/>
          <p:cNvSpPr/>
          <p:nvPr/>
        </p:nvSpPr>
        <p:spPr>
          <a:xfrm>
            <a:off x="6327648" y="1618488"/>
            <a:ext cx="457200" cy="457200"/>
          </a:xfrm>
          <a:prstGeom prst="ellipse">
            <a:avLst/>
          </a:prstGeom>
          <a:solidFill>
            <a:srgbClr val="1B2A4A"/>
          </a:solidFill>
          <a:ln/>
        </p:spPr>
        <p:txBody>
          <a:bodyPr/>
          <a:lstStyle/>
          <a:p>
            <a:endParaRPr lang="en-US"/>
          </a:p>
        </p:txBody>
      </p:sp>
      <p:sp>
        <p:nvSpPr>
          <p:cNvPr id="18" name="Text 16"/>
          <p:cNvSpPr/>
          <p:nvPr/>
        </p:nvSpPr>
        <p:spPr>
          <a:xfrm>
            <a:off x="6327648" y="161848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p:nvPr/>
        </p:nvSpPr>
        <p:spPr>
          <a:xfrm>
            <a:off x="6309360" y="2194560"/>
            <a:ext cx="2240280" cy="548640"/>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Scan the QR code</a:t>
            </a:r>
            <a:endParaRPr lang="en-US" sz="1400" dirty="0"/>
          </a:p>
        </p:txBody>
      </p:sp>
      <p:sp>
        <p:nvSpPr>
          <p:cNvPr id="20" name="Text 18"/>
          <p:cNvSpPr/>
          <p:nvPr/>
        </p:nvSpPr>
        <p:spPr>
          <a:xfrm>
            <a:off x="6309360" y="2651760"/>
            <a:ext cx="2240280" cy="548640"/>
          </a:xfrm>
          <a:prstGeom prst="rect">
            <a:avLst/>
          </a:prstGeom>
          <a:noFill/>
          <a:ln/>
        </p:spPr>
        <p:txBody>
          <a:bodyPr wrap="square" lIns="0" tIns="0" rIns="0" bIns="0" rtlCol="0" anchor="ctr"/>
          <a:lstStyle/>
          <a:p>
            <a:pPr marL="0" indent="0">
              <a:buNone/>
            </a:pPr>
            <a:r>
              <a:rPr lang="en-US" sz="1100" dirty="0">
                <a:solidFill>
                  <a:srgbClr val="44536B"/>
                </a:solidFill>
                <a:latin typeface="Calibri" pitchFamily="34" charset="0"/>
                <a:ea typeface="Calibri" pitchFamily="34" charset="-122"/>
                <a:cs typeface="Calibri" pitchFamily="34" charset="-120"/>
              </a:rPr>
              <a:t>On the router — extracts its temporary password</a:t>
            </a:r>
            <a:endParaRPr lang="en-US" sz="1100" dirty="0"/>
          </a:p>
        </p:txBody>
      </p:sp>
      <p:sp>
        <p:nvSpPr>
          <p:cNvPr id="21" name="Text 19"/>
          <p:cNvSpPr/>
          <p:nvPr/>
        </p:nvSpPr>
        <p:spPr>
          <a:xfrm>
            <a:off x="8732520" y="2011680"/>
            <a:ext cx="182880" cy="548640"/>
          </a:xfrm>
          <a:prstGeom prst="rect">
            <a:avLst/>
          </a:prstGeom>
          <a:noFill/>
          <a:ln/>
        </p:spPr>
        <p:txBody>
          <a:bodyPr wrap="square" lIns="0" tIns="0" rIns="0" bIns="0" rtlCol="0" anchor="ctr"/>
          <a:lstStyle/>
          <a:p>
            <a:pPr marL="0" indent="0" algn="ctr">
              <a:buNone/>
            </a:pPr>
            <a:r>
              <a:rPr lang="en-US" sz="1800" dirty="0">
                <a:solidFill>
                  <a:srgbClr val="7A879B"/>
                </a:solidFill>
              </a:rPr>
              <a:t>→</a:t>
            </a:r>
            <a:endParaRPr lang="en-US" sz="1800" dirty="0"/>
          </a:p>
        </p:txBody>
      </p:sp>
      <p:sp>
        <p:nvSpPr>
          <p:cNvPr id="22" name="Shape 20"/>
          <p:cNvSpPr/>
          <p:nvPr/>
        </p:nvSpPr>
        <p:spPr>
          <a:xfrm>
            <a:off x="8915400" y="1417320"/>
            <a:ext cx="2606040" cy="1828800"/>
          </a:xfrm>
          <a:prstGeom prst="roundRect">
            <a:avLst>
              <a:gd name="adj" fmla="val 4000"/>
            </a:avLst>
          </a:prstGeom>
          <a:solidFill>
            <a:srgbClr val="F5F7FA"/>
          </a:solidFill>
          <a:ln/>
          <a:effectLst>
            <a:outerShdw blurRad="76200" dist="25400" dir="5400000" algn="bl" rotWithShape="0">
              <a:srgbClr val="1B2A4A">
                <a:alpha val="18000"/>
              </a:srgbClr>
            </a:outerShdw>
          </a:effectLst>
        </p:spPr>
        <p:txBody>
          <a:bodyPr/>
          <a:lstStyle/>
          <a:p>
            <a:endParaRPr lang="en-US"/>
          </a:p>
        </p:txBody>
      </p:sp>
      <p:sp>
        <p:nvSpPr>
          <p:cNvPr id="23" name="Shape 21"/>
          <p:cNvSpPr/>
          <p:nvPr/>
        </p:nvSpPr>
        <p:spPr>
          <a:xfrm>
            <a:off x="9116568" y="1618488"/>
            <a:ext cx="457200" cy="457200"/>
          </a:xfrm>
          <a:prstGeom prst="ellipse">
            <a:avLst/>
          </a:prstGeom>
          <a:solidFill>
            <a:srgbClr val="1B2A4A"/>
          </a:solidFill>
          <a:ln/>
        </p:spPr>
        <p:txBody>
          <a:bodyPr/>
          <a:lstStyle/>
          <a:p>
            <a:endParaRPr lang="en-US"/>
          </a:p>
        </p:txBody>
      </p:sp>
      <p:sp>
        <p:nvSpPr>
          <p:cNvPr id="24" name="Text 22"/>
          <p:cNvSpPr/>
          <p:nvPr/>
        </p:nvSpPr>
        <p:spPr>
          <a:xfrm>
            <a:off x="9116568" y="161848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5" name="Text 23"/>
          <p:cNvSpPr/>
          <p:nvPr/>
        </p:nvSpPr>
        <p:spPr>
          <a:xfrm>
            <a:off x="9098280" y="2194560"/>
            <a:ext cx="2240280" cy="548640"/>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Press “Program Device”</a:t>
            </a:r>
            <a:endParaRPr lang="en-US" sz="1400" dirty="0"/>
          </a:p>
        </p:txBody>
      </p:sp>
      <p:sp>
        <p:nvSpPr>
          <p:cNvPr id="26" name="Text 24"/>
          <p:cNvSpPr/>
          <p:nvPr/>
        </p:nvSpPr>
        <p:spPr>
          <a:xfrm>
            <a:off x="9098280" y="2651760"/>
            <a:ext cx="2240280" cy="548640"/>
          </a:xfrm>
          <a:prstGeom prst="rect">
            <a:avLst/>
          </a:prstGeom>
          <a:noFill/>
          <a:ln/>
        </p:spPr>
        <p:txBody>
          <a:bodyPr wrap="square" lIns="0" tIns="0" rIns="0" bIns="0" rtlCol="0" anchor="ctr"/>
          <a:lstStyle/>
          <a:p>
            <a:pPr marL="0" indent="0">
              <a:buNone/>
            </a:pPr>
            <a:r>
              <a:rPr lang="en-US" sz="1100" dirty="0">
                <a:solidFill>
                  <a:srgbClr val="44536B"/>
                </a:solidFill>
                <a:latin typeface="Calibri" pitchFamily="34" charset="0"/>
                <a:ea typeface="Calibri" pitchFamily="34" charset="-122"/>
                <a:cs typeface="Calibri" pitchFamily="34" charset="-120"/>
              </a:rPr>
              <a:t>And watch the live checklist</a:t>
            </a:r>
            <a:endParaRPr lang="en-US" sz="1100" dirty="0"/>
          </a:p>
        </p:txBody>
      </p:sp>
      <p:sp>
        <p:nvSpPr>
          <p:cNvPr id="27" name="Text 25"/>
          <p:cNvSpPr/>
          <p:nvPr/>
        </p:nvSpPr>
        <p:spPr>
          <a:xfrm>
            <a:off x="548640" y="3520440"/>
            <a:ext cx="5486400" cy="822960"/>
          </a:xfrm>
          <a:prstGeom prst="rect">
            <a:avLst/>
          </a:prstGeom>
          <a:noFill/>
          <a:ln/>
        </p:spPr>
        <p:txBody>
          <a:bodyPr wrap="square" lIns="0" tIns="0" rIns="0" bIns="0" rtlCol="0" anchor="t"/>
          <a:lstStyle/>
          <a:p>
            <a:pPr marL="0" indent="0">
              <a:buNone/>
            </a:pPr>
            <a:r>
              <a:rPr lang="en-US" sz="1400" dirty="0">
                <a:solidFill>
                  <a:srgbClr val="44536B"/>
                </a:solidFill>
                <a:latin typeface="Calibri" pitchFamily="34" charset="0"/>
                <a:ea typeface="Calibri" pitchFamily="34" charset="-122"/>
                <a:cs typeface="Calibri" pitchFamily="34" charset="-120"/>
              </a:rPr>
              <a:t>Then a live checklist ticks itself off — green PASS, red FAIL — while the background thread does the work:</a:t>
            </a:r>
            <a:endParaRPr lang="en-US" sz="1400" dirty="0"/>
          </a:p>
        </p:txBody>
      </p:sp>
      <p:sp>
        <p:nvSpPr>
          <p:cNvPr id="28" name="Shape 26"/>
          <p:cNvSpPr/>
          <p:nvPr/>
        </p:nvSpPr>
        <p:spPr>
          <a:xfrm>
            <a:off x="6163056" y="3465576"/>
            <a:ext cx="5504688" cy="3310128"/>
          </a:xfrm>
          <a:prstGeom prst="roundRect">
            <a:avLst>
              <a:gd name="adj" fmla="val 1381"/>
            </a:avLst>
          </a:prstGeom>
          <a:solidFill>
            <a:srgbClr val="FFFFFF"/>
          </a:solidFill>
          <a:ln w="12700">
            <a:solidFill>
              <a:srgbClr val="D7DEEA"/>
            </a:solidFill>
            <a:prstDash val="solid"/>
          </a:ln>
          <a:effectLst>
            <a:outerShdw blurRad="101600" dist="38100" dir="5400000" algn="bl" rotWithShape="0">
              <a:srgbClr val="1B2A4A">
                <a:alpha val="22000"/>
              </a:srgbClr>
            </a:outerShdw>
          </a:effectLst>
        </p:spPr>
        <p:txBody>
          <a:bodyPr/>
          <a:lstStyle/>
          <a:p>
            <a:endParaRPr lang="en-US"/>
          </a:p>
        </p:txBody>
      </p:sp>
      <p:pic>
        <p:nvPicPr>
          <p:cNvPr id="29" name="Image 0" descr="/sessions/peaceful-amazing-thompson/mnt/outputs/screens/04_program_tr_checklist.png"/>
          <p:cNvPicPr>
            <a:picLocks noChangeAspect="1"/>
          </p:cNvPicPr>
          <p:nvPr/>
        </p:nvPicPr>
        <p:blipFill>
          <a:blip r:embed="rId3"/>
          <a:stretch>
            <a:fillRect/>
          </a:stretch>
        </p:blipFill>
        <p:spPr>
          <a:xfrm>
            <a:off x="6217920" y="3520440"/>
            <a:ext cx="5394960" cy="3200400"/>
          </a:xfrm>
          <a:prstGeom prst="rect">
            <a:avLst/>
          </a:prstGeom>
        </p:spPr>
      </p:pic>
      <p:sp>
        <p:nvSpPr>
          <p:cNvPr id="30" name="Text 27"/>
          <p:cNvSpPr/>
          <p:nvPr/>
        </p:nvSpPr>
        <p:spPr>
          <a:xfrm>
            <a:off x="457200" y="6473952"/>
            <a:ext cx="7315200" cy="274320"/>
          </a:xfrm>
          <a:prstGeom prst="rect">
            <a:avLst/>
          </a:prstGeom>
          <a:noFill/>
          <a:ln/>
        </p:spPr>
        <p:txBody>
          <a:bodyPr wrap="square" lIns="0" tIns="0" rIns="0" bIns="0" rtlCol="0" anchor="ctr"/>
          <a:lstStyle/>
          <a:p>
            <a:pPr marL="0" indent="0">
              <a:buNone/>
            </a:pPr>
            <a:r>
              <a:rPr lang="en-US" sz="1000" dirty="0">
                <a:solidFill>
                  <a:srgbClr val="7A879B"/>
                </a:solidFill>
                <a:latin typeface="Calibri" pitchFamily="34" charset="0"/>
                <a:ea typeface="Calibri" pitchFamily="34" charset="-122"/>
                <a:cs typeface="Calibri" pitchFamily="34" charset="-120"/>
              </a:rPr>
              <a:t>Programming Workstation — Handoff</a:t>
            </a:r>
            <a:endParaRPr lang="en-US" sz="1000" dirty="0"/>
          </a:p>
        </p:txBody>
      </p:sp>
      <p:sp>
        <p:nvSpPr>
          <p:cNvPr id="31" name="Text 28"/>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7A879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2E9E6D"/>
                </a:solidFill>
                <a:latin typeface="Calibri" pitchFamily="34" charset="0"/>
                <a:ea typeface="Calibri" pitchFamily="34" charset="-122"/>
                <a:cs typeface="Calibri" pitchFamily="34" charset="-120"/>
              </a:rPr>
              <a:t>TWO DEVICE TYPES, TODAY</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marL="0" indent="0" algn="l">
              <a:buNone/>
            </a:pPr>
            <a:r>
              <a:rPr lang="en-US" sz="3200" b="1" dirty="0">
                <a:solidFill>
                  <a:srgbClr val="1B2A4A"/>
                </a:solidFill>
                <a:latin typeface="Cambria" pitchFamily="34" charset="0"/>
                <a:ea typeface="Cambria" pitchFamily="34" charset="-122"/>
                <a:cs typeface="Cambria" pitchFamily="34" charset="-120"/>
              </a:rPr>
              <a:t>Two routers, same job, one shared codebase</a:t>
            </a:r>
            <a:endParaRPr lang="en-US" sz="3200" dirty="0"/>
          </a:p>
        </p:txBody>
      </p:sp>
      <p:sp>
        <p:nvSpPr>
          <p:cNvPr id="4" name="Shape 2"/>
          <p:cNvSpPr/>
          <p:nvPr/>
        </p:nvSpPr>
        <p:spPr>
          <a:xfrm>
            <a:off x="3383280" y="1463040"/>
            <a:ext cx="4480560" cy="658368"/>
          </a:xfrm>
          <a:prstGeom prst="rect">
            <a:avLst/>
          </a:prstGeom>
          <a:solidFill>
            <a:srgbClr val="1B2A4A"/>
          </a:solidFill>
          <a:ln w="9525">
            <a:solidFill>
              <a:srgbClr val="E3E8F0"/>
            </a:solidFill>
            <a:prstDash val="solid"/>
          </a:ln>
        </p:spPr>
        <p:txBody>
          <a:bodyPr/>
          <a:lstStyle/>
          <a:p>
            <a:endParaRPr lang="en-US"/>
          </a:p>
        </p:txBody>
      </p:sp>
      <p:sp>
        <p:nvSpPr>
          <p:cNvPr id="5" name="Text 3"/>
          <p:cNvSpPr/>
          <p:nvPr/>
        </p:nvSpPr>
        <p:spPr>
          <a:xfrm>
            <a:off x="3547872" y="1463040"/>
            <a:ext cx="4151376" cy="65836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Digi IX20</a:t>
            </a:r>
            <a:endParaRPr lang="en-US" sz="1300" dirty="0"/>
          </a:p>
        </p:txBody>
      </p:sp>
      <p:sp>
        <p:nvSpPr>
          <p:cNvPr id="6" name="Shape 4"/>
          <p:cNvSpPr/>
          <p:nvPr/>
        </p:nvSpPr>
        <p:spPr>
          <a:xfrm>
            <a:off x="7863840" y="1463040"/>
            <a:ext cx="4480560" cy="658368"/>
          </a:xfrm>
          <a:prstGeom prst="rect">
            <a:avLst/>
          </a:prstGeom>
          <a:solidFill>
            <a:srgbClr val="1B2A4A"/>
          </a:solidFill>
          <a:ln w="9525">
            <a:solidFill>
              <a:srgbClr val="E3E8F0"/>
            </a:solidFill>
            <a:prstDash val="solid"/>
          </a:ln>
        </p:spPr>
        <p:txBody>
          <a:bodyPr/>
          <a:lstStyle/>
          <a:p>
            <a:endParaRPr lang="en-US"/>
          </a:p>
        </p:txBody>
      </p:sp>
      <p:sp>
        <p:nvSpPr>
          <p:cNvPr id="7" name="Text 5"/>
          <p:cNvSpPr/>
          <p:nvPr/>
        </p:nvSpPr>
        <p:spPr>
          <a:xfrm>
            <a:off x="8028432" y="1463040"/>
            <a:ext cx="4151376" cy="65836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Teltonika RUTX08</a:t>
            </a:r>
            <a:endParaRPr lang="en-US" sz="1300" dirty="0"/>
          </a:p>
        </p:txBody>
      </p:sp>
      <p:sp>
        <p:nvSpPr>
          <p:cNvPr id="8" name="Shape 6"/>
          <p:cNvSpPr/>
          <p:nvPr/>
        </p:nvSpPr>
        <p:spPr>
          <a:xfrm>
            <a:off x="548640" y="2121408"/>
            <a:ext cx="2834640" cy="658368"/>
          </a:xfrm>
          <a:prstGeom prst="rect">
            <a:avLst/>
          </a:prstGeom>
          <a:solidFill>
            <a:srgbClr val="FFFFFF"/>
          </a:solidFill>
          <a:ln w="9525">
            <a:solidFill>
              <a:srgbClr val="E3E8F0"/>
            </a:solidFill>
            <a:prstDash val="solid"/>
          </a:ln>
        </p:spPr>
        <p:txBody>
          <a:bodyPr/>
          <a:lstStyle/>
          <a:p>
            <a:endParaRPr lang="en-US"/>
          </a:p>
        </p:txBody>
      </p:sp>
      <p:sp>
        <p:nvSpPr>
          <p:cNvPr id="9" name="Text 7"/>
          <p:cNvSpPr/>
          <p:nvPr/>
        </p:nvSpPr>
        <p:spPr>
          <a:xfrm>
            <a:off x="713232" y="2121408"/>
            <a:ext cx="2505456" cy="658368"/>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Folder</a:t>
            </a:r>
            <a:endParaRPr lang="en-US" sz="1300" dirty="0"/>
          </a:p>
        </p:txBody>
      </p:sp>
      <p:sp>
        <p:nvSpPr>
          <p:cNvPr id="10" name="Shape 8"/>
          <p:cNvSpPr/>
          <p:nvPr/>
        </p:nvSpPr>
        <p:spPr>
          <a:xfrm>
            <a:off x="3383280" y="2121408"/>
            <a:ext cx="4480560" cy="658368"/>
          </a:xfrm>
          <a:prstGeom prst="rect">
            <a:avLst/>
          </a:prstGeom>
          <a:solidFill>
            <a:srgbClr val="FFFFFF"/>
          </a:solidFill>
          <a:ln w="9525">
            <a:solidFill>
              <a:srgbClr val="E3E8F0"/>
            </a:solidFill>
            <a:prstDash val="solid"/>
          </a:ln>
        </p:spPr>
        <p:txBody>
          <a:bodyPr/>
          <a:lstStyle/>
          <a:p>
            <a:endParaRPr lang="en-US"/>
          </a:p>
        </p:txBody>
      </p:sp>
      <p:sp>
        <p:nvSpPr>
          <p:cNvPr id="11" name="Text 9"/>
          <p:cNvSpPr/>
          <p:nvPr/>
        </p:nvSpPr>
        <p:spPr>
          <a:xfrm>
            <a:off x="3547872" y="2121408"/>
            <a:ext cx="4151376" cy="658368"/>
          </a:xfrm>
          <a:prstGeom prst="rect">
            <a:avLst/>
          </a:prstGeom>
          <a:noFill/>
          <a:ln/>
        </p:spPr>
        <p:txBody>
          <a:bodyPr wrap="square" lIns="0" tIns="0" rIns="0" bIns="0" rtlCol="0" anchor="ctr"/>
          <a:lstStyle/>
          <a:p>
            <a:pPr marL="0" indent="0">
              <a:buNone/>
            </a:pPr>
            <a:r>
              <a:rPr lang="en-US" sz="1300" dirty="0">
                <a:solidFill>
                  <a:srgbClr val="44536B"/>
                </a:solidFill>
                <a:latin typeface="Calibri" pitchFamily="34" charset="0"/>
                <a:ea typeface="Calibri" pitchFamily="34" charset="-122"/>
                <a:cs typeface="Calibri" pitchFamily="34" charset="-120"/>
              </a:rPr>
              <a:t>devices/digiIX20/</a:t>
            </a:r>
            <a:endParaRPr lang="en-US" sz="1300" dirty="0"/>
          </a:p>
        </p:txBody>
      </p:sp>
      <p:sp>
        <p:nvSpPr>
          <p:cNvPr id="12" name="Shape 10"/>
          <p:cNvSpPr/>
          <p:nvPr/>
        </p:nvSpPr>
        <p:spPr>
          <a:xfrm>
            <a:off x="7863840" y="2121408"/>
            <a:ext cx="4480560" cy="658368"/>
          </a:xfrm>
          <a:prstGeom prst="rect">
            <a:avLst/>
          </a:prstGeom>
          <a:solidFill>
            <a:srgbClr val="FFFFFF"/>
          </a:solidFill>
          <a:ln w="9525">
            <a:solidFill>
              <a:srgbClr val="E3E8F0"/>
            </a:solidFill>
            <a:prstDash val="solid"/>
          </a:ln>
        </p:spPr>
        <p:txBody>
          <a:bodyPr/>
          <a:lstStyle/>
          <a:p>
            <a:endParaRPr lang="en-US"/>
          </a:p>
        </p:txBody>
      </p:sp>
      <p:sp>
        <p:nvSpPr>
          <p:cNvPr id="13" name="Text 11"/>
          <p:cNvSpPr/>
          <p:nvPr/>
        </p:nvSpPr>
        <p:spPr>
          <a:xfrm>
            <a:off x="8028432" y="2121408"/>
            <a:ext cx="4151376" cy="658368"/>
          </a:xfrm>
          <a:prstGeom prst="rect">
            <a:avLst/>
          </a:prstGeom>
          <a:noFill/>
          <a:ln/>
        </p:spPr>
        <p:txBody>
          <a:bodyPr wrap="square" lIns="0" tIns="0" rIns="0" bIns="0" rtlCol="0" anchor="ctr"/>
          <a:lstStyle/>
          <a:p>
            <a:pPr marL="0" indent="0">
              <a:buNone/>
            </a:pPr>
            <a:r>
              <a:rPr lang="en-US" sz="1300" dirty="0">
                <a:solidFill>
                  <a:srgbClr val="44536B"/>
                </a:solidFill>
                <a:latin typeface="Calibri" pitchFamily="34" charset="0"/>
                <a:ea typeface="Calibri" pitchFamily="34" charset="-122"/>
                <a:cs typeface="Calibri" pitchFamily="34" charset="-120"/>
              </a:rPr>
              <a:t>devices/TR/</a:t>
            </a:r>
            <a:endParaRPr lang="en-US" sz="1300" dirty="0"/>
          </a:p>
        </p:txBody>
      </p:sp>
      <p:sp>
        <p:nvSpPr>
          <p:cNvPr id="14" name="Shape 12"/>
          <p:cNvSpPr/>
          <p:nvPr/>
        </p:nvSpPr>
        <p:spPr>
          <a:xfrm>
            <a:off x="548640" y="2779776"/>
            <a:ext cx="2834640" cy="658368"/>
          </a:xfrm>
          <a:prstGeom prst="rect">
            <a:avLst/>
          </a:prstGeom>
          <a:solidFill>
            <a:srgbClr val="F5F7FA"/>
          </a:solidFill>
          <a:ln w="9525">
            <a:solidFill>
              <a:srgbClr val="E3E8F0"/>
            </a:solidFill>
            <a:prstDash val="solid"/>
          </a:ln>
        </p:spPr>
        <p:txBody>
          <a:bodyPr/>
          <a:lstStyle/>
          <a:p>
            <a:endParaRPr lang="en-US"/>
          </a:p>
        </p:txBody>
      </p:sp>
      <p:sp>
        <p:nvSpPr>
          <p:cNvPr id="15" name="Text 13"/>
          <p:cNvSpPr/>
          <p:nvPr/>
        </p:nvSpPr>
        <p:spPr>
          <a:xfrm>
            <a:off x="713232" y="2779776"/>
            <a:ext cx="2505456" cy="658368"/>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Live checklist</a:t>
            </a:r>
            <a:endParaRPr lang="en-US" sz="1300" dirty="0"/>
          </a:p>
        </p:txBody>
      </p:sp>
      <p:sp>
        <p:nvSpPr>
          <p:cNvPr id="16" name="Shape 14"/>
          <p:cNvSpPr/>
          <p:nvPr/>
        </p:nvSpPr>
        <p:spPr>
          <a:xfrm>
            <a:off x="3383280" y="2779776"/>
            <a:ext cx="4480560" cy="658368"/>
          </a:xfrm>
          <a:prstGeom prst="rect">
            <a:avLst/>
          </a:prstGeom>
          <a:solidFill>
            <a:srgbClr val="F5F7FA"/>
          </a:solidFill>
          <a:ln w="9525">
            <a:solidFill>
              <a:srgbClr val="E3E8F0"/>
            </a:solidFill>
            <a:prstDash val="solid"/>
          </a:ln>
        </p:spPr>
        <p:txBody>
          <a:bodyPr/>
          <a:lstStyle/>
          <a:p>
            <a:endParaRPr lang="en-US"/>
          </a:p>
        </p:txBody>
      </p:sp>
      <p:sp>
        <p:nvSpPr>
          <p:cNvPr id="17" name="Text 15"/>
          <p:cNvSpPr/>
          <p:nvPr/>
        </p:nvSpPr>
        <p:spPr>
          <a:xfrm>
            <a:off x="3547872" y="2779776"/>
            <a:ext cx="4151376" cy="658368"/>
          </a:xfrm>
          <a:prstGeom prst="rect">
            <a:avLst/>
          </a:prstGeom>
          <a:noFill/>
          <a:ln/>
        </p:spPr>
        <p:txBody>
          <a:bodyPr wrap="square" lIns="0" tIns="0" rIns="0" bIns="0" rtlCol="0" anchor="ctr"/>
          <a:lstStyle/>
          <a:p>
            <a:pPr marL="0" indent="0">
              <a:buNone/>
            </a:pPr>
            <a:r>
              <a:rPr lang="en-US" sz="1300" dirty="0">
                <a:solidFill>
                  <a:srgbClr val="44536B"/>
                </a:solidFill>
                <a:latin typeface="Calibri" pitchFamily="34" charset="0"/>
                <a:ea typeface="Calibri" pitchFamily="34" charset="-122"/>
                <a:cs typeface="Calibri" pitchFamily="34" charset="-120"/>
              </a:rPr>
              <a:t>Yes — 9 steps</a:t>
            </a:r>
            <a:endParaRPr lang="en-US" sz="1300" dirty="0"/>
          </a:p>
        </p:txBody>
      </p:sp>
      <p:sp>
        <p:nvSpPr>
          <p:cNvPr id="18" name="Shape 16"/>
          <p:cNvSpPr/>
          <p:nvPr/>
        </p:nvSpPr>
        <p:spPr>
          <a:xfrm>
            <a:off x="7863840" y="2779776"/>
            <a:ext cx="4480560" cy="658368"/>
          </a:xfrm>
          <a:prstGeom prst="rect">
            <a:avLst/>
          </a:prstGeom>
          <a:solidFill>
            <a:srgbClr val="F5F7FA"/>
          </a:solidFill>
          <a:ln w="9525">
            <a:solidFill>
              <a:srgbClr val="E3E8F0"/>
            </a:solidFill>
            <a:prstDash val="solid"/>
          </a:ln>
        </p:spPr>
        <p:txBody>
          <a:bodyPr/>
          <a:lstStyle/>
          <a:p>
            <a:endParaRPr lang="en-US"/>
          </a:p>
        </p:txBody>
      </p:sp>
      <p:sp>
        <p:nvSpPr>
          <p:cNvPr id="19" name="Text 17"/>
          <p:cNvSpPr/>
          <p:nvPr/>
        </p:nvSpPr>
        <p:spPr>
          <a:xfrm>
            <a:off x="8028432" y="2779776"/>
            <a:ext cx="4151376" cy="658368"/>
          </a:xfrm>
          <a:prstGeom prst="rect">
            <a:avLst/>
          </a:prstGeom>
          <a:noFill/>
          <a:ln/>
        </p:spPr>
        <p:txBody>
          <a:bodyPr wrap="square" lIns="0" tIns="0" rIns="0" bIns="0" rtlCol="0" anchor="ctr"/>
          <a:lstStyle/>
          <a:p>
            <a:pPr marL="0" indent="0">
              <a:buNone/>
            </a:pPr>
            <a:r>
              <a:rPr lang="en-US" sz="1300" dirty="0">
                <a:solidFill>
                  <a:srgbClr val="44536B"/>
                </a:solidFill>
                <a:latin typeface="Calibri" pitchFamily="34" charset="0"/>
                <a:ea typeface="Calibri" pitchFamily="34" charset="-122"/>
                <a:cs typeface="Calibri" pitchFamily="34" charset="-120"/>
              </a:rPr>
              <a:t>Yes — 9 steps</a:t>
            </a:r>
            <a:endParaRPr lang="en-US" sz="1300" dirty="0"/>
          </a:p>
        </p:txBody>
      </p:sp>
      <p:sp>
        <p:nvSpPr>
          <p:cNvPr id="20" name="Shape 18"/>
          <p:cNvSpPr/>
          <p:nvPr/>
        </p:nvSpPr>
        <p:spPr>
          <a:xfrm>
            <a:off x="548640" y="3438144"/>
            <a:ext cx="2834640" cy="658368"/>
          </a:xfrm>
          <a:prstGeom prst="rect">
            <a:avLst/>
          </a:prstGeom>
          <a:solidFill>
            <a:srgbClr val="FFFFFF"/>
          </a:solidFill>
          <a:ln w="9525">
            <a:solidFill>
              <a:srgbClr val="E3E8F0"/>
            </a:solidFill>
            <a:prstDash val="solid"/>
          </a:ln>
        </p:spPr>
        <p:txBody>
          <a:bodyPr/>
          <a:lstStyle/>
          <a:p>
            <a:endParaRPr lang="en-US"/>
          </a:p>
        </p:txBody>
      </p:sp>
      <p:sp>
        <p:nvSpPr>
          <p:cNvPr id="21" name="Text 19"/>
          <p:cNvSpPr/>
          <p:nvPr/>
        </p:nvSpPr>
        <p:spPr>
          <a:xfrm>
            <a:off x="713232" y="3438144"/>
            <a:ext cx="2505456" cy="658368"/>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Resumes after failure</a:t>
            </a:r>
            <a:endParaRPr lang="en-US" sz="1300" dirty="0"/>
          </a:p>
        </p:txBody>
      </p:sp>
      <p:sp>
        <p:nvSpPr>
          <p:cNvPr id="22" name="Shape 20"/>
          <p:cNvSpPr/>
          <p:nvPr/>
        </p:nvSpPr>
        <p:spPr>
          <a:xfrm>
            <a:off x="3383280" y="3438144"/>
            <a:ext cx="4480560" cy="658368"/>
          </a:xfrm>
          <a:prstGeom prst="rect">
            <a:avLst/>
          </a:prstGeom>
          <a:solidFill>
            <a:srgbClr val="FFFFFF"/>
          </a:solidFill>
          <a:ln w="9525">
            <a:solidFill>
              <a:srgbClr val="E3E8F0"/>
            </a:solidFill>
            <a:prstDash val="solid"/>
          </a:ln>
        </p:spPr>
        <p:txBody>
          <a:bodyPr/>
          <a:lstStyle/>
          <a:p>
            <a:endParaRPr lang="en-US"/>
          </a:p>
        </p:txBody>
      </p:sp>
      <p:sp>
        <p:nvSpPr>
          <p:cNvPr id="23" name="Text 21"/>
          <p:cNvSpPr/>
          <p:nvPr/>
        </p:nvSpPr>
        <p:spPr>
          <a:xfrm>
            <a:off x="3547872" y="3438144"/>
            <a:ext cx="4151376" cy="658368"/>
          </a:xfrm>
          <a:prstGeom prst="rect">
            <a:avLst/>
          </a:prstGeom>
          <a:noFill/>
          <a:ln/>
        </p:spPr>
        <p:txBody>
          <a:bodyPr wrap="square" lIns="0" tIns="0" rIns="0" bIns="0" rtlCol="0" anchor="ctr"/>
          <a:lstStyle/>
          <a:p>
            <a:pPr marL="0" indent="0">
              <a:buNone/>
            </a:pPr>
            <a:r>
              <a:rPr lang="en-US" sz="1300" dirty="0">
                <a:solidFill>
                  <a:srgbClr val="44536B"/>
                </a:solidFill>
                <a:latin typeface="Calibri" pitchFamily="34" charset="0"/>
                <a:ea typeface="Calibri" pitchFamily="34" charset="-122"/>
                <a:cs typeface="Calibri" pitchFamily="34" charset="-120"/>
              </a:rPr>
              <a:t>Yes — picks up where it left off</a:t>
            </a:r>
            <a:endParaRPr lang="en-US" sz="1300" dirty="0"/>
          </a:p>
        </p:txBody>
      </p:sp>
      <p:sp>
        <p:nvSpPr>
          <p:cNvPr id="24" name="Shape 22"/>
          <p:cNvSpPr/>
          <p:nvPr/>
        </p:nvSpPr>
        <p:spPr>
          <a:xfrm>
            <a:off x="7863840" y="3438144"/>
            <a:ext cx="4480560" cy="658368"/>
          </a:xfrm>
          <a:prstGeom prst="rect">
            <a:avLst/>
          </a:prstGeom>
          <a:solidFill>
            <a:srgbClr val="FFFFFF"/>
          </a:solidFill>
          <a:ln w="9525">
            <a:solidFill>
              <a:srgbClr val="E3E8F0"/>
            </a:solidFill>
            <a:prstDash val="solid"/>
          </a:ln>
        </p:spPr>
        <p:txBody>
          <a:bodyPr/>
          <a:lstStyle/>
          <a:p>
            <a:endParaRPr lang="en-US"/>
          </a:p>
        </p:txBody>
      </p:sp>
      <p:sp>
        <p:nvSpPr>
          <p:cNvPr id="25" name="Text 23"/>
          <p:cNvSpPr/>
          <p:nvPr/>
        </p:nvSpPr>
        <p:spPr>
          <a:xfrm>
            <a:off x="8028432" y="3438144"/>
            <a:ext cx="4151376" cy="658368"/>
          </a:xfrm>
          <a:prstGeom prst="rect">
            <a:avLst/>
          </a:prstGeom>
          <a:noFill/>
          <a:ln/>
        </p:spPr>
        <p:txBody>
          <a:bodyPr wrap="square" lIns="0" tIns="0" rIns="0" bIns="0" rtlCol="0" anchor="ctr"/>
          <a:lstStyle/>
          <a:p>
            <a:pPr marL="0" indent="0">
              <a:buNone/>
            </a:pPr>
            <a:r>
              <a:rPr lang="en-US" sz="1300" dirty="0">
                <a:solidFill>
                  <a:srgbClr val="44536B"/>
                </a:solidFill>
                <a:latin typeface="Calibri" pitchFamily="34" charset="0"/>
                <a:ea typeface="Calibri" pitchFamily="34" charset="-122"/>
                <a:cs typeface="Calibri" pitchFamily="34" charset="-120"/>
              </a:rPr>
              <a:t>No — needs a factory reset</a:t>
            </a:r>
            <a:endParaRPr lang="en-US" sz="1300" dirty="0"/>
          </a:p>
        </p:txBody>
      </p:sp>
      <p:sp>
        <p:nvSpPr>
          <p:cNvPr id="26" name="Shape 24"/>
          <p:cNvSpPr/>
          <p:nvPr/>
        </p:nvSpPr>
        <p:spPr>
          <a:xfrm>
            <a:off x="548640" y="4096512"/>
            <a:ext cx="2834640" cy="658368"/>
          </a:xfrm>
          <a:prstGeom prst="rect">
            <a:avLst/>
          </a:prstGeom>
          <a:solidFill>
            <a:srgbClr val="F5F7FA"/>
          </a:solidFill>
          <a:ln w="9525">
            <a:solidFill>
              <a:srgbClr val="E3E8F0"/>
            </a:solidFill>
            <a:prstDash val="solid"/>
          </a:ln>
        </p:spPr>
        <p:txBody>
          <a:bodyPr/>
          <a:lstStyle/>
          <a:p>
            <a:endParaRPr lang="en-US"/>
          </a:p>
        </p:txBody>
      </p:sp>
      <p:sp>
        <p:nvSpPr>
          <p:cNvPr id="27" name="Text 25"/>
          <p:cNvSpPr/>
          <p:nvPr/>
        </p:nvSpPr>
        <p:spPr>
          <a:xfrm>
            <a:off x="713232" y="4096512"/>
            <a:ext cx="2505456" cy="658368"/>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Built on shared toolbox</a:t>
            </a:r>
            <a:endParaRPr lang="en-US" sz="1300" dirty="0"/>
          </a:p>
        </p:txBody>
      </p:sp>
      <p:sp>
        <p:nvSpPr>
          <p:cNvPr id="28" name="Shape 26"/>
          <p:cNvSpPr/>
          <p:nvPr/>
        </p:nvSpPr>
        <p:spPr>
          <a:xfrm>
            <a:off x="3383280" y="4096512"/>
            <a:ext cx="4480560" cy="658368"/>
          </a:xfrm>
          <a:prstGeom prst="rect">
            <a:avLst/>
          </a:prstGeom>
          <a:solidFill>
            <a:srgbClr val="F5F7FA"/>
          </a:solidFill>
          <a:ln w="9525">
            <a:solidFill>
              <a:srgbClr val="E3E8F0"/>
            </a:solidFill>
            <a:prstDash val="solid"/>
          </a:ln>
        </p:spPr>
        <p:txBody>
          <a:bodyPr/>
          <a:lstStyle/>
          <a:p>
            <a:endParaRPr lang="en-US"/>
          </a:p>
        </p:txBody>
      </p:sp>
      <p:sp>
        <p:nvSpPr>
          <p:cNvPr id="29" name="Text 27"/>
          <p:cNvSpPr/>
          <p:nvPr/>
        </p:nvSpPr>
        <p:spPr>
          <a:xfrm>
            <a:off x="3547872" y="4096512"/>
            <a:ext cx="4151376" cy="658368"/>
          </a:xfrm>
          <a:prstGeom prst="rect">
            <a:avLst/>
          </a:prstGeom>
          <a:noFill/>
          <a:ln/>
        </p:spPr>
        <p:txBody>
          <a:bodyPr wrap="square" lIns="0" tIns="0" rIns="0" bIns="0" rtlCol="0" anchor="ctr"/>
          <a:lstStyle/>
          <a:p>
            <a:pPr marL="0" indent="0">
              <a:buNone/>
            </a:pPr>
            <a:r>
              <a:rPr lang="en-US" sz="1300" dirty="0">
                <a:solidFill>
                  <a:srgbClr val="44536B"/>
                </a:solidFill>
                <a:latin typeface="Calibri" pitchFamily="34" charset="0"/>
                <a:ea typeface="Calibri" pitchFamily="34" charset="-122"/>
                <a:cs typeface="Calibri" pitchFamily="34" charset="-120"/>
              </a:rPr>
              <a:t>Fully</a:t>
            </a:r>
            <a:endParaRPr lang="en-US" sz="1300" dirty="0"/>
          </a:p>
        </p:txBody>
      </p:sp>
      <p:sp>
        <p:nvSpPr>
          <p:cNvPr id="30" name="Shape 28"/>
          <p:cNvSpPr/>
          <p:nvPr/>
        </p:nvSpPr>
        <p:spPr>
          <a:xfrm>
            <a:off x="7863840" y="4096512"/>
            <a:ext cx="4480560" cy="658368"/>
          </a:xfrm>
          <a:prstGeom prst="rect">
            <a:avLst/>
          </a:prstGeom>
          <a:solidFill>
            <a:srgbClr val="F5F7FA"/>
          </a:solidFill>
          <a:ln w="9525">
            <a:solidFill>
              <a:srgbClr val="E3E8F0"/>
            </a:solidFill>
            <a:prstDash val="solid"/>
          </a:ln>
        </p:spPr>
        <p:txBody>
          <a:bodyPr/>
          <a:lstStyle/>
          <a:p>
            <a:endParaRPr lang="en-US"/>
          </a:p>
        </p:txBody>
      </p:sp>
      <p:sp>
        <p:nvSpPr>
          <p:cNvPr id="31" name="Text 29"/>
          <p:cNvSpPr/>
          <p:nvPr/>
        </p:nvSpPr>
        <p:spPr>
          <a:xfrm>
            <a:off x="8028432" y="4096512"/>
            <a:ext cx="4151376" cy="658368"/>
          </a:xfrm>
          <a:prstGeom prst="rect">
            <a:avLst/>
          </a:prstGeom>
          <a:noFill/>
          <a:ln/>
        </p:spPr>
        <p:txBody>
          <a:bodyPr wrap="square" lIns="0" tIns="0" rIns="0" bIns="0" rtlCol="0" anchor="ctr"/>
          <a:lstStyle/>
          <a:p>
            <a:pPr marL="0" indent="0">
              <a:buNone/>
            </a:pPr>
            <a:r>
              <a:rPr lang="en-US" sz="1300" dirty="0">
                <a:solidFill>
                  <a:srgbClr val="44536B"/>
                </a:solidFill>
                <a:latin typeface="Calibri" pitchFamily="34" charset="0"/>
                <a:ea typeface="Calibri" pitchFamily="34" charset="-122"/>
                <a:cs typeface="Calibri" pitchFamily="34" charset="-120"/>
              </a:rPr>
              <a:t>Fully</a:t>
            </a:r>
            <a:endParaRPr lang="en-US" sz="1300" dirty="0"/>
          </a:p>
        </p:txBody>
      </p:sp>
      <p:sp>
        <p:nvSpPr>
          <p:cNvPr id="32" name="Text 30"/>
          <p:cNvSpPr/>
          <p:nvPr/>
        </p:nvSpPr>
        <p:spPr>
          <a:xfrm>
            <a:off x="548640" y="5074920"/>
            <a:ext cx="10515600" cy="548640"/>
          </a:xfrm>
          <a:prstGeom prst="rect">
            <a:avLst/>
          </a:prstGeom>
          <a:noFill/>
          <a:ln/>
        </p:spPr>
        <p:txBody>
          <a:bodyPr wrap="square" lIns="0" tIns="0" rIns="0" bIns="0" rtlCol="0" anchor="ctr"/>
          <a:lstStyle/>
          <a:p>
            <a:pPr marL="0" indent="0">
              <a:buNone/>
            </a:pPr>
            <a:r>
              <a:rPr lang="en-US" sz="1400" i="1" dirty="0">
                <a:solidFill>
                  <a:srgbClr val="7A879B"/>
                </a:solidFill>
                <a:latin typeface="Calibri" pitchFamily="34" charset="0"/>
                <a:ea typeface="Calibri" pitchFamily="34" charset="-122"/>
                <a:cs typeface="Calibri" pitchFamily="34" charset="-120"/>
              </a:rPr>
              <a:t>The only real remaining difference is recovery. Everything else — spreadsheet access, SSH, waits, reporting — is one shared layer.</a:t>
            </a:r>
            <a:endParaRPr lang="en-US" sz="1400" dirty="0"/>
          </a:p>
        </p:txBody>
      </p:sp>
      <p:sp>
        <p:nvSpPr>
          <p:cNvPr id="33" name="Text 31"/>
          <p:cNvSpPr/>
          <p:nvPr/>
        </p:nvSpPr>
        <p:spPr>
          <a:xfrm>
            <a:off x="457200" y="6473952"/>
            <a:ext cx="7315200" cy="274320"/>
          </a:xfrm>
          <a:prstGeom prst="rect">
            <a:avLst/>
          </a:prstGeom>
          <a:noFill/>
          <a:ln/>
        </p:spPr>
        <p:txBody>
          <a:bodyPr wrap="square" lIns="0" tIns="0" rIns="0" bIns="0" rtlCol="0" anchor="ctr"/>
          <a:lstStyle/>
          <a:p>
            <a:pPr marL="0" indent="0">
              <a:buNone/>
            </a:pPr>
            <a:r>
              <a:rPr lang="en-US" sz="1000" dirty="0">
                <a:solidFill>
                  <a:srgbClr val="7A879B"/>
                </a:solidFill>
                <a:latin typeface="Calibri" pitchFamily="34" charset="0"/>
                <a:ea typeface="Calibri" pitchFamily="34" charset="-122"/>
                <a:cs typeface="Calibri" pitchFamily="34" charset="-120"/>
              </a:rPr>
              <a:t>Programming Workstation — Handoff</a:t>
            </a:r>
            <a:endParaRPr lang="en-US" sz="1000" dirty="0"/>
          </a:p>
        </p:txBody>
      </p:sp>
      <p:sp>
        <p:nvSpPr>
          <p:cNvPr id="34" name="Text 32"/>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7A879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2E9E6D"/>
                </a:solidFill>
                <a:latin typeface="Calibri" pitchFamily="34" charset="0"/>
                <a:ea typeface="Calibri" pitchFamily="34" charset="-122"/>
                <a:cs typeface="Calibri" pitchFamily="34" charset="-120"/>
              </a:rPr>
              <a:t>THE SYSTEM OF RECORD</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marL="0" indent="0" algn="l">
              <a:buNone/>
            </a:pPr>
            <a:r>
              <a:rPr lang="en-US" sz="3200" b="1" dirty="0">
                <a:solidFill>
                  <a:srgbClr val="1B2A4A"/>
                </a:solidFill>
                <a:latin typeface="Cambria" pitchFamily="34" charset="0"/>
                <a:ea typeface="Cambria" pitchFamily="34" charset="-122"/>
                <a:cs typeface="Cambria" pitchFamily="34" charset="-120"/>
              </a:rPr>
              <a:t>The spreadsheet is the record</a:t>
            </a:r>
            <a:endParaRPr lang="en-US" sz="3200" dirty="0"/>
          </a:p>
        </p:txBody>
      </p:sp>
      <p:sp>
        <p:nvSpPr>
          <p:cNvPr id="4" name="Text 2"/>
          <p:cNvSpPr/>
          <p:nvPr/>
        </p:nvSpPr>
        <p:spPr>
          <a:xfrm>
            <a:off x="548640" y="1188720"/>
            <a:ext cx="10515600" cy="457200"/>
          </a:xfrm>
          <a:prstGeom prst="rect">
            <a:avLst/>
          </a:prstGeom>
          <a:noFill/>
          <a:ln/>
        </p:spPr>
        <p:txBody>
          <a:bodyPr wrap="square" lIns="0" tIns="0" rIns="0" bIns="0" rtlCol="0" anchor="ctr"/>
          <a:lstStyle/>
          <a:p>
            <a:pPr marL="0" indent="0">
              <a:buNone/>
            </a:pPr>
            <a:r>
              <a:rPr lang="en-US" sz="1400" dirty="0">
                <a:solidFill>
                  <a:srgbClr val="44536B"/>
                </a:solidFill>
                <a:latin typeface="Calibri" pitchFamily="34" charset="0"/>
                <a:ea typeface="Calibri" pitchFamily="34" charset="-122"/>
                <a:cs typeface="Calibri" pitchFamily="34" charset="-120"/>
              </a:rPr>
              <a:t>One row per gate. The app reads the left side to know what to do and writes the right side to record what it did.</a:t>
            </a:r>
            <a:endParaRPr lang="en-US" sz="1400" dirty="0"/>
          </a:p>
        </p:txBody>
      </p:sp>
      <p:sp>
        <p:nvSpPr>
          <p:cNvPr id="5" name="Shape 3"/>
          <p:cNvSpPr/>
          <p:nvPr/>
        </p:nvSpPr>
        <p:spPr>
          <a:xfrm>
            <a:off x="548640" y="1783080"/>
            <a:ext cx="5120640" cy="3383280"/>
          </a:xfrm>
          <a:prstGeom prst="roundRect">
            <a:avLst>
              <a:gd name="adj" fmla="val 2162"/>
            </a:avLst>
          </a:prstGeom>
          <a:solidFill>
            <a:srgbClr val="F5F7FA"/>
          </a:solidFill>
          <a:ln/>
          <a:effectLst>
            <a:outerShdw blurRad="76200" dist="25400" dir="5400000" algn="bl" rotWithShape="0">
              <a:srgbClr val="1B2A4A">
                <a:alpha val="18000"/>
              </a:srgbClr>
            </a:outerShdw>
          </a:effectLst>
        </p:spPr>
        <p:txBody>
          <a:bodyPr/>
          <a:lstStyle/>
          <a:p>
            <a:endParaRPr lang="en-US"/>
          </a:p>
        </p:txBody>
      </p:sp>
      <p:sp>
        <p:nvSpPr>
          <p:cNvPr id="6" name="Text 4"/>
          <p:cNvSpPr/>
          <p:nvPr/>
        </p:nvSpPr>
        <p:spPr>
          <a:xfrm>
            <a:off x="914400" y="2011680"/>
            <a:ext cx="4389120" cy="274320"/>
          </a:xfrm>
          <a:prstGeom prst="rect">
            <a:avLst/>
          </a:prstGeom>
          <a:noFill/>
          <a:ln/>
        </p:spPr>
        <p:txBody>
          <a:bodyPr wrap="square" lIns="0" tIns="0" rIns="0" bIns="0" rtlCol="0" anchor="ctr"/>
          <a:lstStyle/>
          <a:p>
            <a:pPr marL="0" indent="0">
              <a:buNone/>
            </a:pPr>
            <a:r>
              <a:rPr lang="en-US" sz="1200" b="1" kern="0" spc="200" dirty="0">
                <a:solidFill>
                  <a:srgbClr val="44536B"/>
                </a:solidFill>
                <a:latin typeface="Calibri" pitchFamily="34" charset="0"/>
                <a:ea typeface="Calibri" pitchFamily="34" charset="-122"/>
                <a:cs typeface="Calibri" pitchFamily="34" charset="-120"/>
              </a:rPr>
              <a:t>APP READS</a:t>
            </a:r>
            <a:endParaRPr lang="en-US" sz="1200" dirty="0"/>
          </a:p>
        </p:txBody>
      </p:sp>
      <p:sp>
        <p:nvSpPr>
          <p:cNvPr id="7" name="Text 5"/>
          <p:cNvSpPr/>
          <p:nvPr/>
        </p:nvSpPr>
        <p:spPr>
          <a:xfrm>
            <a:off x="914400" y="2423160"/>
            <a:ext cx="4389120" cy="256032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rgbClr val="44536B"/>
                </a:solidFill>
                <a:latin typeface="Calibri" pitchFamily="34" charset="0"/>
                <a:ea typeface="Calibri" pitchFamily="34" charset="-122"/>
                <a:cs typeface="Calibri" pitchFamily="34" charset="-120"/>
              </a:rPr>
              <a:t>Gate number (PBB SN)</a:t>
            </a:r>
            <a:endParaRPr lang="en-US" sz="1400" dirty="0"/>
          </a:p>
          <a:p>
            <a:pPr marL="342900" indent="-342900">
              <a:spcAft>
                <a:spcPts val="1200"/>
              </a:spcAft>
              <a:buSzPct val="100000"/>
              <a:buChar char="•"/>
            </a:pPr>
            <a:r>
              <a:rPr lang="en-US" sz="1400" dirty="0">
                <a:solidFill>
                  <a:srgbClr val="44536B"/>
                </a:solidFill>
                <a:latin typeface="Calibri" pitchFamily="34" charset="0"/>
                <a:ea typeface="Calibri" pitchFamily="34" charset="-122"/>
                <a:cs typeface="Calibri" pitchFamily="34" charset="-120"/>
              </a:rPr>
              <a:t>Gate IP, netmask, gateway</a:t>
            </a:r>
            <a:endParaRPr lang="en-US" sz="1400" dirty="0"/>
          </a:p>
          <a:p>
            <a:pPr marL="342900" indent="-342900">
              <a:spcAft>
                <a:spcPts val="1200"/>
              </a:spcAft>
              <a:buSzPct val="100000"/>
              <a:buChar char="•"/>
            </a:pPr>
            <a:r>
              <a:rPr lang="en-US" sz="1400" dirty="0">
                <a:solidFill>
                  <a:srgbClr val="44536B"/>
                </a:solidFill>
                <a:latin typeface="Calibri" pitchFamily="34" charset="0"/>
                <a:ea typeface="Calibri" pitchFamily="34" charset="-122"/>
                <a:cs typeface="Calibri" pitchFamily="34" charset="-120"/>
              </a:rPr>
              <a:t>Serial number, part number</a:t>
            </a:r>
            <a:endParaRPr lang="en-US" sz="1400" dirty="0"/>
          </a:p>
        </p:txBody>
      </p:sp>
      <p:sp>
        <p:nvSpPr>
          <p:cNvPr id="8" name="Shape 6"/>
          <p:cNvSpPr/>
          <p:nvPr/>
        </p:nvSpPr>
        <p:spPr>
          <a:xfrm>
            <a:off x="5943600" y="1783080"/>
            <a:ext cx="5669280" cy="3383280"/>
          </a:xfrm>
          <a:prstGeom prst="roundRect">
            <a:avLst>
              <a:gd name="adj" fmla="val 2162"/>
            </a:avLst>
          </a:prstGeom>
          <a:solidFill>
            <a:srgbClr val="1B2A4A"/>
          </a:solidFill>
          <a:ln/>
          <a:effectLst>
            <a:outerShdw blurRad="76200" dist="25400" dir="5400000" algn="bl" rotWithShape="0">
              <a:srgbClr val="1B2A4A">
                <a:alpha val="18000"/>
              </a:srgbClr>
            </a:outerShdw>
          </a:effectLst>
        </p:spPr>
        <p:txBody>
          <a:bodyPr/>
          <a:lstStyle/>
          <a:p>
            <a:endParaRPr lang="en-US"/>
          </a:p>
        </p:txBody>
      </p:sp>
      <p:sp>
        <p:nvSpPr>
          <p:cNvPr id="9" name="Text 7"/>
          <p:cNvSpPr/>
          <p:nvPr/>
        </p:nvSpPr>
        <p:spPr>
          <a:xfrm>
            <a:off x="6309360" y="2011680"/>
            <a:ext cx="4937760" cy="274320"/>
          </a:xfrm>
          <a:prstGeom prst="rect">
            <a:avLst/>
          </a:prstGeom>
          <a:noFill/>
          <a:ln/>
        </p:spPr>
        <p:txBody>
          <a:bodyPr wrap="square" lIns="0" tIns="0" rIns="0" bIns="0" rtlCol="0" anchor="ctr"/>
          <a:lstStyle/>
          <a:p>
            <a:pPr marL="0" indent="0">
              <a:buNone/>
            </a:pPr>
            <a:r>
              <a:rPr lang="en-US" sz="1200" b="1" kern="0" spc="200" dirty="0">
                <a:solidFill>
                  <a:srgbClr val="CADCFC"/>
                </a:solidFill>
                <a:latin typeface="Calibri" pitchFamily="34" charset="0"/>
                <a:ea typeface="Calibri" pitchFamily="34" charset="-122"/>
                <a:cs typeface="Calibri" pitchFamily="34" charset="-120"/>
              </a:rPr>
              <a:t>APP WRITES</a:t>
            </a:r>
            <a:endParaRPr lang="en-US" sz="1200" dirty="0"/>
          </a:p>
        </p:txBody>
      </p:sp>
      <p:sp>
        <p:nvSpPr>
          <p:cNvPr id="10" name="Text 8"/>
          <p:cNvSpPr/>
          <p:nvPr/>
        </p:nvSpPr>
        <p:spPr>
          <a:xfrm>
            <a:off x="6309360" y="2423160"/>
            <a:ext cx="4937760" cy="25603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MAC address</a:t>
            </a:r>
            <a:endParaRPr lang="en-US" sz="1400" dirty="0"/>
          </a:p>
          <a:p>
            <a:pPr marL="342900" indent="-3429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Programmed-on timestamp — black = success, red = failure</a:t>
            </a:r>
            <a:endParaRPr lang="en-US" sz="1400" dirty="0"/>
          </a:p>
          <a:p>
            <a:pPr marL="342900" indent="-3429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Label + Crash Report hyperlinks</a:t>
            </a:r>
            <a:endParaRPr lang="en-US" sz="1400" dirty="0"/>
          </a:p>
          <a:p>
            <a:pPr marL="342900" indent="-3429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PRG # / Test # attempt counters</a:t>
            </a:r>
            <a:endParaRPr lang="en-US" sz="1400" dirty="0"/>
          </a:p>
        </p:txBody>
      </p:sp>
      <p:sp>
        <p:nvSpPr>
          <p:cNvPr id="11" name="Text 9"/>
          <p:cNvSpPr/>
          <p:nvPr/>
        </p:nvSpPr>
        <p:spPr>
          <a:xfrm>
            <a:off x="548640" y="5349240"/>
            <a:ext cx="10881360" cy="640080"/>
          </a:xfrm>
          <a:prstGeom prst="rect">
            <a:avLst/>
          </a:prstGeom>
          <a:noFill/>
          <a:ln/>
        </p:spPr>
        <p:txBody>
          <a:bodyPr wrap="square" lIns="0" tIns="0" rIns="0" bIns="0" rtlCol="0" anchor="ctr"/>
          <a:lstStyle/>
          <a:p>
            <a:pPr marL="0" indent="0">
              <a:buNone/>
            </a:pPr>
            <a:r>
              <a:rPr lang="en-US" sz="1300" i="1" dirty="0">
                <a:solidFill>
                  <a:srgbClr val="7A879B"/>
                </a:solidFill>
                <a:latin typeface="Calibri" pitchFamily="34" charset="0"/>
                <a:ea typeface="Calibri" pitchFamily="34" charset="-122"/>
                <a:cs typeface="Calibri" pitchFamily="34" charset="-120"/>
              </a:rPr>
              <a:t>Columns are found by their header text, not by counting across — a column inserted anywhere no longer misdirects a read or write.</a:t>
            </a:r>
            <a:endParaRPr lang="en-US" sz="1300" dirty="0"/>
          </a:p>
        </p:txBody>
      </p:sp>
      <p:sp>
        <p:nvSpPr>
          <p:cNvPr id="12" name="Text 10"/>
          <p:cNvSpPr/>
          <p:nvPr/>
        </p:nvSpPr>
        <p:spPr>
          <a:xfrm>
            <a:off x="457200" y="6473952"/>
            <a:ext cx="7315200" cy="274320"/>
          </a:xfrm>
          <a:prstGeom prst="rect">
            <a:avLst/>
          </a:prstGeom>
          <a:noFill/>
          <a:ln/>
        </p:spPr>
        <p:txBody>
          <a:bodyPr wrap="square" lIns="0" tIns="0" rIns="0" bIns="0" rtlCol="0" anchor="ctr"/>
          <a:lstStyle/>
          <a:p>
            <a:pPr marL="0" indent="0">
              <a:buNone/>
            </a:pPr>
            <a:r>
              <a:rPr lang="en-US" sz="1000" dirty="0">
                <a:solidFill>
                  <a:srgbClr val="7A879B"/>
                </a:solidFill>
                <a:latin typeface="Calibri" pitchFamily="34" charset="0"/>
                <a:ea typeface="Calibri" pitchFamily="34" charset="-122"/>
                <a:cs typeface="Calibri" pitchFamily="34" charset="-120"/>
              </a:rPr>
              <a:t>Programming Workstation — Handoff</a:t>
            </a:r>
            <a:endParaRPr lang="en-US" sz="1000" dirty="0"/>
          </a:p>
        </p:txBody>
      </p:sp>
      <p:sp>
        <p:nvSpPr>
          <p:cNvPr id="13" name="Text 11"/>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7A879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828800" y="4754880"/>
            <a:ext cx="5486400" cy="5486400"/>
          </a:xfrm>
          <a:prstGeom prst="ellipse">
            <a:avLst/>
          </a:prstGeom>
          <a:solidFill>
            <a:srgbClr val="13203A"/>
          </a:solidFill>
          <a:ln/>
        </p:spPr>
        <p:txBody>
          <a:bodyPr/>
          <a:lstStyle/>
          <a:p>
            <a:endParaRPr lang="en-US"/>
          </a:p>
        </p:txBody>
      </p:sp>
      <p:sp>
        <p:nvSpPr>
          <p:cNvPr id="3" name="Text 1"/>
          <p:cNvSpPr/>
          <p:nvPr/>
        </p:nvSpPr>
        <p:spPr>
          <a:xfrm>
            <a:off x="822960" y="2651760"/>
            <a:ext cx="7315200" cy="365760"/>
          </a:xfrm>
          <a:prstGeom prst="rect">
            <a:avLst/>
          </a:prstGeom>
          <a:noFill/>
          <a:ln/>
        </p:spPr>
        <p:txBody>
          <a:bodyPr wrap="square" lIns="0" tIns="0" rIns="0" bIns="0" rtlCol="0" anchor="ctr"/>
          <a:lstStyle/>
          <a:p>
            <a:pPr marL="0" indent="0">
              <a:buNone/>
            </a:pPr>
            <a:r>
              <a:rPr lang="en-US" sz="1400" b="1" kern="0" spc="300" dirty="0">
                <a:solidFill>
                  <a:srgbClr val="2E9E6D"/>
                </a:solidFill>
                <a:latin typeface="Calibri" pitchFamily="34" charset="0"/>
                <a:ea typeface="Calibri" pitchFamily="34" charset="-122"/>
                <a:cs typeface="Calibri" pitchFamily="34" charset="-120"/>
              </a:rPr>
              <a:t>PART 2 OF 4</a:t>
            </a:r>
            <a:endParaRPr lang="en-US" sz="1400" dirty="0"/>
          </a:p>
        </p:txBody>
      </p:sp>
      <p:sp>
        <p:nvSpPr>
          <p:cNvPr id="4" name="Text 2"/>
          <p:cNvSpPr/>
          <p:nvPr/>
        </p:nvSpPr>
        <p:spPr>
          <a:xfrm>
            <a:off x="822960" y="3017520"/>
            <a:ext cx="9601200" cy="109728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Under the Hood</a:t>
            </a:r>
            <a:endParaRPr lang="en-US" sz="4000" dirty="0"/>
          </a:p>
        </p:txBody>
      </p:sp>
      <p:sp>
        <p:nvSpPr>
          <p:cNvPr id="5" name="Text 3"/>
          <p:cNvSpPr/>
          <p:nvPr/>
        </p:nvSpPr>
        <p:spPr>
          <a:xfrm>
            <a:off x="822960" y="3977640"/>
            <a:ext cx="8229600" cy="54864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How the app is built, one layer at a time.</a:t>
            </a:r>
            <a:endParaRPr lang="en-US" sz="1600" dirty="0"/>
          </a:p>
        </p:txBody>
      </p:sp>
      <p:sp>
        <p:nvSpPr>
          <p:cNvPr id="6" name="Text 4"/>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8A98B5"/>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2E9E6D"/>
                </a:solidFill>
                <a:latin typeface="Calibri" pitchFamily="34" charset="0"/>
                <a:ea typeface="Calibri" pitchFamily="34" charset="-122"/>
                <a:cs typeface="Calibri" pitchFamily="34" charset="-120"/>
              </a:rPr>
              <a:t>ARCHITECTURE, IN PLAIN LANGUAGE</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marL="0" indent="0" algn="l">
              <a:buNone/>
            </a:pPr>
            <a:r>
              <a:rPr lang="en-US" sz="3200" b="1" dirty="0">
                <a:solidFill>
                  <a:srgbClr val="1B2A4A"/>
                </a:solidFill>
                <a:latin typeface="Cambria" pitchFamily="34" charset="0"/>
                <a:ea typeface="Cambria" pitchFamily="34" charset="-122"/>
                <a:cs typeface="Cambria" pitchFamily="34" charset="-120"/>
              </a:rPr>
              <a:t>Four layers, each talking only to the one below it</a:t>
            </a:r>
            <a:endParaRPr lang="en-US" sz="3200" dirty="0"/>
          </a:p>
        </p:txBody>
      </p:sp>
      <p:sp>
        <p:nvSpPr>
          <p:cNvPr id="4" name="Shape 2"/>
          <p:cNvSpPr/>
          <p:nvPr/>
        </p:nvSpPr>
        <p:spPr>
          <a:xfrm>
            <a:off x="548640" y="1554480"/>
            <a:ext cx="10881360" cy="960120"/>
          </a:xfrm>
          <a:prstGeom prst="roundRect">
            <a:avLst>
              <a:gd name="adj" fmla="val 7619"/>
            </a:avLst>
          </a:prstGeom>
          <a:solidFill>
            <a:srgbClr val="F5F7FA"/>
          </a:solidFill>
          <a:ln/>
          <a:effectLst>
            <a:outerShdw blurRad="76200" dist="25400" dir="5400000" algn="bl" rotWithShape="0">
              <a:srgbClr val="1B2A4A">
                <a:alpha val="18000"/>
              </a:srgbClr>
            </a:outerShdw>
          </a:effectLst>
        </p:spPr>
        <p:txBody>
          <a:bodyPr/>
          <a:lstStyle/>
          <a:p>
            <a:endParaRPr lang="en-US"/>
          </a:p>
        </p:txBody>
      </p:sp>
      <p:sp>
        <p:nvSpPr>
          <p:cNvPr id="5" name="Shape 3"/>
          <p:cNvSpPr/>
          <p:nvPr/>
        </p:nvSpPr>
        <p:spPr>
          <a:xfrm>
            <a:off x="822960" y="1801368"/>
            <a:ext cx="457200" cy="457200"/>
          </a:xfrm>
          <a:prstGeom prst="ellipse">
            <a:avLst/>
          </a:prstGeom>
          <a:solidFill>
            <a:srgbClr val="1B2A4A"/>
          </a:solidFill>
          <a:ln/>
        </p:spPr>
        <p:txBody>
          <a:bodyPr/>
          <a:lstStyle/>
          <a:p>
            <a:endParaRPr lang="en-US"/>
          </a:p>
        </p:txBody>
      </p:sp>
      <p:sp>
        <p:nvSpPr>
          <p:cNvPr id="6" name="Text 4"/>
          <p:cNvSpPr/>
          <p:nvPr/>
        </p:nvSpPr>
        <p:spPr>
          <a:xfrm>
            <a:off x="822960" y="180136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7" name="Text 5"/>
          <p:cNvSpPr/>
          <p:nvPr/>
        </p:nvSpPr>
        <p:spPr>
          <a:xfrm>
            <a:off x="1554480" y="1664208"/>
            <a:ext cx="3017520" cy="36576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The screens</a:t>
            </a:r>
            <a:endParaRPr lang="en-US" sz="1600" dirty="0"/>
          </a:p>
        </p:txBody>
      </p:sp>
      <p:sp>
        <p:nvSpPr>
          <p:cNvPr id="8" name="Text 6"/>
          <p:cNvSpPr/>
          <p:nvPr/>
        </p:nvSpPr>
        <p:spPr>
          <a:xfrm>
            <a:off x="1554480" y="2029968"/>
            <a:ext cx="3017520" cy="365760"/>
          </a:xfrm>
          <a:prstGeom prst="rect">
            <a:avLst/>
          </a:prstGeom>
          <a:noFill/>
          <a:ln/>
        </p:spPr>
        <p:txBody>
          <a:bodyPr wrap="square" lIns="0" tIns="0" rIns="0" bIns="0" rtlCol="0" anchor="ctr"/>
          <a:lstStyle/>
          <a:p>
            <a:pPr marL="0" indent="0">
              <a:buNone/>
            </a:pPr>
            <a:r>
              <a:rPr lang="en-US" sz="1100" dirty="0">
                <a:solidFill>
                  <a:srgbClr val="7A879B"/>
                </a:solidFill>
                <a:latin typeface="Courier New" pitchFamily="34" charset="0"/>
                <a:ea typeface="Courier New" pitchFamily="34" charset="-122"/>
                <a:cs typeface="Courier New" pitchFamily="34" charset="-120"/>
              </a:rPr>
              <a:t>pages/</a:t>
            </a:r>
            <a:endParaRPr lang="en-US" sz="1100" dirty="0"/>
          </a:p>
        </p:txBody>
      </p:sp>
      <p:sp>
        <p:nvSpPr>
          <p:cNvPr id="9" name="Text 7"/>
          <p:cNvSpPr/>
          <p:nvPr/>
        </p:nvSpPr>
        <p:spPr>
          <a:xfrm>
            <a:off x="4709160" y="1554480"/>
            <a:ext cx="6537960" cy="960120"/>
          </a:xfrm>
          <a:prstGeom prst="rect">
            <a:avLst/>
          </a:prstGeom>
          <a:noFill/>
          <a:ln/>
        </p:spPr>
        <p:txBody>
          <a:bodyPr wrap="square" lIns="0" tIns="0" rIns="0" bIns="0" rtlCol="0" anchor="ctr"/>
          <a:lstStyle/>
          <a:p>
            <a:pPr marL="0" indent="0">
              <a:buNone/>
            </a:pPr>
            <a:r>
              <a:rPr lang="en-US" sz="1300" dirty="0">
                <a:solidFill>
                  <a:srgbClr val="44536B"/>
                </a:solidFill>
                <a:latin typeface="Calibri" pitchFamily="34" charset="0"/>
                <a:ea typeface="Calibri" pitchFamily="34" charset="-122"/>
                <a:cs typeface="Calibri" pitchFamily="34" charset="-120"/>
              </a:rPr>
              <a:t>What the operator sees and clicks — four pages in a QStackedWidget.</a:t>
            </a:r>
            <a:endParaRPr lang="en-US" sz="1300" dirty="0"/>
          </a:p>
        </p:txBody>
      </p:sp>
      <p:sp>
        <p:nvSpPr>
          <p:cNvPr id="10" name="Shape 8"/>
          <p:cNvSpPr/>
          <p:nvPr/>
        </p:nvSpPr>
        <p:spPr>
          <a:xfrm>
            <a:off x="548640" y="2697480"/>
            <a:ext cx="10881360" cy="960120"/>
          </a:xfrm>
          <a:prstGeom prst="roundRect">
            <a:avLst>
              <a:gd name="adj" fmla="val 7619"/>
            </a:avLst>
          </a:prstGeom>
          <a:solidFill>
            <a:srgbClr val="F5F7FA"/>
          </a:solidFill>
          <a:ln/>
          <a:effectLst>
            <a:outerShdw blurRad="76200" dist="25400" dir="5400000" algn="bl" rotWithShape="0">
              <a:srgbClr val="1B2A4A">
                <a:alpha val="18000"/>
              </a:srgbClr>
            </a:outerShdw>
          </a:effectLst>
        </p:spPr>
        <p:txBody>
          <a:bodyPr/>
          <a:lstStyle/>
          <a:p>
            <a:endParaRPr lang="en-US"/>
          </a:p>
        </p:txBody>
      </p:sp>
      <p:sp>
        <p:nvSpPr>
          <p:cNvPr id="11" name="Shape 9"/>
          <p:cNvSpPr/>
          <p:nvPr/>
        </p:nvSpPr>
        <p:spPr>
          <a:xfrm>
            <a:off x="822960" y="2944368"/>
            <a:ext cx="457200" cy="457200"/>
          </a:xfrm>
          <a:prstGeom prst="ellipse">
            <a:avLst/>
          </a:prstGeom>
          <a:solidFill>
            <a:srgbClr val="1B2A4A"/>
          </a:solidFill>
          <a:ln/>
        </p:spPr>
        <p:txBody>
          <a:bodyPr/>
          <a:lstStyle/>
          <a:p>
            <a:endParaRPr lang="en-US"/>
          </a:p>
        </p:txBody>
      </p:sp>
      <p:sp>
        <p:nvSpPr>
          <p:cNvPr id="12" name="Text 10"/>
          <p:cNvSpPr/>
          <p:nvPr/>
        </p:nvSpPr>
        <p:spPr>
          <a:xfrm>
            <a:off x="822960" y="294436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3" name="Text 11"/>
          <p:cNvSpPr/>
          <p:nvPr/>
        </p:nvSpPr>
        <p:spPr>
          <a:xfrm>
            <a:off x="1554480" y="2807208"/>
            <a:ext cx="3017520" cy="36576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The device folder</a:t>
            </a:r>
            <a:endParaRPr lang="en-US" sz="1600" dirty="0"/>
          </a:p>
        </p:txBody>
      </p:sp>
      <p:sp>
        <p:nvSpPr>
          <p:cNvPr id="14" name="Text 12"/>
          <p:cNvSpPr/>
          <p:nvPr/>
        </p:nvSpPr>
        <p:spPr>
          <a:xfrm>
            <a:off x="1554480" y="3172968"/>
            <a:ext cx="3017520" cy="365760"/>
          </a:xfrm>
          <a:prstGeom prst="rect">
            <a:avLst/>
          </a:prstGeom>
          <a:noFill/>
          <a:ln/>
        </p:spPr>
        <p:txBody>
          <a:bodyPr wrap="square" lIns="0" tIns="0" rIns="0" bIns="0" rtlCol="0" anchor="ctr"/>
          <a:lstStyle/>
          <a:p>
            <a:pPr marL="0" indent="0">
              <a:buNone/>
            </a:pPr>
            <a:r>
              <a:rPr lang="en-US" sz="1100" dirty="0">
                <a:solidFill>
                  <a:srgbClr val="7A879B"/>
                </a:solidFill>
                <a:latin typeface="Courier New" pitchFamily="34" charset="0"/>
                <a:ea typeface="Courier New" pitchFamily="34" charset="-122"/>
                <a:cs typeface="Courier New" pitchFamily="34" charset="-120"/>
              </a:rPr>
              <a:t>devices/TR/, devices/digiIX20/</a:t>
            </a:r>
            <a:endParaRPr lang="en-US" sz="1100" dirty="0"/>
          </a:p>
        </p:txBody>
      </p:sp>
      <p:sp>
        <p:nvSpPr>
          <p:cNvPr id="15" name="Text 13"/>
          <p:cNvSpPr/>
          <p:nvPr/>
        </p:nvSpPr>
        <p:spPr>
          <a:xfrm>
            <a:off x="4709160" y="2697480"/>
            <a:ext cx="6537960" cy="960120"/>
          </a:xfrm>
          <a:prstGeom prst="rect">
            <a:avLst/>
          </a:prstGeom>
          <a:noFill/>
          <a:ln/>
        </p:spPr>
        <p:txBody>
          <a:bodyPr wrap="square" lIns="0" tIns="0" rIns="0" bIns="0" rtlCol="0" anchor="ctr"/>
          <a:lstStyle/>
          <a:p>
            <a:pPr marL="0" indent="0">
              <a:buNone/>
            </a:pPr>
            <a:r>
              <a:rPr lang="en-US" sz="1300" dirty="0">
                <a:solidFill>
                  <a:srgbClr val="44536B"/>
                </a:solidFill>
                <a:latin typeface="Calibri" pitchFamily="34" charset="0"/>
                <a:ea typeface="Calibri" pitchFamily="34" charset="-122"/>
                <a:cs typeface="Calibri" pitchFamily="34" charset="-120"/>
              </a:rPr>
              <a:t>Everything specific to one router — its settings, software, spreadsheets, instructions.</a:t>
            </a:r>
            <a:endParaRPr lang="en-US" sz="1300" dirty="0"/>
          </a:p>
        </p:txBody>
      </p:sp>
      <p:sp>
        <p:nvSpPr>
          <p:cNvPr id="16" name="Shape 14"/>
          <p:cNvSpPr/>
          <p:nvPr/>
        </p:nvSpPr>
        <p:spPr>
          <a:xfrm>
            <a:off x="548640" y="3840480"/>
            <a:ext cx="10881360" cy="960120"/>
          </a:xfrm>
          <a:prstGeom prst="roundRect">
            <a:avLst>
              <a:gd name="adj" fmla="val 7619"/>
            </a:avLst>
          </a:prstGeom>
          <a:solidFill>
            <a:srgbClr val="F5F7FA"/>
          </a:solidFill>
          <a:ln/>
          <a:effectLst>
            <a:outerShdw blurRad="76200" dist="25400" dir="5400000" algn="bl" rotWithShape="0">
              <a:srgbClr val="1B2A4A">
                <a:alpha val="18000"/>
              </a:srgbClr>
            </a:outerShdw>
          </a:effectLst>
        </p:spPr>
        <p:txBody>
          <a:bodyPr/>
          <a:lstStyle/>
          <a:p>
            <a:endParaRPr lang="en-US"/>
          </a:p>
        </p:txBody>
      </p:sp>
      <p:sp>
        <p:nvSpPr>
          <p:cNvPr id="17" name="Shape 15"/>
          <p:cNvSpPr/>
          <p:nvPr/>
        </p:nvSpPr>
        <p:spPr>
          <a:xfrm>
            <a:off x="822960" y="4087368"/>
            <a:ext cx="457200" cy="457200"/>
          </a:xfrm>
          <a:prstGeom prst="ellipse">
            <a:avLst/>
          </a:prstGeom>
          <a:solidFill>
            <a:srgbClr val="1B2A4A"/>
          </a:solidFill>
          <a:ln/>
        </p:spPr>
        <p:txBody>
          <a:bodyPr/>
          <a:lstStyle/>
          <a:p>
            <a:endParaRPr lang="en-US"/>
          </a:p>
        </p:txBody>
      </p:sp>
      <p:sp>
        <p:nvSpPr>
          <p:cNvPr id="18" name="Text 16"/>
          <p:cNvSpPr/>
          <p:nvPr/>
        </p:nvSpPr>
        <p:spPr>
          <a:xfrm>
            <a:off x="822960" y="408736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9" name="Text 17"/>
          <p:cNvSpPr/>
          <p:nvPr/>
        </p:nvSpPr>
        <p:spPr>
          <a:xfrm>
            <a:off x="1554480" y="3950208"/>
            <a:ext cx="3017520" cy="36576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The toolbox</a:t>
            </a:r>
            <a:endParaRPr lang="en-US" sz="1600" dirty="0"/>
          </a:p>
        </p:txBody>
      </p:sp>
      <p:sp>
        <p:nvSpPr>
          <p:cNvPr id="20" name="Text 18"/>
          <p:cNvSpPr/>
          <p:nvPr/>
        </p:nvSpPr>
        <p:spPr>
          <a:xfrm>
            <a:off x="1554480" y="4315968"/>
            <a:ext cx="3017520" cy="365760"/>
          </a:xfrm>
          <a:prstGeom prst="rect">
            <a:avLst/>
          </a:prstGeom>
          <a:noFill/>
          <a:ln/>
        </p:spPr>
        <p:txBody>
          <a:bodyPr wrap="square" lIns="0" tIns="0" rIns="0" bIns="0" rtlCol="0" anchor="ctr"/>
          <a:lstStyle/>
          <a:p>
            <a:pPr marL="0" indent="0">
              <a:buNone/>
            </a:pPr>
            <a:r>
              <a:rPr lang="en-US" sz="1100" dirty="0">
                <a:solidFill>
                  <a:srgbClr val="7A879B"/>
                </a:solidFill>
                <a:latin typeface="Courier New" pitchFamily="34" charset="0"/>
                <a:ea typeface="Courier New" pitchFamily="34" charset="-122"/>
                <a:cs typeface="Courier New" pitchFamily="34" charset="-120"/>
              </a:rPr>
              <a:t>resources/utilities/</a:t>
            </a:r>
            <a:endParaRPr lang="en-US" sz="1100" dirty="0"/>
          </a:p>
        </p:txBody>
      </p:sp>
      <p:sp>
        <p:nvSpPr>
          <p:cNvPr id="21" name="Text 19"/>
          <p:cNvSpPr/>
          <p:nvPr/>
        </p:nvSpPr>
        <p:spPr>
          <a:xfrm>
            <a:off x="4709160" y="3840480"/>
            <a:ext cx="6537960" cy="960120"/>
          </a:xfrm>
          <a:prstGeom prst="rect">
            <a:avLst/>
          </a:prstGeom>
          <a:noFill/>
          <a:ln/>
        </p:spPr>
        <p:txBody>
          <a:bodyPr wrap="square" lIns="0" tIns="0" rIns="0" bIns="0" rtlCol="0" anchor="ctr"/>
          <a:lstStyle/>
          <a:p>
            <a:pPr marL="0" indent="0">
              <a:buNone/>
            </a:pPr>
            <a:r>
              <a:rPr lang="en-US" sz="1300" dirty="0">
                <a:solidFill>
                  <a:srgbClr val="44536B"/>
                </a:solidFill>
                <a:latin typeface="Calibri" pitchFamily="34" charset="0"/>
                <a:ea typeface="Calibri" pitchFamily="34" charset="-122"/>
                <a:cs typeface="Calibri" pitchFamily="34" charset="-120"/>
              </a:rPr>
              <a:t>The shared, tested layer every device needs: spreadsheets, SSH, waits, reporting.</a:t>
            </a:r>
            <a:endParaRPr lang="en-US" sz="1300" dirty="0"/>
          </a:p>
        </p:txBody>
      </p:sp>
      <p:sp>
        <p:nvSpPr>
          <p:cNvPr id="22" name="Shape 20"/>
          <p:cNvSpPr/>
          <p:nvPr/>
        </p:nvSpPr>
        <p:spPr>
          <a:xfrm>
            <a:off x="548640" y="4983480"/>
            <a:ext cx="10881360" cy="960120"/>
          </a:xfrm>
          <a:prstGeom prst="roundRect">
            <a:avLst>
              <a:gd name="adj" fmla="val 7619"/>
            </a:avLst>
          </a:prstGeom>
          <a:solidFill>
            <a:srgbClr val="F5F7FA"/>
          </a:solidFill>
          <a:ln/>
          <a:effectLst>
            <a:outerShdw blurRad="76200" dist="25400" dir="5400000" algn="bl" rotWithShape="0">
              <a:srgbClr val="1B2A4A">
                <a:alpha val="18000"/>
              </a:srgbClr>
            </a:outerShdw>
          </a:effectLst>
        </p:spPr>
        <p:txBody>
          <a:bodyPr/>
          <a:lstStyle/>
          <a:p>
            <a:endParaRPr lang="en-US"/>
          </a:p>
        </p:txBody>
      </p:sp>
      <p:sp>
        <p:nvSpPr>
          <p:cNvPr id="23" name="Shape 21"/>
          <p:cNvSpPr/>
          <p:nvPr/>
        </p:nvSpPr>
        <p:spPr>
          <a:xfrm>
            <a:off x="822960" y="5230368"/>
            <a:ext cx="457200" cy="457200"/>
          </a:xfrm>
          <a:prstGeom prst="ellipse">
            <a:avLst/>
          </a:prstGeom>
          <a:solidFill>
            <a:srgbClr val="1B2A4A"/>
          </a:solidFill>
          <a:ln/>
        </p:spPr>
        <p:txBody>
          <a:bodyPr/>
          <a:lstStyle/>
          <a:p>
            <a:endParaRPr lang="en-US"/>
          </a:p>
        </p:txBody>
      </p:sp>
      <p:sp>
        <p:nvSpPr>
          <p:cNvPr id="24" name="Text 22"/>
          <p:cNvSpPr/>
          <p:nvPr/>
        </p:nvSpPr>
        <p:spPr>
          <a:xfrm>
            <a:off x="822960" y="523036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25" name="Text 23"/>
          <p:cNvSpPr/>
          <p:nvPr/>
        </p:nvSpPr>
        <p:spPr>
          <a:xfrm>
            <a:off x="1554480" y="5093208"/>
            <a:ext cx="3017520" cy="36576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The registry</a:t>
            </a:r>
            <a:endParaRPr lang="en-US" sz="1600" dirty="0"/>
          </a:p>
        </p:txBody>
      </p:sp>
      <p:sp>
        <p:nvSpPr>
          <p:cNvPr id="26" name="Text 24"/>
          <p:cNvSpPr/>
          <p:nvPr/>
        </p:nvSpPr>
        <p:spPr>
          <a:xfrm>
            <a:off x="1554480" y="5458968"/>
            <a:ext cx="3017520" cy="365760"/>
          </a:xfrm>
          <a:prstGeom prst="rect">
            <a:avLst/>
          </a:prstGeom>
          <a:noFill/>
          <a:ln/>
        </p:spPr>
        <p:txBody>
          <a:bodyPr wrap="square" lIns="0" tIns="0" rIns="0" bIns="0" rtlCol="0" anchor="ctr"/>
          <a:lstStyle/>
          <a:p>
            <a:pPr marL="0" indent="0">
              <a:buNone/>
            </a:pPr>
            <a:r>
              <a:rPr lang="en-US" sz="1100" dirty="0">
                <a:solidFill>
                  <a:srgbClr val="7A879B"/>
                </a:solidFill>
                <a:latin typeface="Courier New" pitchFamily="34" charset="0"/>
                <a:ea typeface="Courier New" pitchFamily="34" charset="-122"/>
                <a:cs typeface="Courier New" pitchFamily="34" charset="-120"/>
              </a:rPr>
              <a:t>core/</a:t>
            </a:r>
            <a:endParaRPr lang="en-US" sz="1100" dirty="0"/>
          </a:p>
        </p:txBody>
      </p:sp>
      <p:sp>
        <p:nvSpPr>
          <p:cNvPr id="27" name="Text 25"/>
          <p:cNvSpPr/>
          <p:nvPr/>
        </p:nvSpPr>
        <p:spPr>
          <a:xfrm>
            <a:off x="4709160" y="4983480"/>
            <a:ext cx="6537960" cy="960120"/>
          </a:xfrm>
          <a:prstGeom prst="rect">
            <a:avLst/>
          </a:prstGeom>
          <a:noFill/>
          <a:ln/>
        </p:spPr>
        <p:txBody>
          <a:bodyPr wrap="square" lIns="0" tIns="0" rIns="0" bIns="0" rtlCol="0" anchor="ctr"/>
          <a:lstStyle/>
          <a:p>
            <a:pPr marL="0" indent="0">
              <a:buNone/>
            </a:pPr>
            <a:r>
              <a:rPr lang="en-US" sz="1300" dirty="0">
                <a:solidFill>
                  <a:srgbClr val="44536B"/>
                </a:solidFill>
                <a:latin typeface="Calibri" pitchFamily="34" charset="0"/>
                <a:ea typeface="Calibri" pitchFamily="34" charset="-122"/>
                <a:cs typeface="Calibri" pitchFamily="34" charset="-120"/>
              </a:rPr>
              <a:t>The short list of which devices this workstation knows about.</a:t>
            </a:r>
            <a:endParaRPr lang="en-US" sz="1300" dirty="0"/>
          </a:p>
        </p:txBody>
      </p:sp>
      <p:sp>
        <p:nvSpPr>
          <p:cNvPr id="28" name="Text 26"/>
          <p:cNvSpPr/>
          <p:nvPr/>
        </p:nvSpPr>
        <p:spPr>
          <a:xfrm>
            <a:off x="457200" y="6473952"/>
            <a:ext cx="7315200" cy="274320"/>
          </a:xfrm>
          <a:prstGeom prst="rect">
            <a:avLst/>
          </a:prstGeom>
          <a:noFill/>
          <a:ln/>
        </p:spPr>
        <p:txBody>
          <a:bodyPr wrap="square" lIns="0" tIns="0" rIns="0" bIns="0" rtlCol="0" anchor="ctr"/>
          <a:lstStyle/>
          <a:p>
            <a:pPr marL="0" indent="0">
              <a:buNone/>
            </a:pPr>
            <a:r>
              <a:rPr lang="en-US" sz="1000" dirty="0">
                <a:solidFill>
                  <a:srgbClr val="7A879B"/>
                </a:solidFill>
                <a:latin typeface="Calibri" pitchFamily="34" charset="0"/>
                <a:ea typeface="Calibri" pitchFamily="34" charset="-122"/>
                <a:cs typeface="Calibri" pitchFamily="34" charset="-120"/>
              </a:rPr>
              <a:t>Programming Workstation — Handoff</a:t>
            </a:r>
            <a:endParaRPr lang="en-US" sz="1000" dirty="0"/>
          </a:p>
        </p:txBody>
      </p:sp>
      <p:sp>
        <p:nvSpPr>
          <p:cNvPr id="29" name="Text 27"/>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7A879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8961120" y="-1645920"/>
            <a:ext cx="5029200" cy="5029200"/>
          </a:xfrm>
          <a:prstGeom prst="ellipse">
            <a:avLst/>
          </a:prstGeom>
          <a:solidFill>
            <a:srgbClr val="13203A"/>
          </a:solidFill>
          <a:ln/>
        </p:spPr>
        <p:txBody>
          <a:bodyPr/>
          <a:lstStyle/>
          <a:p>
            <a:endParaRPr lang="en-US"/>
          </a:p>
        </p:txBody>
      </p:sp>
      <p:sp>
        <p:nvSpPr>
          <p:cNvPr id="3" name="Text 1"/>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2E9E6D"/>
                </a:solidFill>
                <a:latin typeface="Calibri" pitchFamily="34" charset="0"/>
                <a:ea typeface="Calibri" pitchFamily="34" charset="-122"/>
                <a:cs typeface="Calibri" pitchFamily="34" charset="-120"/>
              </a:rPr>
              <a:t>THE MOST IMPORTANT IDEA IN THE WHOLE APP</a:t>
            </a:r>
            <a:endParaRPr lang="en-US" sz="1200" dirty="0"/>
          </a:p>
        </p:txBody>
      </p:sp>
      <p:sp>
        <p:nvSpPr>
          <p:cNvPr id="4" name="Text 2"/>
          <p:cNvSpPr/>
          <p:nvPr/>
        </p:nvSpPr>
        <p:spPr>
          <a:xfrm>
            <a:off x="731520" y="1920240"/>
            <a:ext cx="10058400" cy="2103120"/>
          </a:xfrm>
          <a:prstGeom prst="rect">
            <a:avLst/>
          </a:prstGeom>
          <a:noFill/>
          <a:ln/>
        </p:spPr>
        <p:txBody>
          <a:bodyPr wrap="square" lIns="0" tIns="0" rIns="0" bIns="0" rtlCol="0" anchor="ctr"/>
          <a:lstStyle/>
          <a:p>
            <a:pPr marL="0" indent="0">
              <a:lnSpc>
                <a:spcPct val="110000"/>
              </a:lnSpc>
              <a:buNone/>
            </a:pPr>
            <a:r>
              <a:rPr lang="en-US" sz="4000" b="1" i="1" dirty="0">
                <a:solidFill>
                  <a:srgbClr val="FFFFFF"/>
                </a:solidFill>
                <a:latin typeface="Cambria" pitchFamily="34" charset="0"/>
                <a:ea typeface="Cambria" pitchFamily="34" charset="-122"/>
                <a:cs typeface="Cambria" pitchFamily="34" charset="-120"/>
              </a:rPr>
              <a:t>“A device is a folder,</a:t>
            </a:r>
            <a:endParaRPr lang="en-US" sz="4000" dirty="0"/>
          </a:p>
          <a:p>
            <a:pPr marL="0" indent="0">
              <a:lnSpc>
                <a:spcPct val="110000"/>
              </a:lnSpc>
              <a:buNone/>
            </a:pPr>
            <a:r>
              <a:rPr lang="en-US" sz="4000" b="1" i="1" dirty="0">
                <a:solidFill>
                  <a:srgbClr val="FFFFFF"/>
                </a:solidFill>
                <a:latin typeface="Cambria" pitchFamily="34" charset="0"/>
                <a:ea typeface="Cambria" pitchFamily="34" charset="-122"/>
                <a:cs typeface="Cambria" pitchFamily="34" charset="-120"/>
              </a:rPr>
              <a:t>not a piece of code.”</a:t>
            </a:r>
            <a:endParaRPr lang="en-US" sz="4000" dirty="0"/>
          </a:p>
        </p:txBody>
      </p:sp>
      <p:sp>
        <p:nvSpPr>
          <p:cNvPr id="5" name="Text 3"/>
          <p:cNvSpPr/>
          <p:nvPr/>
        </p:nvSpPr>
        <p:spPr>
          <a:xfrm>
            <a:off x="731520" y="4114800"/>
            <a:ext cx="8686800" cy="1463040"/>
          </a:xfrm>
          <a:prstGeom prst="rect">
            <a:avLst/>
          </a:prstGeom>
          <a:noFill/>
          <a:ln/>
        </p:spPr>
        <p:txBody>
          <a:bodyPr wrap="square" lIns="0" tIns="0" rIns="0" bIns="0" rtlCol="0" anchor="ctr"/>
          <a:lstStyle/>
          <a:p>
            <a:pPr marL="0" indent="0">
              <a:lnSpc>
                <a:spcPct val="130000"/>
              </a:lnSpc>
              <a:buNone/>
            </a:pPr>
            <a:r>
              <a:rPr lang="en-US" sz="1600" dirty="0">
                <a:solidFill>
                  <a:srgbClr val="CADCFC"/>
                </a:solidFill>
                <a:latin typeface="Calibri" pitchFamily="34" charset="0"/>
                <a:ea typeface="Calibri" pitchFamily="34" charset="-122"/>
                <a:cs typeface="Calibri" pitchFamily="34" charset="-120"/>
              </a:rPr>
              <a:t>To teach the workstation a new router, you don't write a new program — you drop in a folder containing that router's software and settings, and register it. There is no base class to subclass; devices/ is the whole extension mechanism, and it works even in the packaged .exe.</a:t>
            </a:r>
            <a:endParaRPr lang="en-US" sz="1600" dirty="0"/>
          </a:p>
        </p:txBody>
      </p:sp>
      <p:sp>
        <p:nvSpPr>
          <p:cNvPr id="6" name="Text 4"/>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8A98B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2E9E6D"/>
                </a:solidFill>
                <a:latin typeface="Calibri" pitchFamily="34" charset="0"/>
                <a:ea typeface="Calibri" pitchFamily="34" charset="-122"/>
                <a:cs typeface="Calibri" pitchFamily="34" charset="-120"/>
              </a:rPr>
              <a:t>A QUICK TOUR</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marL="0" indent="0" algn="l">
              <a:buNone/>
            </a:pPr>
            <a:r>
              <a:rPr lang="en-US" sz="3200" b="1" dirty="0">
                <a:solidFill>
                  <a:srgbClr val="1B2A4A"/>
                </a:solidFill>
                <a:latin typeface="Cambria" pitchFamily="34" charset="0"/>
                <a:ea typeface="Cambria" pitchFamily="34" charset="-122"/>
                <a:cs typeface="Cambria" pitchFamily="34" charset="-120"/>
              </a:rPr>
              <a:t>Home → Add Device → Program Device</a:t>
            </a:r>
            <a:endParaRPr lang="en-US" sz="3200" dirty="0"/>
          </a:p>
        </p:txBody>
      </p:sp>
      <p:sp>
        <p:nvSpPr>
          <p:cNvPr id="4" name="Shape 2"/>
          <p:cNvSpPr/>
          <p:nvPr/>
        </p:nvSpPr>
        <p:spPr>
          <a:xfrm>
            <a:off x="493776" y="1362456"/>
            <a:ext cx="3721608" cy="2267712"/>
          </a:xfrm>
          <a:prstGeom prst="roundRect">
            <a:avLst>
              <a:gd name="adj" fmla="val 2016"/>
            </a:avLst>
          </a:prstGeom>
          <a:solidFill>
            <a:srgbClr val="FFFFFF"/>
          </a:solidFill>
          <a:ln w="12700">
            <a:solidFill>
              <a:srgbClr val="D7DEEA"/>
            </a:solidFill>
            <a:prstDash val="solid"/>
          </a:ln>
          <a:effectLst>
            <a:outerShdw blurRad="101600" dist="38100" dir="5400000" algn="bl" rotWithShape="0">
              <a:srgbClr val="1B2A4A">
                <a:alpha val="22000"/>
              </a:srgbClr>
            </a:outerShdw>
          </a:effectLst>
        </p:spPr>
        <p:txBody>
          <a:bodyPr/>
          <a:lstStyle/>
          <a:p>
            <a:endParaRPr lang="en-US"/>
          </a:p>
        </p:txBody>
      </p:sp>
      <p:pic>
        <p:nvPicPr>
          <p:cNvPr id="5" name="Image 0" descr="/sessions/peaceful-amazing-thompson/mnt/outputs/screens/01_home.png"/>
          <p:cNvPicPr>
            <a:picLocks noChangeAspect="1"/>
          </p:cNvPicPr>
          <p:nvPr/>
        </p:nvPicPr>
        <p:blipFill>
          <a:blip r:embed="rId3"/>
          <a:stretch>
            <a:fillRect/>
          </a:stretch>
        </p:blipFill>
        <p:spPr>
          <a:xfrm>
            <a:off x="548640" y="1417320"/>
            <a:ext cx="3611880" cy="2157984"/>
          </a:xfrm>
          <a:prstGeom prst="rect">
            <a:avLst/>
          </a:prstGeom>
        </p:spPr>
      </p:pic>
      <p:sp>
        <p:nvSpPr>
          <p:cNvPr id="6" name="Text 3"/>
          <p:cNvSpPr/>
          <p:nvPr/>
        </p:nvSpPr>
        <p:spPr>
          <a:xfrm>
            <a:off x="548640" y="3758184"/>
            <a:ext cx="3611880" cy="320040"/>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Home</a:t>
            </a:r>
            <a:endParaRPr lang="en-US" sz="1300" dirty="0"/>
          </a:p>
        </p:txBody>
      </p:sp>
      <p:sp>
        <p:nvSpPr>
          <p:cNvPr id="7" name="Shape 4"/>
          <p:cNvSpPr/>
          <p:nvPr/>
        </p:nvSpPr>
        <p:spPr>
          <a:xfrm>
            <a:off x="4334256" y="1362456"/>
            <a:ext cx="3721608" cy="2267712"/>
          </a:xfrm>
          <a:prstGeom prst="roundRect">
            <a:avLst>
              <a:gd name="adj" fmla="val 2016"/>
            </a:avLst>
          </a:prstGeom>
          <a:solidFill>
            <a:srgbClr val="FFFFFF"/>
          </a:solidFill>
          <a:ln w="12700">
            <a:solidFill>
              <a:srgbClr val="D7DEEA"/>
            </a:solidFill>
            <a:prstDash val="solid"/>
          </a:ln>
          <a:effectLst>
            <a:outerShdw blurRad="101600" dist="38100" dir="5400000" algn="bl" rotWithShape="0">
              <a:srgbClr val="1B2A4A">
                <a:alpha val="22000"/>
              </a:srgbClr>
            </a:outerShdw>
          </a:effectLst>
        </p:spPr>
        <p:txBody>
          <a:bodyPr/>
          <a:lstStyle/>
          <a:p>
            <a:endParaRPr lang="en-US"/>
          </a:p>
        </p:txBody>
      </p:sp>
      <p:pic>
        <p:nvPicPr>
          <p:cNvPr id="8" name="Image 1" descr="/sessions/peaceful-amazing-thompson/mnt/outputs/screens/02_add_device.png"/>
          <p:cNvPicPr>
            <a:picLocks noChangeAspect="1"/>
          </p:cNvPicPr>
          <p:nvPr/>
        </p:nvPicPr>
        <p:blipFill>
          <a:blip r:embed="rId4"/>
          <a:stretch>
            <a:fillRect/>
          </a:stretch>
        </p:blipFill>
        <p:spPr>
          <a:xfrm>
            <a:off x="4389120" y="1417320"/>
            <a:ext cx="3611880" cy="2157984"/>
          </a:xfrm>
          <a:prstGeom prst="rect">
            <a:avLst/>
          </a:prstGeom>
        </p:spPr>
      </p:pic>
      <p:sp>
        <p:nvSpPr>
          <p:cNvPr id="9" name="Text 5"/>
          <p:cNvSpPr/>
          <p:nvPr/>
        </p:nvSpPr>
        <p:spPr>
          <a:xfrm>
            <a:off x="4389120" y="3758184"/>
            <a:ext cx="3611880" cy="320040"/>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Add Device</a:t>
            </a:r>
            <a:endParaRPr lang="en-US" sz="1300" dirty="0"/>
          </a:p>
        </p:txBody>
      </p:sp>
      <p:sp>
        <p:nvSpPr>
          <p:cNvPr id="10" name="Shape 6"/>
          <p:cNvSpPr/>
          <p:nvPr/>
        </p:nvSpPr>
        <p:spPr>
          <a:xfrm>
            <a:off x="8174736" y="1362456"/>
            <a:ext cx="3721608" cy="2267712"/>
          </a:xfrm>
          <a:prstGeom prst="roundRect">
            <a:avLst>
              <a:gd name="adj" fmla="val 2016"/>
            </a:avLst>
          </a:prstGeom>
          <a:solidFill>
            <a:srgbClr val="FFFFFF"/>
          </a:solidFill>
          <a:ln w="12700">
            <a:solidFill>
              <a:srgbClr val="D7DEEA"/>
            </a:solidFill>
            <a:prstDash val="solid"/>
          </a:ln>
          <a:effectLst>
            <a:outerShdw blurRad="101600" dist="38100" dir="5400000" algn="bl" rotWithShape="0">
              <a:srgbClr val="1B2A4A">
                <a:alpha val="22000"/>
              </a:srgbClr>
            </a:outerShdw>
          </a:effectLst>
        </p:spPr>
        <p:txBody>
          <a:bodyPr/>
          <a:lstStyle/>
          <a:p>
            <a:endParaRPr lang="en-US"/>
          </a:p>
        </p:txBody>
      </p:sp>
      <p:pic>
        <p:nvPicPr>
          <p:cNvPr id="11" name="Image 2" descr="/sessions/peaceful-amazing-thompson/mnt/outputs/screens/03_program_tr_filled.png"/>
          <p:cNvPicPr>
            <a:picLocks noChangeAspect="1"/>
          </p:cNvPicPr>
          <p:nvPr/>
        </p:nvPicPr>
        <p:blipFill>
          <a:blip r:embed="rId5"/>
          <a:stretch>
            <a:fillRect/>
          </a:stretch>
        </p:blipFill>
        <p:spPr>
          <a:xfrm>
            <a:off x="8229600" y="1417320"/>
            <a:ext cx="3611880" cy="2157984"/>
          </a:xfrm>
          <a:prstGeom prst="rect">
            <a:avLst/>
          </a:prstGeom>
        </p:spPr>
      </p:pic>
      <p:sp>
        <p:nvSpPr>
          <p:cNvPr id="12" name="Text 7"/>
          <p:cNvSpPr/>
          <p:nvPr/>
        </p:nvSpPr>
        <p:spPr>
          <a:xfrm>
            <a:off x="8229600" y="3758184"/>
            <a:ext cx="3611880" cy="320040"/>
          </a:xfrm>
          <a:prstGeom prst="rect">
            <a:avLst/>
          </a:prstGeom>
          <a:noFill/>
          <a:ln/>
        </p:spPr>
        <p:txBody>
          <a:bodyPr wrap="square" lIns="0" tIns="0" rIns="0" bIns="0" rtlCol="0" anchor="ctr"/>
          <a:lstStyle/>
          <a:p>
            <a:pPr marL="0" indent="0" algn="ctr">
              <a:buNone/>
            </a:pPr>
            <a:r>
              <a:rPr lang="en-US" sz="1300" b="1" dirty="0">
                <a:solidFill>
                  <a:srgbClr val="1B2A4A"/>
                </a:solidFill>
                <a:latin typeface="Calibri" pitchFamily="34" charset="0"/>
                <a:ea typeface="Calibri" pitchFamily="34" charset="-122"/>
                <a:cs typeface="Calibri" pitchFamily="34" charset="-120"/>
              </a:rPr>
              <a:t>Program Device</a:t>
            </a:r>
            <a:endParaRPr lang="en-US" sz="1300" dirty="0"/>
          </a:p>
        </p:txBody>
      </p:sp>
      <p:sp>
        <p:nvSpPr>
          <p:cNvPr id="13" name="Text 8"/>
          <p:cNvSpPr/>
          <p:nvPr/>
        </p:nvSpPr>
        <p:spPr>
          <a:xfrm>
            <a:off x="548640" y="4434840"/>
            <a:ext cx="10881360" cy="548640"/>
          </a:xfrm>
          <a:prstGeom prst="rect">
            <a:avLst/>
          </a:prstGeom>
          <a:noFill/>
          <a:ln/>
        </p:spPr>
        <p:txBody>
          <a:bodyPr wrap="square" lIns="0" tIns="0" rIns="0" bIns="0" rtlCol="0" anchor="ctr"/>
          <a:lstStyle/>
          <a:p>
            <a:pPr marL="0" indent="0">
              <a:buNone/>
            </a:pPr>
            <a:r>
              <a:rPr lang="en-US" sz="1400" dirty="0">
                <a:solidFill>
                  <a:srgbClr val="44536B"/>
                </a:solidFill>
                <a:latin typeface="Calibri" pitchFamily="34" charset="0"/>
                <a:ea typeface="Calibri" pitchFamily="34" charset="-122"/>
                <a:cs typeface="Calibri" pitchFamily="34" charset="-120"/>
              </a:rPr>
              <a:t>One QStackedWidget holds all four pages at fixed indices; navigation is just switching which one is visible — there's no router or history stack.</a:t>
            </a:r>
            <a:endParaRPr lang="en-US" sz="1400" dirty="0"/>
          </a:p>
        </p:txBody>
      </p:sp>
      <p:sp>
        <p:nvSpPr>
          <p:cNvPr id="14" name="Text 9"/>
          <p:cNvSpPr/>
          <p:nvPr/>
        </p:nvSpPr>
        <p:spPr>
          <a:xfrm>
            <a:off x="548640" y="4937760"/>
            <a:ext cx="10881360" cy="548640"/>
          </a:xfrm>
          <a:prstGeom prst="rect">
            <a:avLst/>
          </a:prstGeom>
          <a:noFill/>
          <a:ln/>
        </p:spPr>
        <p:txBody>
          <a:bodyPr wrap="square" lIns="0" tIns="0" rIns="0" bIns="0" rtlCol="0" anchor="ctr"/>
          <a:lstStyle/>
          <a:p>
            <a:pPr marL="0" indent="0">
              <a:buNone/>
            </a:pPr>
            <a:r>
              <a:rPr lang="en-US" sz="1300" i="1" dirty="0">
                <a:solidFill>
                  <a:srgbClr val="7A879B"/>
                </a:solidFill>
                <a:latin typeface="Calibri" pitchFamily="34" charset="0"/>
                <a:ea typeface="Calibri" pitchFamily="34" charset="-122"/>
                <a:cs typeface="Calibri" pitchFamily="34" charset="-120"/>
              </a:rPr>
              <a:t>Note: “Program Device” stays disabled until every cabling checkbox from that device's instructions.txt is ticked — the pre-flight gate.</a:t>
            </a:r>
            <a:endParaRPr lang="en-US" sz="1300" dirty="0"/>
          </a:p>
        </p:txBody>
      </p:sp>
      <p:sp>
        <p:nvSpPr>
          <p:cNvPr id="15" name="Text 10"/>
          <p:cNvSpPr/>
          <p:nvPr/>
        </p:nvSpPr>
        <p:spPr>
          <a:xfrm>
            <a:off x="457200" y="6473952"/>
            <a:ext cx="7315200" cy="274320"/>
          </a:xfrm>
          <a:prstGeom prst="rect">
            <a:avLst/>
          </a:prstGeom>
          <a:noFill/>
          <a:ln/>
        </p:spPr>
        <p:txBody>
          <a:bodyPr wrap="square" lIns="0" tIns="0" rIns="0" bIns="0" rtlCol="0" anchor="ctr"/>
          <a:lstStyle/>
          <a:p>
            <a:pPr marL="0" indent="0">
              <a:buNone/>
            </a:pPr>
            <a:r>
              <a:rPr lang="en-US" sz="1000" dirty="0">
                <a:solidFill>
                  <a:srgbClr val="7A879B"/>
                </a:solidFill>
                <a:latin typeface="Calibri" pitchFamily="34" charset="0"/>
                <a:ea typeface="Calibri" pitchFamily="34" charset="-122"/>
                <a:cs typeface="Calibri" pitchFamily="34" charset="-120"/>
              </a:rPr>
              <a:t>Programming Workstation — Handoff</a:t>
            </a:r>
            <a:endParaRPr lang="en-US" sz="1000" dirty="0"/>
          </a:p>
        </p:txBody>
      </p:sp>
      <p:sp>
        <p:nvSpPr>
          <p:cNvPr id="16" name="Text 11"/>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7A879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2E9E6D"/>
                </a:solidFill>
                <a:latin typeface="Calibri" pitchFamily="34" charset="0"/>
                <a:ea typeface="Calibri" pitchFamily="34" charset="-122"/>
                <a:cs typeface="Calibri" pitchFamily="34" charset="-120"/>
              </a:rPr>
              <a:t>SIDE BY SIDE</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marL="0" indent="0" algn="l">
              <a:buNone/>
            </a:pPr>
            <a:r>
              <a:rPr lang="en-US" sz="3200" b="1" dirty="0">
                <a:solidFill>
                  <a:srgbClr val="1B2A4A"/>
                </a:solidFill>
                <a:latin typeface="Cambria" pitchFamily="34" charset="0"/>
                <a:ea typeface="Cambria" pitchFamily="34" charset="-122"/>
                <a:cs typeface="Cambria" pitchFamily="34" charset="-120"/>
              </a:rPr>
              <a:t>Same shared layer, two different checklists</a:t>
            </a:r>
            <a:endParaRPr lang="en-US" sz="3200" dirty="0"/>
          </a:p>
        </p:txBody>
      </p:sp>
      <p:sp>
        <p:nvSpPr>
          <p:cNvPr id="4" name="Shape 2"/>
          <p:cNvSpPr/>
          <p:nvPr/>
        </p:nvSpPr>
        <p:spPr>
          <a:xfrm>
            <a:off x="493776" y="1499616"/>
            <a:ext cx="5321808" cy="3218688"/>
          </a:xfrm>
          <a:prstGeom prst="roundRect">
            <a:avLst>
              <a:gd name="adj" fmla="val 1420"/>
            </a:avLst>
          </a:prstGeom>
          <a:solidFill>
            <a:srgbClr val="FFFFFF"/>
          </a:solidFill>
          <a:ln w="12700">
            <a:solidFill>
              <a:srgbClr val="D7DEEA"/>
            </a:solidFill>
            <a:prstDash val="solid"/>
          </a:ln>
          <a:effectLst>
            <a:outerShdw blurRad="101600" dist="38100" dir="5400000" algn="bl" rotWithShape="0">
              <a:srgbClr val="1B2A4A">
                <a:alpha val="22000"/>
              </a:srgbClr>
            </a:outerShdw>
          </a:effectLst>
        </p:spPr>
        <p:txBody>
          <a:bodyPr/>
          <a:lstStyle/>
          <a:p>
            <a:endParaRPr lang="en-US"/>
          </a:p>
        </p:txBody>
      </p:sp>
      <p:pic>
        <p:nvPicPr>
          <p:cNvPr id="5" name="Image 0" descr="/sessions/peaceful-amazing-thompson/mnt/outputs/screens/04_program_tr_checklist.png"/>
          <p:cNvPicPr>
            <a:picLocks noChangeAspect="1"/>
          </p:cNvPicPr>
          <p:nvPr/>
        </p:nvPicPr>
        <p:blipFill>
          <a:blip r:embed="rId3"/>
          <a:stretch>
            <a:fillRect/>
          </a:stretch>
        </p:blipFill>
        <p:spPr>
          <a:xfrm>
            <a:off x="548640" y="1554480"/>
            <a:ext cx="5212080" cy="3108960"/>
          </a:xfrm>
          <a:prstGeom prst="rect">
            <a:avLst/>
          </a:prstGeom>
        </p:spPr>
      </p:pic>
      <p:sp>
        <p:nvSpPr>
          <p:cNvPr id="6" name="Text 3"/>
          <p:cNvSpPr/>
          <p:nvPr/>
        </p:nvSpPr>
        <p:spPr>
          <a:xfrm>
            <a:off x="548640" y="4892040"/>
            <a:ext cx="5212080" cy="36576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Teltonika RUTX08 — 9 milestones (Checking IP → Testing)</a:t>
            </a:r>
            <a:endParaRPr lang="en-US" sz="1300" dirty="0"/>
          </a:p>
        </p:txBody>
      </p:sp>
      <p:sp>
        <p:nvSpPr>
          <p:cNvPr id="7" name="Shape 4"/>
          <p:cNvSpPr/>
          <p:nvPr/>
        </p:nvSpPr>
        <p:spPr>
          <a:xfrm>
            <a:off x="6254496" y="1499616"/>
            <a:ext cx="5321808" cy="3218688"/>
          </a:xfrm>
          <a:prstGeom prst="roundRect">
            <a:avLst>
              <a:gd name="adj" fmla="val 1420"/>
            </a:avLst>
          </a:prstGeom>
          <a:solidFill>
            <a:srgbClr val="FFFFFF"/>
          </a:solidFill>
          <a:ln w="12700">
            <a:solidFill>
              <a:srgbClr val="D7DEEA"/>
            </a:solidFill>
            <a:prstDash val="solid"/>
          </a:ln>
          <a:effectLst>
            <a:outerShdw blurRad="101600" dist="38100" dir="5400000" algn="bl" rotWithShape="0">
              <a:srgbClr val="1B2A4A">
                <a:alpha val="22000"/>
              </a:srgbClr>
            </a:outerShdw>
          </a:effectLst>
        </p:spPr>
        <p:txBody>
          <a:bodyPr/>
          <a:lstStyle/>
          <a:p>
            <a:endParaRPr lang="en-US"/>
          </a:p>
        </p:txBody>
      </p:sp>
      <p:pic>
        <p:nvPicPr>
          <p:cNvPr id="8" name="Image 1" descr="/sessions/peaceful-amazing-thompson/mnt/outputs/screens/05_program_digiix20.png"/>
          <p:cNvPicPr>
            <a:picLocks noChangeAspect="1"/>
          </p:cNvPicPr>
          <p:nvPr/>
        </p:nvPicPr>
        <p:blipFill>
          <a:blip r:embed="rId4"/>
          <a:stretch>
            <a:fillRect/>
          </a:stretch>
        </p:blipFill>
        <p:spPr>
          <a:xfrm>
            <a:off x="6309360" y="1554480"/>
            <a:ext cx="5212080" cy="3108960"/>
          </a:xfrm>
          <a:prstGeom prst="rect">
            <a:avLst/>
          </a:prstGeom>
        </p:spPr>
      </p:pic>
      <p:sp>
        <p:nvSpPr>
          <p:cNvPr id="9" name="Text 5"/>
          <p:cNvSpPr/>
          <p:nvPr/>
        </p:nvSpPr>
        <p:spPr>
          <a:xfrm>
            <a:off x="6309360" y="4892040"/>
            <a:ext cx="5212080" cy="365760"/>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Digi IX20 — 9 milestones (Scanning → Making Label)</a:t>
            </a:r>
            <a:endParaRPr lang="en-US" sz="1300" dirty="0"/>
          </a:p>
        </p:txBody>
      </p:sp>
      <p:sp>
        <p:nvSpPr>
          <p:cNvPr id="10" name="Text 6"/>
          <p:cNvSpPr/>
          <p:nvPr/>
        </p:nvSpPr>
        <p:spPr>
          <a:xfrm>
            <a:off x="548640" y="5349240"/>
            <a:ext cx="10881360" cy="457200"/>
          </a:xfrm>
          <a:prstGeom prst="rect">
            <a:avLst/>
          </a:prstGeom>
          <a:noFill/>
          <a:ln/>
        </p:spPr>
        <p:txBody>
          <a:bodyPr wrap="square" lIns="0" tIns="0" rIns="0" bIns="0" rtlCol="0" anchor="ctr"/>
          <a:lstStyle/>
          <a:p>
            <a:pPr marL="0" indent="0">
              <a:buNone/>
            </a:pPr>
            <a:r>
              <a:rPr lang="en-US" sz="1300" i="1" dirty="0">
                <a:solidFill>
                  <a:srgbClr val="7A879B"/>
                </a:solidFill>
                <a:latin typeface="Calibri" pitchFamily="34" charset="0"/>
                <a:ea typeface="Calibri" pitchFamily="34" charset="-122"/>
                <a:cs typeface="Calibri" pitchFamily="34" charset="-120"/>
              </a:rPr>
              <a:t>Row labels come from each device's own checklist.json — a device without one simply gets an empty panel.</a:t>
            </a:r>
            <a:endParaRPr lang="en-US" sz="1300" dirty="0"/>
          </a:p>
        </p:txBody>
      </p:sp>
      <p:sp>
        <p:nvSpPr>
          <p:cNvPr id="11" name="Text 7"/>
          <p:cNvSpPr/>
          <p:nvPr/>
        </p:nvSpPr>
        <p:spPr>
          <a:xfrm>
            <a:off x="457200" y="6473952"/>
            <a:ext cx="7315200" cy="274320"/>
          </a:xfrm>
          <a:prstGeom prst="rect">
            <a:avLst/>
          </a:prstGeom>
          <a:noFill/>
          <a:ln/>
        </p:spPr>
        <p:txBody>
          <a:bodyPr wrap="square" lIns="0" tIns="0" rIns="0" bIns="0" rtlCol="0" anchor="ctr"/>
          <a:lstStyle/>
          <a:p>
            <a:pPr marL="0" indent="0">
              <a:buNone/>
            </a:pPr>
            <a:r>
              <a:rPr lang="en-US" sz="1000" dirty="0">
                <a:solidFill>
                  <a:srgbClr val="7A879B"/>
                </a:solidFill>
                <a:latin typeface="Calibri" pitchFamily="34" charset="0"/>
                <a:ea typeface="Calibri" pitchFamily="34" charset="-122"/>
                <a:cs typeface="Calibri" pitchFamily="34" charset="-120"/>
              </a:rPr>
              <a:t>Programming Workstation — Handoff</a:t>
            </a:r>
            <a:endParaRPr lang="en-US" sz="1000" dirty="0"/>
          </a:p>
        </p:txBody>
      </p:sp>
      <p:sp>
        <p:nvSpPr>
          <p:cNvPr id="12" name="Text 8"/>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7A879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2E9E6D"/>
                </a:solidFill>
                <a:latin typeface="Calibri" pitchFamily="34" charset="0"/>
                <a:ea typeface="Calibri" pitchFamily="34" charset="-122"/>
                <a:cs typeface="Calibri" pitchFamily="34" charset="-120"/>
              </a:rPr>
              <a:t>THE CORE FLOW</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marL="0" indent="0" algn="l">
              <a:buNone/>
            </a:pPr>
            <a:r>
              <a:rPr lang="en-US" sz="3200" b="1" dirty="0">
                <a:solidFill>
                  <a:srgbClr val="1B2A4A"/>
                </a:solidFill>
                <a:latin typeface="Cambria" pitchFamily="34" charset="0"/>
                <a:ea typeface="Cambria" pitchFamily="34" charset="-122"/>
                <a:cs typeface="Cambria" pitchFamily="34" charset="-120"/>
              </a:rPr>
              <a:t>What happens when you press the button</a:t>
            </a:r>
            <a:endParaRPr lang="en-US" sz="3200" dirty="0"/>
          </a:p>
        </p:txBody>
      </p:sp>
      <p:sp>
        <p:nvSpPr>
          <p:cNvPr id="4" name="Shape 2"/>
          <p:cNvSpPr/>
          <p:nvPr/>
        </p:nvSpPr>
        <p:spPr>
          <a:xfrm>
            <a:off x="548640" y="1554480"/>
            <a:ext cx="548640" cy="548640"/>
          </a:xfrm>
          <a:prstGeom prst="ellipse">
            <a:avLst/>
          </a:prstGeom>
          <a:solidFill>
            <a:srgbClr val="1B2A4A"/>
          </a:solidFill>
          <a:ln/>
        </p:spPr>
        <p:txBody>
          <a:bodyPr/>
          <a:lstStyle/>
          <a:p>
            <a:endParaRPr lang="en-US"/>
          </a:p>
        </p:txBody>
      </p:sp>
      <p:sp>
        <p:nvSpPr>
          <p:cNvPr id="5" name="Text 3"/>
          <p:cNvSpPr/>
          <p:nvPr/>
        </p:nvSpPr>
        <p:spPr>
          <a:xfrm>
            <a:off x="548640" y="155448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Text 4"/>
          <p:cNvSpPr/>
          <p:nvPr/>
        </p:nvSpPr>
        <p:spPr>
          <a:xfrm>
            <a:off x="1371600" y="1508760"/>
            <a:ext cx="3931920" cy="640080"/>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Look up the gate</a:t>
            </a:r>
            <a:endParaRPr lang="en-US" sz="1700" dirty="0"/>
          </a:p>
        </p:txBody>
      </p:sp>
      <p:sp>
        <p:nvSpPr>
          <p:cNvPr id="7" name="Text 5"/>
          <p:cNvSpPr/>
          <p:nvPr/>
        </p:nvSpPr>
        <p:spPr>
          <a:xfrm>
            <a:off x="1371600" y="2011680"/>
            <a:ext cx="3931920" cy="822960"/>
          </a:xfrm>
          <a:prstGeom prst="rect">
            <a:avLst/>
          </a:prstGeom>
          <a:noFill/>
          <a:ln/>
        </p:spPr>
        <p:txBody>
          <a:bodyPr wrap="square" lIns="0" tIns="0" rIns="0" bIns="0" rtlCol="0" anchor="t"/>
          <a:lstStyle/>
          <a:p>
            <a:pPr marL="0" indent="0">
              <a:buNone/>
            </a:pPr>
            <a:r>
              <a:rPr lang="en-US" sz="1250" dirty="0">
                <a:solidFill>
                  <a:srgbClr val="44536B"/>
                </a:solidFill>
                <a:latin typeface="Calibri" pitchFamily="34" charset="0"/>
                <a:ea typeface="Calibri" pitchFamily="34" charset="-122"/>
                <a:cs typeface="Calibri" pitchFamily="34" charset="-120"/>
              </a:rPr>
              <a:t>Read the spreadsheet for the gate's network address. If it's wrong or missing, stop here — before touching any hardware.</a:t>
            </a:r>
            <a:endParaRPr lang="en-US" sz="1250" dirty="0"/>
          </a:p>
        </p:txBody>
      </p:sp>
      <p:sp>
        <p:nvSpPr>
          <p:cNvPr id="8" name="Shape 6"/>
          <p:cNvSpPr/>
          <p:nvPr/>
        </p:nvSpPr>
        <p:spPr>
          <a:xfrm>
            <a:off x="822960" y="2103120"/>
            <a:ext cx="0" cy="868680"/>
          </a:xfrm>
          <a:prstGeom prst="line">
            <a:avLst/>
          </a:prstGeom>
          <a:noFill/>
          <a:ln w="19050">
            <a:solidFill>
              <a:srgbClr val="D7DEEA"/>
            </a:solidFill>
            <a:prstDash val="dash"/>
          </a:ln>
        </p:spPr>
        <p:txBody>
          <a:bodyPr/>
          <a:lstStyle/>
          <a:p>
            <a:endParaRPr lang="en-US"/>
          </a:p>
        </p:txBody>
      </p:sp>
      <p:sp>
        <p:nvSpPr>
          <p:cNvPr id="9" name="Shape 7"/>
          <p:cNvSpPr/>
          <p:nvPr/>
        </p:nvSpPr>
        <p:spPr>
          <a:xfrm>
            <a:off x="548640" y="2971800"/>
            <a:ext cx="548640" cy="548640"/>
          </a:xfrm>
          <a:prstGeom prst="ellipse">
            <a:avLst/>
          </a:prstGeom>
          <a:solidFill>
            <a:srgbClr val="1B2A4A"/>
          </a:solidFill>
          <a:ln/>
        </p:spPr>
        <p:txBody>
          <a:bodyPr/>
          <a:lstStyle/>
          <a:p>
            <a:endParaRPr lang="en-US"/>
          </a:p>
        </p:txBody>
      </p:sp>
      <p:sp>
        <p:nvSpPr>
          <p:cNvPr id="10" name="Text 8"/>
          <p:cNvSpPr/>
          <p:nvPr/>
        </p:nvSpPr>
        <p:spPr>
          <a:xfrm>
            <a:off x="548640" y="297180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Text 9"/>
          <p:cNvSpPr/>
          <p:nvPr/>
        </p:nvSpPr>
        <p:spPr>
          <a:xfrm>
            <a:off x="1371600" y="2926080"/>
            <a:ext cx="3931920" cy="640080"/>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Run the router's setup script</a:t>
            </a:r>
            <a:endParaRPr lang="en-US" sz="1700" dirty="0"/>
          </a:p>
        </p:txBody>
      </p:sp>
      <p:sp>
        <p:nvSpPr>
          <p:cNvPr id="12" name="Text 10"/>
          <p:cNvSpPr/>
          <p:nvPr/>
        </p:nvSpPr>
        <p:spPr>
          <a:xfrm>
            <a:off x="1371600" y="3429000"/>
            <a:ext cx="3931920" cy="822960"/>
          </a:xfrm>
          <a:prstGeom prst="rect">
            <a:avLst/>
          </a:prstGeom>
          <a:noFill/>
          <a:ln/>
        </p:spPr>
        <p:txBody>
          <a:bodyPr wrap="square" lIns="0" tIns="0" rIns="0" bIns="0" rtlCol="0" anchor="t"/>
          <a:lstStyle/>
          <a:p>
            <a:pPr marL="0" indent="0">
              <a:buNone/>
            </a:pPr>
            <a:r>
              <a:rPr lang="en-US" sz="1250" dirty="0">
                <a:solidFill>
                  <a:srgbClr val="44536B"/>
                </a:solidFill>
                <a:latin typeface="Calibri" pitchFamily="34" charset="0"/>
                <a:ea typeface="Calibri" pitchFamily="34" charset="-122"/>
                <a:cs typeface="Calibri" pitchFamily="34" charset="-120"/>
              </a:rPr>
              <a:t>Firmware → config push → reboot → change address → test. Reports back after each step — this is what drives the live checklist.</a:t>
            </a:r>
            <a:endParaRPr lang="en-US" sz="1250" dirty="0"/>
          </a:p>
        </p:txBody>
      </p:sp>
      <p:sp>
        <p:nvSpPr>
          <p:cNvPr id="13" name="Shape 11"/>
          <p:cNvSpPr/>
          <p:nvPr/>
        </p:nvSpPr>
        <p:spPr>
          <a:xfrm>
            <a:off x="822960" y="3520440"/>
            <a:ext cx="0" cy="868680"/>
          </a:xfrm>
          <a:prstGeom prst="line">
            <a:avLst/>
          </a:prstGeom>
          <a:noFill/>
          <a:ln w="19050">
            <a:solidFill>
              <a:srgbClr val="D7DEEA"/>
            </a:solidFill>
            <a:prstDash val="dash"/>
          </a:ln>
        </p:spPr>
        <p:txBody>
          <a:bodyPr/>
          <a:lstStyle/>
          <a:p>
            <a:endParaRPr lang="en-US"/>
          </a:p>
        </p:txBody>
      </p:sp>
      <p:sp>
        <p:nvSpPr>
          <p:cNvPr id="14" name="Shape 12"/>
          <p:cNvSpPr/>
          <p:nvPr/>
        </p:nvSpPr>
        <p:spPr>
          <a:xfrm>
            <a:off x="548640" y="4389120"/>
            <a:ext cx="548640" cy="548640"/>
          </a:xfrm>
          <a:prstGeom prst="ellipse">
            <a:avLst/>
          </a:prstGeom>
          <a:solidFill>
            <a:srgbClr val="1B2A4A"/>
          </a:solidFill>
          <a:ln/>
        </p:spPr>
        <p:txBody>
          <a:bodyPr/>
          <a:lstStyle/>
          <a:p>
            <a:endParaRPr lang="en-US"/>
          </a:p>
        </p:txBody>
      </p:sp>
      <p:sp>
        <p:nvSpPr>
          <p:cNvPr id="15" name="Text 13"/>
          <p:cNvSpPr/>
          <p:nvPr/>
        </p:nvSpPr>
        <p:spPr>
          <a:xfrm>
            <a:off x="548640" y="438912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4"/>
          <p:cNvSpPr/>
          <p:nvPr/>
        </p:nvSpPr>
        <p:spPr>
          <a:xfrm>
            <a:off x="1371600" y="4343400"/>
            <a:ext cx="3931920" cy="640080"/>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Write down what happened</a:t>
            </a:r>
            <a:endParaRPr lang="en-US" sz="1700" dirty="0"/>
          </a:p>
        </p:txBody>
      </p:sp>
      <p:sp>
        <p:nvSpPr>
          <p:cNvPr id="17" name="Text 15"/>
          <p:cNvSpPr/>
          <p:nvPr/>
        </p:nvSpPr>
        <p:spPr>
          <a:xfrm>
            <a:off x="1371600" y="4846320"/>
            <a:ext cx="3931920" cy="822960"/>
          </a:xfrm>
          <a:prstGeom prst="rect">
            <a:avLst/>
          </a:prstGeom>
          <a:noFill/>
          <a:ln/>
        </p:spPr>
        <p:txBody>
          <a:bodyPr wrap="square" lIns="0" tIns="0" rIns="0" bIns="0" rtlCol="0" anchor="t"/>
          <a:lstStyle/>
          <a:p>
            <a:pPr marL="0" indent="0">
              <a:buNone/>
            </a:pPr>
            <a:r>
              <a:rPr lang="en-US" sz="1250" dirty="0">
                <a:solidFill>
                  <a:srgbClr val="44536B"/>
                </a:solidFill>
                <a:latin typeface="Calibri" pitchFamily="34" charset="0"/>
                <a:ea typeface="Calibri" pitchFamily="34" charset="-122"/>
                <a:cs typeface="Calibri" pitchFamily="34" charset="-120"/>
              </a:rPr>
              <a:t>Stamp the spreadsheet row, save a label on success, save a crash log on failure.</a:t>
            </a:r>
            <a:endParaRPr lang="en-US" sz="1250" dirty="0"/>
          </a:p>
        </p:txBody>
      </p:sp>
      <p:sp>
        <p:nvSpPr>
          <p:cNvPr id="18" name="Shape 16"/>
          <p:cNvSpPr/>
          <p:nvPr/>
        </p:nvSpPr>
        <p:spPr>
          <a:xfrm>
            <a:off x="6035040" y="1554480"/>
            <a:ext cx="5577840" cy="4206240"/>
          </a:xfrm>
          <a:prstGeom prst="roundRect">
            <a:avLst>
              <a:gd name="adj" fmla="val 1739"/>
            </a:avLst>
          </a:prstGeom>
          <a:solidFill>
            <a:srgbClr val="1B2A4A"/>
          </a:solidFill>
          <a:ln/>
          <a:effectLst>
            <a:outerShdw blurRad="76200" dist="25400" dir="5400000" algn="bl" rotWithShape="0">
              <a:srgbClr val="1B2A4A">
                <a:alpha val="18000"/>
              </a:srgbClr>
            </a:outerShdw>
          </a:effectLst>
        </p:spPr>
        <p:txBody>
          <a:bodyPr/>
          <a:lstStyle/>
          <a:p>
            <a:endParaRPr lang="en-US"/>
          </a:p>
        </p:txBody>
      </p:sp>
      <p:sp>
        <p:nvSpPr>
          <p:cNvPr id="19" name="Text 17"/>
          <p:cNvSpPr/>
          <p:nvPr/>
        </p:nvSpPr>
        <p:spPr>
          <a:xfrm>
            <a:off x="6400800" y="1828800"/>
            <a:ext cx="4846320" cy="274320"/>
          </a:xfrm>
          <a:prstGeom prst="rect">
            <a:avLst/>
          </a:prstGeom>
          <a:noFill/>
          <a:ln/>
        </p:spPr>
        <p:txBody>
          <a:bodyPr wrap="square" lIns="0" tIns="0" rIns="0" bIns="0" rtlCol="0" anchor="ctr"/>
          <a:lstStyle/>
          <a:p>
            <a:pPr marL="0" indent="0">
              <a:buNone/>
            </a:pPr>
            <a:r>
              <a:rPr lang="en-US" sz="1200" b="1" kern="0" spc="200" dirty="0">
                <a:solidFill>
                  <a:srgbClr val="2E9E6D"/>
                </a:solidFill>
                <a:latin typeface="Calibri" pitchFamily="34" charset="0"/>
                <a:ea typeface="Calibri" pitchFamily="34" charset="-122"/>
                <a:cs typeface="Calibri" pitchFamily="34" charset="-120"/>
              </a:rPr>
              <a:t>TWO RULES, DELIBERATE</a:t>
            </a:r>
            <a:endParaRPr lang="en-US" sz="1200" dirty="0"/>
          </a:p>
        </p:txBody>
      </p:sp>
      <p:sp>
        <p:nvSpPr>
          <p:cNvPr id="20" name="Text 18"/>
          <p:cNvSpPr/>
          <p:nvPr/>
        </p:nvSpPr>
        <p:spPr>
          <a:xfrm>
            <a:off x="6400800" y="2240280"/>
            <a:ext cx="4846320" cy="64008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A failed run gets a red timestamp — and no label.</a:t>
            </a:r>
            <a:endParaRPr lang="en-US" sz="1500" dirty="0"/>
          </a:p>
        </p:txBody>
      </p:sp>
      <p:sp>
        <p:nvSpPr>
          <p:cNvPr id="21" name="Text 19"/>
          <p:cNvSpPr/>
          <p:nvPr/>
        </p:nvSpPr>
        <p:spPr>
          <a:xfrm>
            <a:off x="6400800" y="2788920"/>
            <a:ext cx="4846320" cy="82296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A printable label for a router that didn't program is worse than none — someone could stick it on a broken unit.</a:t>
            </a:r>
            <a:endParaRPr lang="en-US" sz="1300" dirty="0"/>
          </a:p>
        </p:txBody>
      </p:sp>
      <p:sp>
        <p:nvSpPr>
          <p:cNvPr id="22" name="Text 20"/>
          <p:cNvSpPr/>
          <p:nvPr/>
        </p:nvSpPr>
        <p:spPr>
          <a:xfrm>
            <a:off x="6400800" y="3749040"/>
            <a:ext cx="4846320" cy="45720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A failed run still gets written down.</a:t>
            </a:r>
            <a:endParaRPr lang="en-US" sz="1500" dirty="0"/>
          </a:p>
        </p:txBody>
      </p:sp>
      <p:sp>
        <p:nvSpPr>
          <p:cNvPr id="23" name="Text 21"/>
          <p:cNvSpPr/>
          <p:nvPr/>
        </p:nvSpPr>
        <p:spPr>
          <a:xfrm>
            <a:off x="6400800" y="4206240"/>
            <a:ext cx="4846320" cy="82296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The red timestamp and crash-log link are how a failure gets noticed later — nothing fails silently.</a:t>
            </a:r>
            <a:endParaRPr lang="en-US" sz="1300" dirty="0"/>
          </a:p>
        </p:txBody>
      </p:sp>
      <p:sp>
        <p:nvSpPr>
          <p:cNvPr id="24" name="Text 22"/>
          <p:cNvSpPr/>
          <p:nvPr/>
        </p:nvSpPr>
        <p:spPr>
          <a:xfrm>
            <a:off x="457200" y="6473952"/>
            <a:ext cx="7315200" cy="274320"/>
          </a:xfrm>
          <a:prstGeom prst="rect">
            <a:avLst/>
          </a:prstGeom>
          <a:noFill/>
          <a:ln/>
        </p:spPr>
        <p:txBody>
          <a:bodyPr wrap="square" lIns="0" tIns="0" rIns="0" bIns="0" rtlCol="0" anchor="ctr"/>
          <a:lstStyle/>
          <a:p>
            <a:pPr marL="0" indent="0">
              <a:buNone/>
            </a:pPr>
            <a:r>
              <a:rPr lang="en-US" sz="1000" dirty="0">
                <a:solidFill>
                  <a:srgbClr val="7A879B"/>
                </a:solidFill>
                <a:latin typeface="Calibri" pitchFamily="34" charset="0"/>
                <a:ea typeface="Calibri" pitchFamily="34" charset="-122"/>
                <a:cs typeface="Calibri" pitchFamily="34" charset="-120"/>
              </a:rPr>
              <a:t>Programming Workstation — Handoff</a:t>
            </a:r>
            <a:endParaRPr lang="en-US" sz="1000" dirty="0"/>
          </a:p>
        </p:txBody>
      </p:sp>
      <p:sp>
        <p:nvSpPr>
          <p:cNvPr id="25" name="Text 23"/>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7A879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828800" y="4754880"/>
            <a:ext cx="5486400" cy="5486400"/>
          </a:xfrm>
          <a:prstGeom prst="ellipse">
            <a:avLst/>
          </a:prstGeom>
          <a:solidFill>
            <a:srgbClr val="13203A"/>
          </a:solidFill>
          <a:ln/>
        </p:spPr>
        <p:txBody>
          <a:bodyPr/>
          <a:lstStyle/>
          <a:p>
            <a:endParaRPr lang="en-US"/>
          </a:p>
        </p:txBody>
      </p:sp>
      <p:sp>
        <p:nvSpPr>
          <p:cNvPr id="3" name="Text 1"/>
          <p:cNvSpPr/>
          <p:nvPr/>
        </p:nvSpPr>
        <p:spPr>
          <a:xfrm>
            <a:off x="822960" y="2651760"/>
            <a:ext cx="7315200" cy="365760"/>
          </a:xfrm>
          <a:prstGeom prst="rect">
            <a:avLst/>
          </a:prstGeom>
          <a:noFill/>
          <a:ln/>
        </p:spPr>
        <p:txBody>
          <a:bodyPr wrap="square" lIns="0" tIns="0" rIns="0" bIns="0" rtlCol="0" anchor="ctr"/>
          <a:lstStyle/>
          <a:p>
            <a:pPr marL="0" indent="0">
              <a:buNone/>
            </a:pPr>
            <a:r>
              <a:rPr lang="en-US" sz="1400" b="1" kern="0" spc="300" dirty="0">
                <a:solidFill>
                  <a:srgbClr val="2E9E6D"/>
                </a:solidFill>
                <a:latin typeface="Calibri" pitchFamily="34" charset="0"/>
                <a:ea typeface="Calibri" pitchFamily="34" charset="-122"/>
                <a:cs typeface="Calibri" pitchFamily="34" charset="-120"/>
              </a:rPr>
              <a:t>PART 3 OF 4</a:t>
            </a:r>
            <a:endParaRPr lang="en-US" sz="1400" dirty="0"/>
          </a:p>
        </p:txBody>
      </p:sp>
      <p:sp>
        <p:nvSpPr>
          <p:cNvPr id="4" name="Text 2"/>
          <p:cNvSpPr/>
          <p:nvPr/>
        </p:nvSpPr>
        <p:spPr>
          <a:xfrm>
            <a:off x="822960" y="3017520"/>
            <a:ext cx="9601200" cy="109728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Developer Deep Dive</a:t>
            </a:r>
            <a:endParaRPr lang="en-US" sz="4000" dirty="0"/>
          </a:p>
        </p:txBody>
      </p:sp>
      <p:sp>
        <p:nvSpPr>
          <p:cNvPr id="5" name="Text 3"/>
          <p:cNvSpPr/>
          <p:nvPr/>
        </p:nvSpPr>
        <p:spPr>
          <a:xfrm>
            <a:off x="822960" y="3977640"/>
            <a:ext cx="8229600" cy="54864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Where the code lives, and how it's stitched together.</a:t>
            </a:r>
            <a:endParaRPr lang="en-US" sz="1600" dirty="0"/>
          </a:p>
        </p:txBody>
      </p:sp>
      <p:sp>
        <p:nvSpPr>
          <p:cNvPr id="6" name="Text 4"/>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8A98B5"/>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2E9E6D"/>
                </a:solidFill>
                <a:latin typeface="Calibri" pitchFamily="34" charset="0"/>
                <a:ea typeface="Calibri" pitchFamily="34" charset="-122"/>
                <a:cs typeface="Calibri" pitchFamily="34" charset="-120"/>
              </a:rPr>
              <a:t>FOR THE INCOMING ENGINEER</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marL="0" indent="0" algn="l">
              <a:buNone/>
            </a:pPr>
            <a:r>
              <a:rPr lang="en-US" sz="3200" b="1" dirty="0">
                <a:solidFill>
                  <a:srgbClr val="1B2A4A"/>
                </a:solidFill>
                <a:latin typeface="Cambria" pitchFamily="34" charset="0"/>
                <a:ea typeface="Cambria" pitchFamily="34" charset="-122"/>
                <a:cs typeface="Cambria" pitchFamily="34" charset="-120"/>
              </a:rPr>
              <a:t>Architecture map</a:t>
            </a:r>
            <a:endParaRPr lang="en-US" sz="3200" dirty="0"/>
          </a:p>
        </p:txBody>
      </p:sp>
      <p:sp>
        <p:nvSpPr>
          <p:cNvPr id="4" name="Shape 2"/>
          <p:cNvSpPr/>
          <p:nvPr/>
        </p:nvSpPr>
        <p:spPr>
          <a:xfrm>
            <a:off x="548640" y="1463040"/>
            <a:ext cx="3383280" cy="1371600"/>
          </a:xfrm>
          <a:prstGeom prst="roundRect">
            <a:avLst>
              <a:gd name="adj" fmla="val 5333"/>
            </a:avLst>
          </a:prstGeom>
          <a:solidFill>
            <a:srgbClr val="F5F7FA"/>
          </a:solidFill>
          <a:ln/>
          <a:effectLst>
            <a:outerShdw blurRad="76200" dist="25400" dir="5400000" algn="bl" rotWithShape="0">
              <a:srgbClr val="1B2A4A">
                <a:alpha val="18000"/>
              </a:srgbClr>
            </a:outerShdw>
          </a:effectLst>
        </p:spPr>
        <p:txBody>
          <a:bodyPr/>
          <a:lstStyle/>
          <a:p>
            <a:endParaRPr lang="en-US"/>
          </a:p>
        </p:txBody>
      </p:sp>
      <p:sp>
        <p:nvSpPr>
          <p:cNvPr id="5" name="Text 3"/>
          <p:cNvSpPr/>
          <p:nvPr/>
        </p:nvSpPr>
        <p:spPr>
          <a:xfrm>
            <a:off x="777240" y="1627632"/>
            <a:ext cx="2926080" cy="365760"/>
          </a:xfrm>
          <a:prstGeom prst="rect">
            <a:avLst/>
          </a:prstGeom>
          <a:noFill/>
          <a:ln/>
        </p:spPr>
        <p:txBody>
          <a:bodyPr wrap="square" lIns="0" tIns="0" rIns="0" bIns="0" rtlCol="0" anchor="ctr"/>
          <a:lstStyle/>
          <a:p>
            <a:pPr marL="0" indent="0">
              <a:buNone/>
            </a:pPr>
            <a:r>
              <a:rPr lang="en-US" sz="1500" b="1" dirty="0">
                <a:solidFill>
                  <a:srgbClr val="1B2A4A"/>
                </a:solidFill>
                <a:latin typeface="Courier New" pitchFamily="34" charset="0"/>
                <a:ea typeface="Courier New" pitchFamily="34" charset="-122"/>
                <a:cs typeface="Courier New" pitchFamily="34" charset="-120"/>
              </a:rPr>
              <a:t>pages/</a:t>
            </a:r>
            <a:endParaRPr lang="en-US" sz="1500" dirty="0"/>
          </a:p>
        </p:txBody>
      </p:sp>
      <p:sp>
        <p:nvSpPr>
          <p:cNvPr id="6" name="Text 4"/>
          <p:cNvSpPr/>
          <p:nvPr/>
        </p:nvSpPr>
        <p:spPr>
          <a:xfrm>
            <a:off x="777240" y="2029968"/>
            <a:ext cx="2926080" cy="640080"/>
          </a:xfrm>
          <a:prstGeom prst="rect">
            <a:avLst/>
          </a:prstGeom>
          <a:noFill/>
          <a:ln/>
        </p:spPr>
        <p:txBody>
          <a:bodyPr wrap="square" lIns="0" tIns="0" rIns="0" bIns="0" rtlCol="0" anchor="t"/>
          <a:lstStyle/>
          <a:p>
            <a:pPr marL="0" indent="0">
              <a:buNone/>
            </a:pPr>
            <a:r>
              <a:rPr lang="en-US" sz="1150" dirty="0">
                <a:solidFill>
                  <a:srgbClr val="44536B"/>
                </a:solidFill>
                <a:latin typeface="Calibri" pitchFamily="34" charset="0"/>
                <a:ea typeface="Calibri" pitchFamily="34" charset="-122"/>
                <a:cs typeface="Calibri" pitchFamily="34" charset="-120"/>
              </a:rPr>
              <a:t>PyQt5 UI — QStackedWidget, ProgramWorker (QThread), status_panel, global error handler</a:t>
            </a:r>
            <a:endParaRPr lang="en-US" sz="1150" dirty="0"/>
          </a:p>
        </p:txBody>
      </p:sp>
      <p:sp>
        <p:nvSpPr>
          <p:cNvPr id="7" name="Shape 5"/>
          <p:cNvSpPr/>
          <p:nvPr/>
        </p:nvSpPr>
        <p:spPr>
          <a:xfrm>
            <a:off x="4206240" y="1463040"/>
            <a:ext cx="3383280" cy="1371600"/>
          </a:xfrm>
          <a:prstGeom prst="roundRect">
            <a:avLst>
              <a:gd name="adj" fmla="val 5333"/>
            </a:avLst>
          </a:prstGeom>
          <a:solidFill>
            <a:srgbClr val="F5F7FA"/>
          </a:solidFill>
          <a:ln/>
          <a:effectLst>
            <a:outerShdw blurRad="76200" dist="25400" dir="5400000" algn="bl" rotWithShape="0">
              <a:srgbClr val="1B2A4A">
                <a:alpha val="18000"/>
              </a:srgbClr>
            </a:outerShdw>
          </a:effectLst>
        </p:spPr>
        <p:txBody>
          <a:bodyPr/>
          <a:lstStyle/>
          <a:p>
            <a:endParaRPr lang="en-US"/>
          </a:p>
        </p:txBody>
      </p:sp>
      <p:sp>
        <p:nvSpPr>
          <p:cNvPr id="8" name="Text 6"/>
          <p:cNvSpPr/>
          <p:nvPr/>
        </p:nvSpPr>
        <p:spPr>
          <a:xfrm>
            <a:off x="4434840" y="1627632"/>
            <a:ext cx="2926080" cy="365760"/>
          </a:xfrm>
          <a:prstGeom prst="rect">
            <a:avLst/>
          </a:prstGeom>
          <a:noFill/>
          <a:ln/>
        </p:spPr>
        <p:txBody>
          <a:bodyPr wrap="square" lIns="0" tIns="0" rIns="0" bIns="0" rtlCol="0" anchor="ctr"/>
          <a:lstStyle/>
          <a:p>
            <a:pPr marL="0" indent="0">
              <a:buNone/>
            </a:pPr>
            <a:r>
              <a:rPr lang="en-US" sz="1500" b="1" dirty="0">
                <a:solidFill>
                  <a:srgbClr val="1B2A4A"/>
                </a:solidFill>
                <a:latin typeface="Courier New" pitchFamily="34" charset="0"/>
                <a:ea typeface="Courier New" pitchFamily="34" charset="-122"/>
                <a:cs typeface="Courier New" pitchFamily="34" charset="-120"/>
              </a:rPr>
              <a:t>core/</a:t>
            </a:r>
            <a:endParaRPr lang="en-US" sz="1500" dirty="0"/>
          </a:p>
        </p:txBody>
      </p:sp>
      <p:sp>
        <p:nvSpPr>
          <p:cNvPr id="9" name="Text 7"/>
          <p:cNvSpPr/>
          <p:nvPr/>
        </p:nvSpPr>
        <p:spPr>
          <a:xfrm>
            <a:off x="4434840" y="2029968"/>
            <a:ext cx="2926080" cy="640080"/>
          </a:xfrm>
          <a:prstGeom prst="rect">
            <a:avLst/>
          </a:prstGeom>
          <a:noFill/>
          <a:ln/>
        </p:spPr>
        <p:txBody>
          <a:bodyPr wrap="square" lIns="0" tIns="0" rIns="0" bIns="0" rtlCol="0" anchor="t"/>
          <a:lstStyle/>
          <a:p>
            <a:pPr marL="0" indent="0">
              <a:buNone/>
            </a:pPr>
            <a:r>
              <a:rPr lang="en-US" sz="1150" dirty="0">
                <a:solidFill>
                  <a:srgbClr val="44536B"/>
                </a:solidFill>
                <a:latin typeface="Calibri" pitchFamily="34" charset="0"/>
                <a:ea typeface="Calibri" pitchFamily="34" charset="-122"/>
                <a:cs typeface="Calibri" pitchFamily="34" charset="-120"/>
              </a:rPr>
              <a:t>DeviceManager — the module-level device registry, backed by core/devices.json</a:t>
            </a:r>
            <a:endParaRPr lang="en-US" sz="1150" dirty="0"/>
          </a:p>
        </p:txBody>
      </p:sp>
      <p:sp>
        <p:nvSpPr>
          <p:cNvPr id="10" name="Shape 8"/>
          <p:cNvSpPr/>
          <p:nvPr/>
        </p:nvSpPr>
        <p:spPr>
          <a:xfrm>
            <a:off x="7863840" y="1463040"/>
            <a:ext cx="3566160" cy="1371600"/>
          </a:xfrm>
          <a:prstGeom prst="roundRect">
            <a:avLst>
              <a:gd name="adj" fmla="val 5333"/>
            </a:avLst>
          </a:prstGeom>
          <a:solidFill>
            <a:srgbClr val="F5F7FA"/>
          </a:solidFill>
          <a:ln/>
          <a:effectLst>
            <a:outerShdw blurRad="76200" dist="25400" dir="5400000" algn="bl" rotWithShape="0">
              <a:srgbClr val="1B2A4A">
                <a:alpha val="18000"/>
              </a:srgbClr>
            </a:outerShdw>
          </a:effectLst>
        </p:spPr>
        <p:txBody>
          <a:bodyPr/>
          <a:lstStyle/>
          <a:p>
            <a:endParaRPr lang="en-US"/>
          </a:p>
        </p:txBody>
      </p:sp>
      <p:sp>
        <p:nvSpPr>
          <p:cNvPr id="11" name="Text 9"/>
          <p:cNvSpPr/>
          <p:nvPr/>
        </p:nvSpPr>
        <p:spPr>
          <a:xfrm>
            <a:off x="8092440" y="1627632"/>
            <a:ext cx="3108960" cy="365760"/>
          </a:xfrm>
          <a:prstGeom prst="rect">
            <a:avLst/>
          </a:prstGeom>
          <a:noFill/>
          <a:ln/>
        </p:spPr>
        <p:txBody>
          <a:bodyPr wrap="square" lIns="0" tIns="0" rIns="0" bIns="0" rtlCol="0" anchor="ctr"/>
          <a:lstStyle/>
          <a:p>
            <a:pPr marL="0" indent="0">
              <a:buNone/>
            </a:pPr>
            <a:r>
              <a:rPr lang="en-US" sz="1500" b="1" dirty="0">
                <a:solidFill>
                  <a:srgbClr val="1B2A4A"/>
                </a:solidFill>
                <a:latin typeface="Courier New" pitchFamily="34" charset="0"/>
                <a:ea typeface="Courier New" pitchFamily="34" charset="-122"/>
                <a:cs typeface="Courier New" pitchFamily="34" charset="-120"/>
              </a:rPr>
              <a:t>devices/{NAME}/</a:t>
            </a:r>
            <a:endParaRPr lang="en-US" sz="1500" dirty="0"/>
          </a:p>
        </p:txBody>
      </p:sp>
      <p:sp>
        <p:nvSpPr>
          <p:cNvPr id="12" name="Text 10"/>
          <p:cNvSpPr/>
          <p:nvPr/>
        </p:nvSpPr>
        <p:spPr>
          <a:xfrm>
            <a:off x="8092440" y="2029968"/>
            <a:ext cx="3108960" cy="640080"/>
          </a:xfrm>
          <a:prstGeom prst="rect">
            <a:avLst/>
          </a:prstGeom>
          <a:noFill/>
          <a:ln/>
        </p:spPr>
        <p:txBody>
          <a:bodyPr wrap="square" lIns="0" tIns="0" rIns="0" bIns="0" rtlCol="0" anchor="t"/>
          <a:lstStyle/>
          <a:p>
            <a:pPr marL="0" indent="0">
              <a:buNone/>
            </a:pPr>
            <a:r>
              <a:rPr lang="en-US" sz="1150" dirty="0">
                <a:solidFill>
                  <a:srgbClr val="44536B"/>
                </a:solidFill>
                <a:latin typeface="Calibri" pitchFamily="34" charset="0"/>
                <a:ea typeface="Calibri" pitchFamily="34" charset="-122"/>
                <a:cs typeface="Calibri" pitchFamily="34" charset="-120"/>
              </a:rPr>
              <a:t>prog_dev.py (orchestration) + hardware script + config/checklist JSON — a folder, not a class</a:t>
            </a:r>
            <a:endParaRPr lang="en-US" sz="1150" dirty="0"/>
          </a:p>
        </p:txBody>
      </p:sp>
      <p:sp>
        <p:nvSpPr>
          <p:cNvPr id="13" name="Shape 11"/>
          <p:cNvSpPr/>
          <p:nvPr/>
        </p:nvSpPr>
        <p:spPr>
          <a:xfrm>
            <a:off x="548640" y="3108960"/>
            <a:ext cx="10881360" cy="1463040"/>
          </a:xfrm>
          <a:prstGeom prst="roundRect">
            <a:avLst>
              <a:gd name="adj" fmla="val 5000"/>
            </a:avLst>
          </a:prstGeom>
          <a:solidFill>
            <a:srgbClr val="1B2A4A"/>
          </a:solidFill>
          <a:ln/>
          <a:effectLst>
            <a:outerShdw blurRad="76200" dist="25400" dir="5400000" algn="bl" rotWithShape="0">
              <a:srgbClr val="1B2A4A">
                <a:alpha val="18000"/>
              </a:srgbClr>
            </a:outerShdw>
          </a:effectLst>
        </p:spPr>
        <p:txBody>
          <a:bodyPr/>
          <a:lstStyle/>
          <a:p>
            <a:endParaRPr lang="en-US"/>
          </a:p>
        </p:txBody>
      </p:sp>
      <p:sp>
        <p:nvSpPr>
          <p:cNvPr id="14" name="Text 12"/>
          <p:cNvSpPr/>
          <p:nvPr/>
        </p:nvSpPr>
        <p:spPr>
          <a:xfrm>
            <a:off x="777240" y="3273552"/>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ourier New" pitchFamily="34" charset="0"/>
                <a:ea typeface="Courier New" pitchFamily="34" charset="-122"/>
                <a:cs typeface="Courier New" pitchFamily="34" charset="-120"/>
              </a:rPr>
              <a:t>resources/utilities/</a:t>
            </a:r>
            <a:endParaRPr lang="en-US" sz="1500" dirty="0"/>
          </a:p>
        </p:txBody>
      </p:sp>
      <p:sp>
        <p:nvSpPr>
          <p:cNvPr id="15" name="Text 13"/>
          <p:cNvSpPr/>
          <p:nvPr/>
        </p:nvSpPr>
        <p:spPr>
          <a:xfrm>
            <a:off x="777240" y="3675888"/>
            <a:ext cx="10424160" cy="731520"/>
          </a:xfrm>
          <a:prstGeom prst="rect">
            <a:avLst/>
          </a:prstGeom>
          <a:noFill/>
          <a:ln/>
        </p:spPr>
        <p:txBody>
          <a:bodyPr wrap="square" lIns="0" tIns="0" rIns="0" bIns="0" rtlCol="0" anchor="t"/>
          <a:lstStyle/>
          <a:p>
            <a:pPr marL="0" indent="0">
              <a:buNone/>
            </a:pPr>
            <a:r>
              <a:rPr lang="en-US" sz="1150" dirty="0">
                <a:solidFill>
                  <a:srgbClr val="CADCFC"/>
                </a:solidFill>
                <a:latin typeface="Calibri" pitchFamily="34" charset="0"/>
                <a:ea typeface="Calibri" pitchFamily="34" charset="-122"/>
                <a:cs typeface="Calibri" pitchFamily="34" charset="-120"/>
              </a:rPr>
              <a:t>excel_utils · status · reporting · ssh_session · wait_utils · templating · device_config · mac_utils · app_paths — the shared, tested layer both devices build on</a:t>
            </a:r>
            <a:endParaRPr lang="en-US" sz="1150" dirty="0"/>
          </a:p>
        </p:txBody>
      </p:sp>
      <p:sp>
        <p:nvSpPr>
          <p:cNvPr id="16" name="Text 14"/>
          <p:cNvSpPr/>
          <p:nvPr/>
        </p:nvSpPr>
        <p:spPr>
          <a:xfrm>
            <a:off x="2240280" y="2788920"/>
            <a:ext cx="365760" cy="320040"/>
          </a:xfrm>
          <a:prstGeom prst="rect">
            <a:avLst/>
          </a:prstGeom>
          <a:noFill/>
          <a:ln/>
        </p:spPr>
        <p:txBody>
          <a:bodyPr wrap="square" lIns="0" tIns="0" rIns="0" bIns="0" rtlCol="0" anchor="ctr"/>
          <a:lstStyle/>
          <a:p>
            <a:pPr marL="0" indent="0" algn="ctr">
              <a:buNone/>
            </a:pPr>
            <a:r>
              <a:rPr lang="en-US" sz="1600" dirty="0">
                <a:solidFill>
                  <a:srgbClr val="7A879B"/>
                </a:solidFill>
              </a:rPr>
              <a:t>↓</a:t>
            </a:r>
            <a:endParaRPr lang="en-US" sz="1600" dirty="0"/>
          </a:p>
        </p:txBody>
      </p:sp>
      <p:sp>
        <p:nvSpPr>
          <p:cNvPr id="17" name="Text 15"/>
          <p:cNvSpPr/>
          <p:nvPr/>
        </p:nvSpPr>
        <p:spPr>
          <a:xfrm>
            <a:off x="5897880" y="2788920"/>
            <a:ext cx="365760" cy="320040"/>
          </a:xfrm>
          <a:prstGeom prst="rect">
            <a:avLst/>
          </a:prstGeom>
          <a:noFill/>
          <a:ln/>
        </p:spPr>
        <p:txBody>
          <a:bodyPr wrap="square" lIns="0" tIns="0" rIns="0" bIns="0" rtlCol="0" anchor="ctr"/>
          <a:lstStyle/>
          <a:p>
            <a:pPr marL="0" indent="0" algn="ctr">
              <a:buNone/>
            </a:pPr>
            <a:r>
              <a:rPr lang="en-US" sz="1600" dirty="0">
                <a:solidFill>
                  <a:srgbClr val="7A879B"/>
                </a:solidFill>
              </a:rPr>
              <a:t>↓</a:t>
            </a:r>
            <a:endParaRPr lang="en-US" sz="1600" dirty="0"/>
          </a:p>
        </p:txBody>
      </p:sp>
      <p:sp>
        <p:nvSpPr>
          <p:cNvPr id="18" name="Text 16"/>
          <p:cNvSpPr/>
          <p:nvPr/>
        </p:nvSpPr>
        <p:spPr>
          <a:xfrm>
            <a:off x="9646920" y="2788920"/>
            <a:ext cx="365760" cy="320040"/>
          </a:xfrm>
          <a:prstGeom prst="rect">
            <a:avLst/>
          </a:prstGeom>
          <a:noFill/>
          <a:ln/>
        </p:spPr>
        <p:txBody>
          <a:bodyPr wrap="square" lIns="0" tIns="0" rIns="0" bIns="0" rtlCol="0" anchor="ctr"/>
          <a:lstStyle/>
          <a:p>
            <a:pPr marL="0" indent="0" algn="ctr">
              <a:buNone/>
            </a:pPr>
            <a:r>
              <a:rPr lang="en-US" sz="1600" dirty="0">
                <a:solidFill>
                  <a:srgbClr val="7A879B"/>
                </a:solidFill>
              </a:rPr>
              <a:t>↓</a:t>
            </a:r>
            <a:endParaRPr lang="en-US" sz="1600" dirty="0"/>
          </a:p>
        </p:txBody>
      </p:sp>
      <p:sp>
        <p:nvSpPr>
          <p:cNvPr id="19" name="Text 17"/>
          <p:cNvSpPr/>
          <p:nvPr/>
        </p:nvSpPr>
        <p:spPr>
          <a:xfrm>
            <a:off x="548640" y="4800600"/>
            <a:ext cx="10881360" cy="548640"/>
          </a:xfrm>
          <a:prstGeom prst="rect">
            <a:avLst/>
          </a:prstGeom>
          <a:noFill/>
          <a:ln/>
        </p:spPr>
        <p:txBody>
          <a:bodyPr wrap="square" lIns="0" tIns="0" rIns="0" bIns="0" rtlCol="0" anchor="ctr"/>
          <a:lstStyle/>
          <a:p>
            <a:pPr marL="0" indent="0">
              <a:buNone/>
            </a:pPr>
            <a:r>
              <a:rPr lang="en-US" sz="1300" i="1" dirty="0">
                <a:solidFill>
                  <a:srgbClr val="7A879B"/>
                </a:solidFill>
                <a:latin typeface="Calibri" pitchFamily="34" charset="0"/>
                <a:ea typeface="Calibri" pitchFamily="34" charset="-122"/>
                <a:cs typeface="Calibri" pitchFamily="34" charset="-120"/>
              </a:rPr>
              <a:t>Devices are folders discovered lazily through manager.names() / app_paths.registered_devices() — nothing is scanned or cached at import time.</a:t>
            </a:r>
            <a:endParaRPr lang="en-US" sz="1300" dirty="0"/>
          </a:p>
        </p:txBody>
      </p:sp>
      <p:sp>
        <p:nvSpPr>
          <p:cNvPr id="20" name="Text 18"/>
          <p:cNvSpPr/>
          <p:nvPr/>
        </p:nvSpPr>
        <p:spPr>
          <a:xfrm>
            <a:off x="457200" y="6473952"/>
            <a:ext cx="7315200" cy="274320"/>
          </a:xfrm>
          <a:prstGeom prst="rect">
            <a:avLst/>
          </a:prstGeom>
          <a:noFill/>
          <a:ln/>
        </p:spPr>
        <p:txBody>
          <a:bodyPr wrap="square" lIns="0" tIns="0" rIns="0" bIns="0" rtlCol="0" anchor="ctr"/>
          <a:lstStyle/>
          <a:p>
            <a:pPr marL="0" indent="0">
              <a:buNone/>
            </a:pPr>
            <a:r>
              <a:rPr lang="en-US" sz="1000" dirty="0">
                <a:solidFill>
                  <a:srgbClr val="7A879B"/>
                </a:solidFill>
                <a:latin typeface="Calibri" pitchFamily="34" charset="0"/>
                <a:ea typeface="Calibri" pitchFamily="34" charset="-122"/>
                <a:cs typeface="Calibri" pitchFamily="34" charset="-120"/>
              </a:rPr>
              <a:t>Programming Workstation — Handoff</a:t>
            </a:r>
            <a:endParaRPr lang="en-US" sz="1000" dirty="0"/>
          </a:p>
        </p:txBody>
      </p:sp>
      <p:sp>
        <p:nvSpPr>
          <p:cNvPr id="21" name="Text 19"/>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7A879B"/>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2E9E6D"/>
                </a:solidFill>
                <a:latin typeface="Calibri" pitchFamily="34" charset="0"/>
                <a:ea typeface="Calibri" pitchFamily="34" charset="-122"/>
                <a:cs typeface="Calibri" pitchFamily="34" charset="-120"/>
              </a:rPr>
              <a:t>THE PART THAT SURPRISES PEOPLE</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marL="0" indent="0" algn="l">
              <a:buNone/>
            </a:pPr>
            <a:r>
              <a:rPr lang="en-US" sz="3200" b="1" dirty="0">
                <a:solidFill>
                  <a:srgbClr val="1B2A4A"/>
                </a:solidFill>
                <a:latin typeface="Cambria" pitchFamily="34" charset="0"/>
                <a:ea typeface="Cambria" pitchFamily="34" charset="-122"/>
                <a:cs typeface="Cambria" pitchFamily="34" charset="-120"/>
              </a:rPr>
              <a:t>prog_dev.py is never imported — it's exec()'d</a:t>
            </a:r>
            <a:endParaRPr lang="en-US" sz="3200" dirty="0"/>
          </a:p>
        </p:txBody>
      </p:sp>
      <p:sp>
        <p:nvSpPr>
          <p:cNvPr id="4" name="Text 2"/>
          <p:cNvSpPr/>
          <p:nvPr/>
        </p:nvSpPr>
        <p:spPr>
          <a:xfrm>
            <a:off x="548640" y="1280160"/>
            <a:ext cx="10881360" cy="822960"/>
          </a:xfrm>
          <a:prstGeom prst="rect">
            <a:avLst/>
          </a:prstGeom>
          <a:noFill/>
          <a:ln/>
        </p:spPr>
        <p:txBody>
          <a:bodyPr wrap="square" lIns="0" tIns="0" rIns="0" bIns="0" rtlCol="0" anchor="ctr"/>
          <a:lstStyle/>
          <a:p>
            <a:pPr marL="0" indent="0">
              <a:buNone/>
            </a:pPr>
            <a:r>
              <a:rPr lang="en-US" sz="1400" dirty="0">
                <a:solidFill>
                  <a:srgbClr val="44536B"/>
                </a:solidFill>
                <a:latin typeface="Calibri" pitchFamily="34" charset="0"/>
                <a:ea typeface="Calibri" pitchFamily="34" charset="-122"/>
                <a:cs typeface="Calibri" pitchFamily="34" charset="-120"/>
              </a:rPr>
              <a:t>pages/program_page.py reads devices/{device}/prog_dev.py as text and runs exec(code, namespace) on a background QThread, then calls run_main_script(airport, gate, temp_pass, device) from that namespace.</a:t>
            </a:r>
            <a:endParaRPr lang="en-US" sz="1400" dirty="0"/>
          </a:p>
        </p:txBody>
      </p:sp>
      <p:sp>
        <p:nvSpPr>
          <p:cNvPr id="5" name="Shape 3"/>
          <p:cNvSpPr/>
          <p:nvPr/>
        </p:nvSpPr>
        <p:spPr>
          <a:xfrm>
            <a:off x="548640" y="2286000"/>
            <a:ext cx="384048" cy="384048"/>
          </a:xfrm>
          <a:prstGeom prst="ellipse">
            <a:avLst/>
          </a:prstGeom>
          <a:solidFill>
            <a:srgbClr val="C0443A"/>
          </a:solidFill>
          <a:ln/>
        </p:spPr>
        <p:txBody>
          <a:bodyPr/>
          <a:lstStyle/>
          <a:p>
            <a:endParaRPr lang="en-US"/>
          </a:p>
        </p:txBody>
      </p:sp>
      <p:sp>
        <p:nvSpPr>
          <p:cNvPr id="6" name="Text 4"/>
          <p:cNvSpPr/>
          <p:nvPr/>
        </p:nvSpPr>
        <p:spPr>
          <a:xfrm>
            <a:off x="548640" y="228600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097280" y="2240280"/>
            <a:ext cx="3291840" cy="457200"/>
          </a:xfrm>
          <a:prstGeom prst="rect">
            <a:avLst/>
          </a:prstGeom>
          <a:noFill/>
          <a:ln/>
        </p:spPr>
        <p:txBody>
          <a:bodyPr wrap="square" lIns="0" tIns="0" rIns="0" bIns="0" rtlCol="0" anchor="t"/>
          <a:lstStyle/>
          <a:p>
            <a:pPr marL="0" indent="0">
              <a:buNone/>
            </a:pPr>
            <a:r>
              <a:rPr lang="en-US" sz="1350" b="1" dirty="0">
                <a:solidFill>
                  <a:srgbClr val="1B2A4A"/>
                </a:solidFill>
                <a:latin typeface="Cambria" pitchFamily="34" charset="0"/>
                <a:ea typeface="Cambria" pitchFamily="34" charset="-122"/>
                <a:cs typeface="Cambria" pitchFamily="34" charset="-120"/>
              </a:rPr>
              <a:t>No reliable __file__</a:t>
            </a:r>
            <a:endParaRPr lang="en-US" sz="1350" dirty="0"/>
          </a:p>
        </p:txBody>
      </p:sp>
      <p:sp>
        <p:nvSpPr>
          <p:cNvPr id="8" name="Text 6"/>
          <p:cNvSpPr/>
          <p:nvPr/>
        </p:nvSpPr>
        <p:spPr>
          <a:xfrm>
            <a:off x="4526280" y="2212848"/>
            <a:ext cx="6903720" cy="822960"/>
          </a:xfrm>
          <a:prstGeom prst="rect">
            <a:avLst/>
          </a:prstGeom>
          <a:noFill/>
          <a:ln/>
        </p:spPr>
        <p:txBody>
          <a:bodyPr wrap="square" lIns="0" tIns="0" rIns="0" bIns="0" rtlCol="0" anchor="t"/>
          <a:lstStyle/>
          <a:p>
            <a:pPr marL="0" indent="0">
              <a:buNone/>
            </a:pPr>
            <a:r>
              <a:rPr lang="en-US" sz="1200" dirty="0">
                <a:solidFill>
                  <a:srgbClr val="44536B"/>
                </a:solidFill>
                <a:latin typeface="Calibri" pitchFamily="34" charset="0"/>
                <a:ea typeface="Calibri" pitchFamily="34" charset="-122"/>
                <a:cs typeface="Calibri" pitchFamily="34" charset="-120"/>
              </a:rPr>
              <a:t>Resolve every path from app_paths.device_dir(device) or app_root() — a relative path resolves against the app's working directory, not the device folder.</a:t>
            </a:r>
            <a:endParaRPr lang="en-US" sz="1200" dirty="0"/>
          </a:p>
        </p:txBody>
      </p:sp>
      <p:sp>
        <p:nvSpPr>
          <p:cNvPr id="9" name="Shape 7"/>
          <p:cNvSpPr/>
          <p:nvPr/>
        </p:nvSpPr>
        <p:spPr>
          <a:xfrm>
            <a:off x="548640" y="3200400"/>
            <a:ext cx="384048" cy="384048"/>
          </a:xfrm>
          <a:prstGeom prst="ellipse">
            <a:avLst/>
          </a:prstGeom>
          <a:solidFill>
            <a:srgbClr val="C0443A"/>
          </a:solidFill>
          <a:ln/>
        </p:spPr>
        <p:txBody>
          <a:bodyPr/>
          <a:lstStyle/>
          <a:p>
            <a:endParaRPr lang="en-US"/>
          </a:p>
        </p:txBody>
      </p:sp>
      <p:sp>
        <p:nvSpPr>
          <p:cNvPr id="10" name="Text 8"/>
          <p:cNvSpPr/>
          <p:nvPr/>
        </p:nvSpPr>
        <p:spPr>
          <a:xfrm>
            <a:off x="548640" y="320040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1" name="Text 9"/>
          <p:cNvSpPr/>
          <p:nvPr/>
        </p:nvSpPr>
        <p:spPr>
          <a:xfrm>
            <a:off x="1097280" y="3154680"/>
            <a:ext cx="3291840" cy="457200"/>
          </a:xfrm>
          <a:prstGeom prst="rect">
            <a:avLst/>
          </a:prstGeom>
          <a:noFill/>
          <a:ln/>
        </p:spPr>
        <p:txBody>
          <a:bodyPr wrap="square" lIns="0" tIns="0" rIns="0" bIns="0" rtlCol="0" anchor="t"/>
          <a:lstStyle/>
          <a:p>
            <a:pPr marL="0" indent="0">
              <a:buNone/>
            </a:pPr>
            <a:r>
              <a:rPr lang="en-US" sz="1350" b="1" dirty="0">
                <a:solidFill>
                  <a:srgbClr val="1B2A4A"/>
                </a:solidFill>
                <a:latin typeface="Cambria" pitchFamily="34" charset="0"/>
                <a:ea typeface="Cambria" pitchFamily="34" charset="-122"/>
                <a:cs typeface="Cambria" pitchFamily="34" charset="-120"/>
              </a:rPr>
              <a:t>Module-level code runs on press</a:t>
            </a:r>
            <a:endParaRPr lang="en-US" sz="1350" dirty="0"/>
          </a:p>
        </p:txBody>
      </p:sp>
      <p:sp>
        <p:nvSpPr>
          <p:cNvPr id="12" name="Text 10"/>
          <p:cNvSpPr/>
          <p:nvPr/>
        </p:nvSpPr>
        <p:spPr>
          <a:xfrm>
            <a:off x="4526280" y="3127248"/>
            <a:ext cx="6903720" cy="822960"/>
          </a:xfrm>
          <a:prstGeom prst="rect">
            <a:avLst/>
          </a:prstGeom>
          <a:noFill/>
          <a:ln/>
        </p:spPr>
        <p:txBody>
          <a:bodyPr wrap="square" lIns="0" tIns="0" rIns="0" bIns="0" rtlCol="0" anchor="t"/>
          <a:lstStyle/>
          <a:p>
            <a:pPr marL="0" indent="0">
              <a:buNone/>
            </a:pPr>
            <a:r>
              <a:rPr lang="en-US" sz="1200" dirty="0">
                <a:solidFill>
                  <a:srgbClr val="44536B"/>
                </a:solidFill>
                <a:latin typeface="Calibri" pitchFamily="34" charset="0"/>
                <a:ea typeface="Calibri" pitchFamily="34" charset="-122"/>
                <a:cs typeface="Calibri" pitchFamily="34" charset="-120"/>
              </a:rPr>
              <a:t>Before run_main_script is even called. Keep the top of the file to imports and constants only.</a:t>
            </a:r>
            <a:endParaRPr lang="en-US" sz="1200" dirty="0"/>
          </a:p>
        </p:txBody>
      </p:sp>
      <p:sp>
        <p:nvSpPr>
          <p:cNvPr id="13" name="Shape 11"/>
          <p:cNvSpPr/>
          <p:nvPr/>
        </p:nvSpPr>
        <p:spPr>
          <a:xfrm>
            <a:off x="548640" y="4114800"/>
            <a:ext cx="384048" cy="384048"/>
          </a:xfrm>
          <a:prstGeom prst="ellipse">
            <a:avLst/>
          </a:prstGeom>
          <a:solidFill>
            <a:srgbClr val="C0443A"/>
          </a:solidFill>
          <a:ln/>
        </p:spPr>
        <p:txBody>
          <a:bodyPr/>
          <a:lstStyle/>
          <a:p>
            <a:endParaRPr lang="en-US"/>
          </a:p>
        </p:txBody>
      </p:sp>
      <p:sp>
        <p:nvSpPr>
          <p:cNvPr id="14" name="Text 12"/>
          <p:cNvSpPr/>
          <p:nvPr/>
        </p:nvSpPr>
        <p:spPr>
          <a:xfrm>
            <a:off x="548640" y="411480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5" name="Text 13"/>
          <p:cNvSpPr/>
          <p:nvPr/>
        </p:nvSpPr>
        <p:spPr>
          <a:xfrm>
            <a:off x="1097280" y="4069080"/>
            <a:ext cx="3291840" cy="457200"/>
          </a:xfrm>
          <a:prstGeom prst="rect">
            <a:avLst/>
          </a:prstGeom>
          <a:noFill/>
          <a:ln/>
        </p:spPr>
        <p:txBody>
          <a:bodyPr wrap="square" lIns="0" tIns="0" rIns="0" bIns="0" rtlCol="0" anchor="t"/>
          <a:lstStyle/>
          <a:p>
            <a:pPr marL="0" indent="0">
              <a:buNone/>
            </a:pPr>
            <a:r>
              <a:rPr lang="en-US" sz="1350" b="1" dirty="0">
                <a:solidFill>
                  <a:srgbClr val="1B2A4A"/>
                </a:solidFill>
                <a:latin typeface="Cambria" pitchFamily="34" charset="0"/>
                <a:ea typeface="Cambria" pitchFamily="34" charset="-122"/>
                <a:cs typeface="Cambria" pitchFamily="34" charset="-120"/>
              </a:rPr>
              <a:t>progress_callback is injected, not passed</a:t>
            </a:r>
            <a:endParaRPr lang="en-US" sz="1350" dirty="0"/>
          </a:p>
        </p:txBody>
      </p:sp>
      <p:sp>
        <p:nvSpPr>
          <p:cNvPr id="16" name="Text 14"/>
          <p:cNvSpPr/>
          <p:nvPr/>
        </p:nvSpPr>
        <p:spPr>
          <a:xfrm>
            <a:off x="4526280" y="4041648"/>
            <a:ext cx="6903720" cy="822960"/>
          </a:xfrm>
          <a:prstGeom prst="rect">
            <a:avLst/>
          </a:prstGeom>
          <a:noFill/>
          <a:ln/>
        </p:spPr>
        <p:txBody>
          <a:bodyPr wrap="square" lIns="0" tIns="0" rIns="0" bIns="0" rtlCol="0" anchor="t"/>
          <a:lstStyle/>
          <a:p>
            <a:pPr marL="0" indent="0">
              <a:buNone/>
            </a:pPr>
            <a:r>
              <a:rPr lang="en-US" sz="1200" dirty="0">
                <a:solidFill>
                  <a:srgbClr val="44536B"/>
                </a:solidFill>
                <a:latin typeface="Calibri" pitchFamily="34" charset="0"/>
                <a:ea typeface="Calibri" pitchFamily="34" charset="-122"/>
                <a:cs typeface="Calibri" pitchFamily="34" charset="-120"/>
              </a:rPr>
              <a:t>Reach it with globals().get("progress_callback") and wrap it in status.forwarder(...), which tolerates its absence.</a:t>
            </a:r>
            <a:endParaRPr lang="en-US" sz="1200" dirty="0"/>
          </a:p>
        </p:txBody>
      </p:sp>
      <p:sp>
        <p:nvSpPr>
          <p:cNvPr id="17" name="Shape 15"/>
          <p:cNvSpPr/>
          <p:nvPr/>
        </p:nvSpPr>
        <p:spPr>
          <a:xfrm>
            <a:off x="548640" y="5029200"/>
            <a:ext cx="384048" cy="384048"/>
          </a:xfrm>
          <a:prstGeom prst="ellipse">
            <a:avLst/>
          </a:prstGeom>
          <a:solidFill>
            <a:srgbClr val="C0443A"/>
          </a:solidFill>
          <a:ln/>
        </p:spPr>
        <p:txBody>
          <a:bodyPr/>
          <a:lstStyle/>
          <a:p>
            <a:endParaRPr lang="en-US"/>
          </a:p>
        </p:txBody>
      </p:sp>
      <p:sp>
        <p:nvSpPr>
          <p:cNvPr id="18" name="Text 16"/>
          <p:cNvSpPr/>
          <p:nvPr/>
        </p:nvSpPr>
        <p:spPr>
          <a:xfrm>
            <a:off x="548640" y="502920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9" name="Text 17"/>
          <p:cNvSpPr/>
          <p:nvPr/>
        </p:nvSpPr>
        <p:spPr>
          <a:xfrm>
            <a:off x="1097280" y="4983480"/>
            <a:ext cx="3291840" cy="457200"/>
          </a:xfrm>
          <a:prstGeom prst="rect">
            <a:avLst/>
          </a:prstGeom>
          <a:noFill/>
          <a:ln/>
        </p:spPr>
        <p:txBody>
          <a:bodyPr wrap="square" lIns="0" tIns="0" rIns="0" bIns="0" rtlCol="0" anchor="t"/>
          <a:lstStyle/>
          <a:p>
            <a:pPr marL="0" indent="0">
              <a:buNone/>
            </a:pPr>
            <a:r>
              <a:rPr lang="en-US" sz="1350" b="1" dirty="0">
                <a:solidFill>
                  <a:srgbClr val="1B2A4A"/>
                </a:solidFill>
                <a:latin typeface="Cambria" pitchFamily="34" charset="0"/>
                <a:ea typeface="Cambria" pitchFamily="34" charset="-122"/>
                <a:cs typeface="Cambria" pitchFamily="34" charset="-120"/>
              </a:rPr>
              <a:t>sys.exit() is treated as success</a:t>
            </a:r>
            <a:endParaRPr lang="en-US" sz="1350" dirty="0"/>
          </a:p>
        </p:txBody>
      </p:sp>
      <p:sp>
        <p:nvSpPr>
          <p:cNvPr id="20" name="Text 18"/>
          <p:cNvSpPr/>
          <p:nvPr/>
        </p:nvSpPr>
        <p:spPr>
          <a:xfrm>
            <a:off x="4526280" y="4956048"/>
            <a:ext cx="6903720" cy="822960"/>
          </a:xfrm>
          <a:prstGeom prst="rect">
            <a:avLst/>
          </a:prstGeom>
          <a:noFill/>
          <a:ln/>
        </p:spPr>
        <p:txBody>
          <a:bodyPr wrap="square" lIns="0" tIns="0" rIns="0" bIns="0" rtlCol="0" anchor="t"/>
          <a:lstStyle/>
          <a:p>
            <a:pPr marL="0" indent="0">
              <a:buNone/>
            </a:pPr>
            <a:r>
              <a:rPr lang="en-US" sz="1200" dirty="0">
                <a:solidFill>
                  <a:srgbClr val="44536B"/>
                </a:solidFill>
                <a:latin typeface="Calibri" pitchFamily="34" charset="0"/>
                <a:ea typeface="Calibri" pitchFamily="34" charset="-122"/>
                <a:cs typeface="Calibri" pitchFamily="34" charset="-120"/>
              </a:rPr>
              <a:t>ProgramWorker.run catches SystemExit and emits finished_ok. Signal failure by raising — the worker turns any other exception into the failed signal, the log, and a dialog.</a:t>
            </a:r>
            <a:endParaRPr lang="en-US" sz="1200" dirty="0"/>
          </a:p>
        </p:txBody>
      </p:sp>
      <p:sp>
        <p:nvSpPr>
          <p:cNvPr id="21" name="Text 19"/>
          <p:cNvSpPr/>
          <p:nvPr/>
        </p:nvSpPr>
        <p:spPr>
          <a:xfrm>
            <a:off x="457200" y="6473952"/>
            <a:ext cx="7315200" cy="274320"/>
          </a:xfrm>
          <a:prstGeom prst="rect">
            <a:avLst/>
          </a:prstGeom>
          <a:noFill/>
          <a:ln/>
        </p:spPr>
        <p:txBody>
          <a:bodyPr wrap="square" lIns="0" tIns="0" rIns="0" bIns="0" rtlCol="0" anchor="ctr"/>
          <a:lstStyle/>
          <a:p>
            <a:pPr marL="0" indent="0">
              <a:buNone/>
            </a:pPr>
            <a:r>
              <a:rPr lang="en-US" sz="1000" dirty="0">
                <a:solidFill>
                  <a:srgbClr val="7A879B"/>
                </a:solidFill>
                <a:latin typeface="Calibri" pitchFamily="34" charset="0"/>
                <a:ea typeface="Calibri" pitchFamily="34" charset="-122"/>
                <a:cs typeface="Calibri" pitchFamily="34" charset="-120"/>
              </a:rPr>
              <a:t>Programming Workstation — Handoff · pages/program_page.py</a:t>
            </a:r>
            <a:endParaRPr lang="en-US" sz="1000" dirty="0"/>
          </a:p>
        </p:txBody>
      </p:sp>
      <p:sp>
        <p:nvSpPr>
          <p:cNvPr id="22" name="Text 20"/>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7A879B"/>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2E9E6D"/>
                </a:solidFill>
                <a:latin typeface="Calibri" pitchFamily="34" charset="0"/>
                <a:ea typeface="Calibri" pitchFamily="34" charset="-122"/>
                <a:cs typeface="Calibri" pitchFamily="34" charset="-120"/>
              </a:rPr>
              <a:t>RESOURCES/UTILITIES/</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marL="0" indent="0" algn="l">
              <a:buNone/>
            </a:pPr>
            <a:r>
              <a:rPr lang="en-US" sz="3200" b="1" dirty="0">
                <a:solidFill>
                  <a:srgbClr val="1B2A4A"/>
                </a:solidFill>
                <a:latin typeface="Cambria" pitchFamily="34" charset="0"/>
                <a:ea typeface="Cambria" pitchFamily="34" charset="-122"/>
                <a:cs typeface="Cambria" pitchFamily="34" charset="-120"/>
              </a:rPr>
              <a:t>The shared layer — covered by 83 tests</a:t>
            </a:r>
            <a:endParaRPr lang="en-US" sz="3200" dirty="0"/>
          </a:p>
        </p:txBody>
      </p:sp>
      <p:sp>
        <p:nvSpPr>
          <p:cNvPr id="4" name="Shape 2"/>
          <p:cNvSpPr/>
          <p:nvPr/>
        </p:nvSpPr>
        <p:spPr>
          <a:xfrm>
            <a:off x="548640" y="1417320"/>
            <a:ext cx="2606040" cy="1417320"/>
          </a:xfrm>
          <a:prstGeom prst="roundRect">
            <a:avLst>
              <a:gd name="adj" fmla="val 5161"/>
            </a:avLst>
          </a:prstGeom>
          <a:solidFill>
            <a:srgbClr val="F5F7FA"/>
          </a:solidFill>
          <a:ln/>
          <a:effectLst>
            <a:outerShdw blurRad="76200" dist="25400" dir="5400000" algn="bl" rotWithShape="0">
              <a:srgbClr val="1B2A4A">
                <a:alpha val="18000"/>
              </a:srgbClr>
            </a:outerShdw>
          </a:effectLst>
        </p:spPr>
        <p:txBody>
          <a:bodyPr/>
          <a:lstStyle/>
          <a:p>
            <a:endParaRPr lang="en-US"/>
          </a:p>
        </p:txBody>
      </p:sp>
      <p:sp>
        <p:nvSpPr>
          <p:cNvPr id="5" name="Text 3"/>
          <p:cNvSpPr/>
          <p:nvPr/>
        </p:nvSpPr>
        <p:spPr>
          <a:xfrm>
            <a:off x="713232" y="1554480"/>
            <a:ext cx="2276856" cy="365760"/>
          </a:xfrm>
          <a:prstGeom prst="rect">
            <a:avLst/>
          </a:prstGeom>
          <a:noFill/>
          <a:ln/>
        </p:spPr>
        <p:txBody>
          <a:bodyPr wrap="square" lIns="0" tIns="0" rIns="0" bIns="0" rtlCol="0" anchor="ctr"/>
          <a:lstStyle/>
          <a:p>
            <a:pPr marL="0" indent="0">
              <a:buNone/>
            </a:pPr>
            <a:r>
              <a:rPr lang="en-US" sz="1250" b="1" dirty="0">
                <a:solidFill>
                  <a:srgbClr val="1B2A4A"/>
                </a:solidFill>
                <a:latin typeface="Courier New" pitchFamily="34" charset="0"/>
                <a:ea typeface="Courier New" pitchFamily="34" charset="-122"/>
                <a:cs typeface="Courier New" pitchFamily="34" charset="-120"/>
              </a:rPr>
              <a:t>excel_utils.py</a:t>
            </a:r>
            <a:endParaRPr lang="en-US" sz="1250" dirty="0"/>
          </a:p>
        </p:txBody>
      </p:sp>
      <p:sp>
        <p:nvSpPr>
          <p:cNvPr id="6" name="Text 4"/>
          <p:cNvSpPr/>
          <p:nvPr/>
        </p:nvSpPr>
        <p:spPr>
          <a:xfrm>
            <a:off x="713232" y="1920240"/>
            <a:ext cx="2276856" cy="777240"/>
          </a:xfrm>
          <a:prstGeom prst="rect">
            <a:avLst/>
          </a:prstGeom>
          <a:noFill/>
          <a:ln/>
        </p:spPr>
        <p:txBody>
          <a:bodyPr wrap="square" lIns="0" tIns="0" rIns="0" bIns="0" rtlCol="0" anchor="t"/>
          <a:lstStyle/>
          <a:p>
            <a:pPr marL="0" indent="0">
              <a:buNone/>
            </a:pPr>
            <a:r>
              <a:rPr lang="en-US" sz="1050" dirty="0">
                <a:solidFill>
                  <a:srgbClr val="44536B"/>
                </a:solidFill>
                <a:latin typeface="Calibri" pitchFamily="34" charset="0"/>
                <a:ea typeface="Calibri" pitchFamily="34" charset="-122"/>
                <a:cs typeface="Calibri" pitchFamily="34" charset="-120"/>
              </a:rPr>
              <a:t>Header-name column resolution. lookup_excel() raises rather than returning blanks.</a:t>
            </a:r>
            <a:endParaRPr lang="en-US" sz="1050" dirty="0"/>
          </a:p>
        </p:txBody>
      </p:sp>
      <p:sp>
        <p:nvSpPr>
          <p:cNvPr id="7" name="Shape 5"/>
          <p:cNvSpPr/>
          <p:nvPr/>
        </p:nvSpPr>
        <p:spPr>
          <a:xfrm>
            <a:off x="3319272" y="1417320"/>
            <a:ext cx="2606040" cy="1417320"/>
          </a:xfrm>
          <a:prstGeom prst="roundRect">
            <a:avLst>
              <a:gd name="adj" fmla="val 5161"/>
            </a:avLst>
          </a:prstGeom>
          <a:solidFill>
            <a:srgbClr val="F5F7FA"/>
          </a:solidFill>
          <a:ln/>
          <a:effectLst>
            <a:outerShdw blurRad="76200" dist="25400" dir="5400000" algn="bl" rotWithShape="0">
              <a:srgbClr val="1B2A4A">
                <a:alpha val="18000"/>
              </a:srgbClr>
            </a:outerShdw>
          </a:effectLst>
        </p:spPr>
        <p:txBody>
          <a:bodyPr/>
          <a:lstStyle/>
          <a:p>
            <a:endParaRPr lang="en-US"/>
          </a:p>
        </p:txBody>
      </p:sp>
      <p:sp>
        <p:nvSpPr>
          <p:cNvPr id="8" name="Text 6"/>
          <p:cNvSpPr/>
          <p:nvPr/>
        </p:nvSpPr>
        <p:spPr>
          <a:xfrm>
            <a:off x="3483864" y="1554480"/>
            <a:ext cx="2276856" cy="365760"/>
          </a:xfrm>
          <a:prstGeom prst="rect">
            <a:avLst/>
          </a:prstGeom>
          <a:noFill/>
          <a:ln/>
        </p:spPr>
        <p:txBody>
          <a:bodyPr wrap="square" lIns="0" tIns="0" rIns="0" bIns="0" rtlCol="0" anchor="ctr"/>
          <a:lstStyle/>
          <a:p>
            <a:pPr marL="0" indent="0">
              <a:buNone/>
            </a:pPr>
            <a:r>
              <a:rPr lang="en-US" sz="1250" b="1" dirty="0">
                <a:solidFill>
                  <a:srgbClr val="1B2A4A"/>
                </a:solidFill>
                <a:latin typeface="Courier New" pitchFamily="34" charset="0"/>
                <a:ea typeface="Courier New" pitchFamily="34" charset="-122"/>
                <a:cs typeface="Courier New" pitchFamily="34" charset="-120"/>
              </a:rPr>
              <a:t>status.py</a:t>
            </a:r>
            <a:endParaRPr lang="en-US" sz="1250" dirty="0"/>
          </a:p>
        </p:txBody>
      </p:sp>
      <p:sp>
        <p:nvSpPr>
          <p:cNvPr id="9" name="Text 7"/>
          <p:cNvSpPr/>
          <p:nvPr/>
        </p:nvSpPr>
        <p:spPr>
          <a:xfrm>
            <a:off x="3483864" y="1920240"/>
            <a:ext cx="2276856" cy="777240"/>
          </a:xfrm>
          <a:prstGeom prst="rect">
            <a:avLst/>
          </a:prstGeom>
          <a:noFill/>
          <a:ln/>
        </p:spPr>
        <p:txBody>
          <a:bodyPr wrap="square" lIns="0" tIns="0" rIns="0" bIns="0" rtlCol="0" anchor="t"/>
          <a:lstStyle/>
          <a:p>
            <a:pPr marL="0" indent="0">
              <a:buNone/>
            </a:pPr>
            <a:r>
              <a:rPr lang="en-US" sz="1050" dirty="0">
                <a:solidFill>
                  <a:srgbClr val="44536B"/>
                </a:solidFill>
                <a:latin typeface="Calibri" pitchFamily="34" charset="0"/>
                <a:ea typeface="Calibri" pitchFamily="34" charset="-122"/>
                <a:cs typeface="Calibri" pitchFamily="34" charset="-120"/>
              </a:rPr>
              <a:t>The ##STATUS## protocol, both ends — emitting and the watch_process() single-pass reader.</a:t>
            </a:r>
            <a:endParaRPr lang="en-US" sz="1050" dirty="0"/>
          </a:p>
        </p:txBody>
      </p:sp>
      <p:sp>
        <p:nvSpPr>
          <p:cNvPr id="10" name="Shape 8"/>
          <p:cNvSpPr/>
          <p:nvPr/>
        </p:nvSpPr>
        <p:spPr>
          <a:xfrm>
            <a:off x="6089904" y="1417320"/>
            <a:ext cx="2606040" cy="1417320"/>
          </a:xfrm>
          <a:prstGeom prst="roundRect">
            <a:avLst>
              <a:gd name="adj" fmla="val 5161"/>
            </a:avLst>
          </a:prstGeom>
          <a:solidFill>
            <a:srgbClr val="F5F7FA"/>
          </a:solidFill>
          <a:ln/>
          <a:effectLst>
            <a:outerShdw blurRad="76200" dist="25400" dir="5400000" algn="bl" rotWithShape="0">
              <a:srgbClr val="1B2A4A">
                <a:alpha val="18000"/>
              </a:srgbClr>
            </a:outerShdw>
          </a:effectLst>
        </p:spPr>
        <p:txBody>
          <a:bodyPr/>
          <a:lstStyle/>
          <a:p>
            <a:endParaRPr lang="en-US"/>
          </a:p>
        </p:txBody>
      </p:sp>
      <p:sp>
        <p:nvSpPr>
          <p:cNvPr id="11" name="Text 9"/>
          <p:cNvSpPr/>
          <p:nvPr/>
        </p:nvSpPr>
        <p:spPr>
          <a:xfrm>
            <a:off x="6254496" y="1554480"/>
            <a:ext cx="2276856" cy="365760"/>
          </a:xfrm>
          <a:prstGeom prst="rect">
            <a:avLst/>
          </a:prstGeom>
          <a:noFill/>
          <a:ln/>
        </p:spPr>
        <p:txBody>
          <a:bodyPr wrap="square" lIns="0" tIns="0" rIns="0" bIns="0" rtlCol="0" anchor="ctr"/>
          <a:lstStyle/>
          <a:p>
            <a:pPr marL="0" indent="0">
              <a:buNone/>
            </a:pPr>
            <a:r>
              <a:rPr lang="en-US" sz="1250" b="1" dirty="0">
                <a:solidFill>
                  <a:srgbClr val="1B2A4A"/>
                </a:solidFill>
                <a:latin typeface="Courier New" pitchFamily="34" charset="0"/>
                <a:ea typeface="Courier New" pitchFamily="34" charset="-122"/>
                <a:cs typeface="Courier New" pitchFamily="34" charset="-120"/>
              </a:rPr>
              <a:t>reporting.py</a:t>
            </a:r>
            <a:endParaRPr lang="en-US" sz="1250" dirty="0"/>
          </a:p>
        </p:txBody>
      </p:sp>
      <p:sp>
        <p:nvSpPr>
          <p:cNvPr id="12" name="Text 10"/>
          <p:cNvSpPr/>
          <p:nvPr/>
        </p:nvSpPr>
        <p:spPr>
          <a:xfrm>
            <a:off x="6254496" y="1920240"/>
            <a:ext cx="2276856" cy="777240"/>
          </a:xfrm>
          <a:prstGeom prst="rect">
            <a:avLst/>
          </a:prstGeom>
          <a:noFill/>
          <a:ln/>
        </p:spPr>
        <p:txBody>
          <a:bodyPr wrap="square" lIns="0" tIns="0" rIns="0" bIns="0" rtlCol="0" anchor="t"/>
          <a:lstStyle/>
          <a:p>
            <a:pPr marL="0" indent="0">
              <a:buNone/>
            </a:pPr>
            <a:r>
              <a:rPr lang="en-US" sz="1050" dirty="0">
                <a:solidFill>
                  <a:srgbClr val="44536B"/>
                </a:solidFill>
                <a:latin typeface="Calibri" pitchFamily="34" charset="0"/>
                <a:ea typeface="Calibri" pitchFamily="34" charset="-122"/>
                <a:cs typeface="Calibri" pitchFamily="34" charset="-120"/>
              </a:rPr>
              <a:t>Crash log, spreadsheet stamp, label file. Red-on-failure, no label on failure — enforced here.</a:t>
            </a:r>
            <a:endParaRPr lang="en-US" sz="1050" dirty="0"/>
          </a:p>
        </p:txBody>
      </p:sp>
      <p:sp>
        <p:nvSpPr>
          <p:cNvPr id="13" name="Shape 11"/>
          <p:cNvSpPr/>
          <p:nvPr/>
        </p:nvSpPr>
        <p:spPr>
          <a:xfrm>
            <a:off x="8860536" y="1417320"/>
            <a:ext cx="2606040" cy="1417320"/>
          </a:xfrm>
          <a:prstGeom prst="roundRect">
            <a:avLst>
              <a:gd name="adj" fmla="val 5161"/>
            </a:avLst>
          </a:prstGeom>
          <a:solidFill>
            <a:srgbClr val="F5F7FA"/>
          </a:solidFill>
          <a:ln/>
          <a:effectLst>
            <a:outerShdw blurRad="76200" dist="25400" dir="5400000" algn="bl" rotWithShape="0">
              <a:srgbClr val="1B2A4A">
                <a:alpha val="18000"/>
              </a:srgbClr>
            </a:outerShdw>
          </a:effectLst>
        </p:spPr>
        <p:txBody>
          <a:bodyPr/>
          <a:lstStyle/>
          <a:p>
            <a:endParaRPr lang="en-US"/>
          </a:p>
        </p:txBody>
      </p:sp>
      <p:sp>
        <p:nvSpPr>
          <p:cNvPr id="14" name="Text 12"/>
          <p:cNvSpPr/>
          <p:nvPr/>
        </p:nvSpPr>
        <p:spPr>
          <a:xfrm>
            <a:off x="9025128" y="1554480"/>
            <a:ext cx="2276856" cy="365760"/>
          </a:xfrm>
          <a:prstGeom prst="rect">
            <a:avLst/>
          </a:prstGeom>
          <a:noFill/>
          <a:ln/>
        </p:spPr>
        <p:txBody>
          <a:bodyPr wrap="square" lIns="0" tIns="0" rIns="0" bIns="0" rtlCol="0" anchor="ctr"/>
          <a:lstStyle/>
          <a:p>
            <a:pPr marL="0" indent="0">
              <a:buNone/>
            </a:pPr>
            <a:r>
              <a:rPr lang="en-US" sz="1250" b="1" dirty="0">
                <a:solidFill>
                  <a:srgbClr val="1B2A4A"/>
                </a:solidFill>
                <a:latin typeface="Courier New" pitchFamily="34" charset="0"/>
                <a:ea typeface="Courier New" pitchFamily="34" charset="-122"/>
                <a:cs typeface="Courier New" pitchFamily="34" charset="-120"/>
              </a:rPr>
              <a:t>ssh_session.py</a:t>
            </a:r>
            <a:endParaRPr lang="en-US" sz="1250" dirty="0"/>
          </a:p>
        </p:txBody>
      </p:sp>
      <p:sp>
        <p:nvSpPr>
          <p:cNvPr id="15" name="Text 13"/>
          <p:cNvSpPr/>
          <p:nvPr/>
        </p:nvSpPr>
        <p:spPr>
          <a:xfrm>
            <a:off x="9025128" y="1920240"/>
            <a:ext cx="2276856" cy="777240"/>
          </a:xfrm>
          <a:prstGeom prst="rect">
            <a:avLst/>
          </a:prstGeom>
          <a:noFill/>
          <a:ln/>
        </p:spPr>
        <p:txBody>
          <a:bodyPr wrap="square" lIns="0" tIns="0" rIns="0" bIns="0" rtlCol="0" anchor="t"/>
          <a:lstStyle/>
          <a:p>
            <a:pPr marL="0" indent="0">
              <a:buNone/>
            </a:pPr>
            <a:r>
              <a:rPr lang="en-US" sz="1050" dirty="0">
                <a:solidFill>
                  <a:srgbClr val="44536B"/>
                </a:solidFill>
                <a:latin typeface="Calibri" pitchFamily="34" charset="0"/>
                <a:ea typeface="Calibri" pitchFamily="34" charset="-122"/>
                <a:cs typeface="Calibri" pitchFamily="34" charset="-120"/>
              </a:rPr>
              <a:t>Pooled, lazy-connect SSHSession + ManagedShell context manager.</a:t>
            </a:r>
            <a:endParaRPr lang="en-US" sz="1050" dirty="0"/>
          </a:p>
        </p:txBody>
      </p:sp>
      <p:sp>
        <p:nvSpPr>
          <p:cNvPr id="16" name="Shape 14"/>
          <p:cNvSpPr/>
          <p:nvPr/>
        </p:nvSpPr>
        <p:spPr>
          <a:xfrm>
            <a:off x="548640" y="2999232"/>
            <a:ext cx="2606040" cy="1417320"/>
          </a:xfrm>
          <a:prstGeom prst="roundRect">
            <a:avLst>
              <a:gd name="adj" fmla="val 5161"/>
            </a:avLst>
          </a:prstGeom>
          <a:solidFill>
            <a:srgbClr val="F5F7FA"/>
          </a:solidFill>
          <a:ln/>
          <a:effectLst>
            <a:outerShdw blurRad="76200" dist="25400" dir="5400000" algn="bl" rotWithShape="0">
              <a:srgbClr val="1B2A4A">
                <a:alpha val="18000"/>
              </a:srgbClr>
            </a:outerShdw>
          </a:effectLst>
        </p:spPr>
        <p:txBody>
          <a:bodyPr/>
          <a:lstStyle/>
          <a:p>
            <a:endParaRPr lang="en-US"/>
          </a:p>
        </p:txBody>
      </p:sp>
      <p:sp>
        <p:nvSpPr>
          <p:cNvPr id="17" name="Text 15"/>
          <p:cNvSpPr/>
          <p:nvPr/>
        </p:nvSpPr>
        <p:spPr>
          <a:xfrm>
            <a:off x="713232" y="3136392"/>
            <a:ext cx="2276856" cy="365760"/>
          </a:xfrm>
          <a:prstGeom prst="rect">
            <a:avLst/>
          </a:prstGeom>
          <a:noFill/>
          <a:ln/>
        </p:spPr>
        <p:txBody>
          <a:bodyPr wrap="square" lIns="0" tIns="0" rIns="0" bIns="0" rtlCol="0" anchor="ctr"/>
          <a:lstStyle/>
          <a:p>
            <a:pPr marL="0" indent="0">
              <a:buNone/>
            </a:pPr>
            <a:r>
              <a:rPr lang="en-US" sz="1250" b="1" dirty="0">
                <a:solidFill>
                  <a:srgbClr val="1B2A4A"/>
                </a:solidFill>
                <a:latin typeface="Courier New" pitchFamily="34" charset="0"/>
                <a:ea typeface="Courier New" pitchFamily="34" charset="-122"/>
                <a:cs typeface="Courier New" pitchFamily="34" charset="-120"/>
              </a:rPr>
              <a:t>wait_utils.py</a:t>
            </a:r>
            <a:endParaRPr lang="en-US" sz="1250" dirty="0"/>
          </a:p>
        </p:txBody>
      </p:sp>
      <p:sp>
        <p:nvSpPr>
          <p:cNvPr id="18" name="Text 16"/>
          <p:cNvSpPr/>
          <p:nvPr/>
        </p:nvSpPr>
        <p:spPr>
          <a:xfrm>
            <a:off x="713232" y="3502152"/>
            <a:ext cx="2276856" cy="777240"/>
          </a:xfrm>
          <a:prstGeom prst="rect">
            <a:avLst/>
          </a:prstGeom>
          <a:noFill/>
          <a:ln/>
        </p:spPr>
        <p:txBody>
          <a:bodyPr wrap="square" lIns="0" tIns="0" rIns="0" bIns="0" rtlCol="0" anchor="t"/>
          <a:lstStyle/>
          <a:p>
            <a:pPr marL="0" indent="0">
              <a:buNone/>
            </a:pPr>
            <a:r>
              <a:rPr lang="en-US" sz="1050" dirty="0">
                <a:solidFill>
                  <a:srgbClr val="44536B"/>
                </a:solidFill>
                <a:latin typeface="Calibri" pitchFamily="34" charset="0"/>
                <a:ea typeface="Calibri" pitchFamily="34" charset="-122"/>
                <a:cs typeface="Calibri" pitchFamily="34" charset="-120"/>
              </a:rPr>
              <a:t>Completion-driven waits — port down/up, prompt-return — never a fixed sleep.</a:t>
            </a:r>
            <a:endParaRPr lang="en-US" sz="1050" dirty="0"/>
          </a:p>
        </p:txBody>
      </p:sp>
      <p:sp>
        <p:nvSpPr>
          <p:cNvPr id="19" name="Shape 17"/>
          <p:cNvSpPr/>
          <p:nvPr/>
        </p:nvSpPr>
        <p:spPr>
          <a:xfrm>
            <a:off x="3319272" y="2999232"/>
            <a:ext cx="2606040" cy="1417320"/>
          </a:xfrm>
          <a:prstGeom prst="roundRect">
            <a:avLst>
              <a:gd name="adj" fmla="val 5161"/>
            </a:avLst>
          </a:prstGeom>
          <a:solidFill>
            <a:srgbClr val="F5F7FA"/>
          </a:solidFill>
          <a:ln/>
          <a:effectLst>
            <a:outerShdw blurRad="76200" dist="25400" dir="5400000" algn="bl" rotWithShape="0">
              <a:srgbClr val="1B2A4A">
                <a:alpha val="18000"/>
              </a:srgbClr>
            </a:outerShdw>
          </a:effectLst>
        </p:spPr>
        <p:txBody>
          <a:bodyPr/>
          <a:lstStyle/>
          <a:p>
            <a:endParaRPr lang="en-US"/>
          </a:p>
        </p:txBody>
      </p:sp>
      <p:sp>
        <p:nvSpPr>
          <p:cNvPr id="20" name="Text 18"/>
          <p:cNvSpPr/>
          <p:nvPr/>
        </p:nvSpPr>
        <p:spPr>
          <a:xfrm>
            <a:off x="3483864" y="3136392"/>
            <a:ext cx="2276856" cy="365760"/>
          </a:xfrm>
          <a:prstGeom prst="rect">
            <a:avLst/>
          </a:prstGeom>
          <a:noFill/>
          <a:ln/>
        </p:spPr>
        <p:txBody>
          <a:bodyPr wrap="square" lIns="0" tIns="0" rIns="0" bIns="0" rtlCol="0" anchor="ctr"/>
          <a:lstStyle/>
          <a:p>
            <a:pPr marL="0" indent="0">
              <a:buNone/>
            </a:pPr>
            <a:r>
              <a:rPr lang="en-US" sz="1250" b="1" dirty="0">
                <a:solidFill>
                  <a:srgbClr val="1B2A4A"/>
                </a:solidFill>
                <a:latin typeface="Courier New" pitchFamily="34" charset="0"/>
                <a:ea typeface="Courier New" pitchFamily="34" charset="-122"/>
                <a:cs typeface="Courier New" pitchFamily="34" charset="-120"/>
              </a:rPr>
              <a:t>templating.py</a:t>
            </a:r>
            <a:endParaRPr lang="en-US" sz="1250" dirty="0"/>
          </a:p>
        </p:txBody>
      </p:sp>
      <p:sp>
        <p:nvSpPr>
          <p:cNvPr id="21" name="Text 19"/>
          <p:cNvSpPr/>
          <p:nvPr/>
        </p:nvSpPr>
        <p:spPr>
          <a:xfrm>
            <a:off x="3483864" y="3502152"/>
            <a:ext cx="2276856" cy="777240"/>
          </a:xfrm>
          <a:prstGeom prst="rect">
            <a:avLst/>
          </a:prstGeom>
          <a:noFill/>
          <a:ln/>
        </p:spPr>
        <p:txBody>
          <a:bodyPr wrap="square" lIns="0" tIns="0" rIns="0" bIns="0" rtlCol="0" anchor="t"/>
          <a:lstStyle/>
          <a:p>
            <a:pPr marL="0" indent="0">
              <a:buNone/>
            </a:pPr>
            <a:r>
              <a:rPr lang="en-US" sz="1050" dirty="0">
                <a:solidFill>
                  <a:srgbClr val="44536B"/>
                </a:solidFill>
                <a:latin typeface="Calibri" pitchFamily="34" charset="0"/>
                <a:ea typeface="Calibri" pitchFamily="34" charset="-122"/>
                <a:cs typeface="Calibri" pitchFamily="34" charset="-120"/>
              </a:rPr>
              <a:t>og_* → working-copy staging. Verifies by counting replacements, not by presence.</a:t>
            </a:r>
            <a:endParaRPr lang="en-US" sz="1050" dirty="0"/>
          </a:p>
        </p:txBody>
      </p:sp>
      <p:sp>
        <p:nvSpPr>
          <p:cNvPr id="22" name="Shape 20"/>
          <p:cNvSpPr/>
          <p:nvPr/>
        </p:nvSpPr>
        <p:spPr>
          <a:xfrm>
            <a:off x="6089904" y="2999232"/>
            <a:ext cx="2606040" cy="1417320"/>
          </a:xfrm>
          <a:prstGeom prst="roundRect">
            <a:avLst>
              <a:gd name="adj" fmla="val 5161"/>
            </a:avLst>
          </a:prstGeom>
          <a:solidFill>
            <a:srgbClr val="F5F7FA"/>
          </a:solidFill>
          <a:ln/>
          <a:effectLst>
            <a:outerShdw blurRad="76200" dist="25400" dir="5400000" algn="bl" rotWithShape="0">
              <a:srgbClr val="1B2A4A">
                <a:alpha val="18000"/>
              </a:srgbClr>
            </a:outerShdw>
          </a:effectLst>
        </p:spPr>
        <p:txBody>
          <a:bodyPr/>
          <a:lstStyle/>
          <a:p>
            <a:endParaRPr lang="en-US"/>
          </a:p>
        </p:txBody>
      </p:sp>
      <p:sp>
        <p:nvSpPr>
          <p:cNvPr id="23" name="Text 21"/>
          <p:cNvSpPr/>
          <p:nvPr/>
        </p:nvSpPr>
        <p:spPr>
          <a:xfrm>
            <a:off x="6254496" y="3136392"/>
            <a:ext cx="2276856" cy="365760"/>
          </a:xfrm>
          <a:prstGeom prst="rect">
            <a:avLst/>
          </a:prstGeom>
          <a:noFill/>
          <a:ln/>
        </p:spPr>
        <p:txBody>
          <a:bodyPr wrap="square" lIns="0" tIns="0" rIns="0" bIns="0" rtlCol="0" anchor="ctr"/>
          <a:lstStyle/>
          <a:p>
            <a:pPr marL="0" indent="0">
              <a:buNone/>
            </a:pPr>
            <a:r>
              <a:rPr lang="en-US" sz="1250" b="1" dirty="0">
                <a:solidFill>
                  <a:srgbClr val="1B2A4A"/>
                </a:solidFill>
                <a:latin typeface="Courier New" pitchFamily="34" charset="0"/>
                <a:ea typeface="Courier New" pitchFamily="34" charset="-122"/>
                <a:cs typeface="Courier New" pitchFamily="34" charset="-120"/>
              </a:rPr>
              <a:t>device_config.json</a:t>
            </a:r>
            <a:endParaRPr lang="en-US" sz="1250" dirty="0"/>
          </a:p>
        </p:txBody>
      </p:sp>
      <p:sp>
        <p:nvSpPr>
          <p:cNvPr id="24" name="Text 22"/>
          <p:cNvSpPr/>
          <p:nvPr/>
        </p:nvSpPr>
        <p:spPr>
          <a:xfrm>
            <a:off x="6254496" y="3502152"/>
            <a:ext cx="2276856" cy="777240"/>
          </a:xfrm>
          <a:prstGeom prst="rect">
            <a:avLst/>
          </a:prstGeom>
          <a:noFill/>
          <a:ln/>
        </p:spPr>
        <p:txBody>
          <a:bodyPr wrap="square" lIns="0" tIns="0" rIns="0" bIns="0" rtlCol="0" anchor="t"/>
          <a:lstStyle/>
          <a:p>
            <a:pPr marL="0" indent="0">
              <a:buNone/>
            </a:pPr>
            <a:r>
              <a:rPr lang="en-US" sz="1050" dirty="0">
                <a:solidFill>
                  <a:srgbClr val="44536B"/>
                </a:solidFill>
                <a:latin typeface="Calibri" pitchFamily="34" charset="0"/>
                <a:ea typeface="Calibri" pitchFamily="34" charset="-122"/>
                <a:cs typeface="Calibri" pitchFamily="34" charset="-120"/>
              </a:rPr>
              <a:t>DEFAULTS → device_config.json → {PREFIX}_* env vars, three-tier precedence.</a:t>
            </a:r>
            <a:endParaRPr lang="en-US" sz="1050" dirty="0"/>
          </a:p>
        </p:txBody>
      </p:sp>
      <p:sp>
        <p:nvSpPr>
          <p:cNvPr id="25" name="Shape 23"/>
          <p:cNvSpPr/>
          <p:nvPr/>
        </p:nvSpPr>
        <p:spPr>
          <a:xfrm>
            <a:off x="8860536" y="2999232"/>
            <a:ext cx="2606040" cy="1417320"/>
          </a:xfrm>
          <a:prstGeom prst="roundRect">
            <a:avLst>
              <a:gd name="adj" fmla="val 5161"/>
            </a:avLst>
          </a:prstGeom>
          <a:solidFill>
            <a:srgbClr val="F5F7FA"/>
          </a:solidFill>
          <a:ln/>
          <a:effectLst>
            <a:outerShdw blurRad="76200" dist="25400" dir="5400000" algn="bl" rotWithShape="0">
              <a:srgbClr val="1B2A4A">
                <a:alpha val="18000"/>
              </a:srgbClr>
            </a:outerShdw>
          </a:effectLst>
        </p:spPr>
        <p:txBody>
          <a:bodyPr/>
          <a:lstStyle/>
          <a:p>
            <a:endParaRPr lang="en-US"/>
          </a:p>
        </p:txBody>
      </p:sp>
      <p:sp>
        <p:nvSpPr>
          <p:cNvPr id="26" name="Text 24"/>
          <p:cNvSpPr/>
          <p:nvPr/>
        </p:nvSpPr>
        <p:spPr>
          <a:xfrm>
            <a:off x="9025128" y="3136392"/>
            <a:ext cx="2276856" cy="365760"/>
          </a:xfrm>
          <a:prstGeom prst="rect">
            <a:avLst/>
          </a:prstGeom>
          <a:noFill/>
          <a:ln/>
        </p:spPr>
        <p:txBody>
          <a:bodyPr wrap="square" lIns="0" tIns="0" rIns="0" bIns="0" rtlCol="0" anchor="ctr"/>
          <a:lstStyle/>
          <a:p>
            <a:pPr marL="0" indent="0">
              <a:buNone/>
            </a:pPr>
            <a:r>
              <a:rPr lang="en-US" sz="1250" b="1" dirty="0">
                <a:solidFill>
                  <a:srgbClr val="1B2A4A"/>
                </a:solidFill>
                <a:latin typeface="Courier New" pitchFamily="34" charset="0"/>
                <a:ea typeface="Courier New" pitchFamily="34" charset="-122"/>
                <a:cs typeface="Courier New" pitchFamily="34" charset="-120"/>
              </a:rPr>
              <a:t>app_paths.py</a:t>
            </a:r>
            <a:endParaRPr lang="en-US" sz="1250" dirty="0"/>
          </a:p>
        </p:txBody>
      </p:sp>
      <p:sp>
        <p:nvSpPr>
          <p:cNvPr id="27" name="Text 25"/>
          <p:cNvSpPr/>
          <p:nvPr/>
        </p:nvSpPr>
        <p:spPr>
          <a:xfrm>
            <a:off x="9025128" y="3502152"/>
            <a:ext cx="2276856" cy="777240"/>
          </a:xfrm>
          <a:prstGeom prst="rect">
            <a:avLst/>
          </a:prstGeom>
          <a:noFill/>
          <a:ln/>
        </p:spPr>
        <p:txBody>
          <a:bodyPr wrap="square" lIns="0" tIns="0" rIns="0" bIns="0" rtlCol="0" anchor="t"/>
          <a:lstStyle/>
          <a:p>
            <a:pPr marL="0" indent="0">
              <a:buNone/>
            </a:pPr>
            <a:r>
              <a:rPr lang="en-US" sz="1050" dirty="0">
                <a:solidFill>
                  <a:srgbClr val="44536B"/>
                </a:solidFill>
                <a:latin typeface="Calibri" pitchFamily="34" charset="0"/>
                <a:ea typeface="Calibri" pitchFamily="34" charset="-122"/>
                <a:cs typeface="Calibri" pitchFamily="34" charset="-120"/>
              </a:rPr>
              <a:t>Where things are, from source or a packaged .exe. script_command() matters here.</a:t>
            </a:r>
            <a:endParaRPr lang="en-US" sz="1050" dirty="0"/>
          </a:p>
        </p:txBody>
      </p:sp>
      <p:sp>
        <p:nvSpPr>
          <p:cNvPr id="28" name="Text 26"/>
          <p:cNvSpPr/>
          <p:nvPr/>
        </p:nvSpPr>
        <p:spPr>
          <a:xfrm>
            <a:off x="457200" y="6473952"/>
            <a:ext cx="7315200" cy="274320"/>
          </a:xfrm>
          <a:prstGeom prst="rect">
            <a:avLst/>
          </a:prstGeom>
          <a:noFill/>
          <a:ln/>
        </p:spPr>
        <p:txBody>
          <a:bodyPr wrap="square" lIns="0" tIns="0" rIns="0" bIns="0" rtlCol="0" anchor="ctr"/>
          <a:lstStyle/>
          <a:p>
            <a:pPr marL="0" indent="0">
              <a:buNone/>
            </a:pPr>
            <a:r>
              <a:rPr lang="en-US" sz="1000" dirty="0">
                <a:solidFill>
                  <a:srgbClr val="7A879B"/>
                </a:solidFill>
                <a:latin typeface="Calibri" pitchFamily="34" charset="0"/>
                <a:ea typeface="Calibri" pitchFamily="34" charset="-122"/>
                <a:cs typeface="Calibri" pitchFamily="34" charset="-120"/>
              </a:rPr>
              <a:t>Programming Workstation — Handoff</a:t>
            </a:r>
            <a:endParaRPr lang="en-US" sz="1000" dirty="0"/>
          </a:p>
        </p:txBody>
      </p:sp>
      <p:sp>
        <p:nvSpPr>
          <p:cNvPr id="29" name="Text 27"/>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7A879B"/>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2E9E6D"/>
                </a:solidFill>
                <a:latin typeface="Calibri" pitchFamily="34" charset="0"/>
                <a:ea typeface="Calibri" pitchFamily="34" charset="-122"/>
                <a:cs typeface="Calibri" pitchFamily="34" charset="-120"/>
              </a:rPr>
              <a:t>RECENT HISTORY WORTH KNOWING</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marL="0" indent="0" algn="l">
              <a:buNone/>
            </a:pPr>
            <a:r>
              <a:rPr lang="en-US" sz="3200" b="1" dirty="0">
                <a:solidFill>
                  <a:srgbClr val="1B2A4A"/>
                </a:solidFill>
                <a:latin typeface="Cambria" pitchFamily="34" charset="0"/>
                <a:ea typeface="Cambria" pitchFamily="34" charset="-122"/>
                <a:cs typeface="Cambria" pitchFamily="34" charset="-120"/>
              </a:rPr>
              <a:t>The migration that got both devices here</a:t>
            </a:r>
            <a:endParaRPr lang="en-US" sz="3200" dirty="0"/>
          </a:p>
        </p:txBody>
      </p:sp>
      <p:sp>
        <p:nvSpPr>
          <p:cNvPr id="4" name="Shape 2"/>
          <p:cNvSpPr/>
          <p:nvPr/>
        </p:nvSpPr>
        <p:spPr>
          <a:xfrm>
            <a:off x="548640" y="1600200"/>
            <a:ext cx="3429000" cy="1828800"/>
          </a:xfrm>
          <a:prstGeom prst="roundRect">
            <a:avLst>
              <a:gd name="adj" fmla="val 4000"/>
            </a:avLst>
          </a:prstGeom>
          <a:solidFill>
            <a:srgbClr val="1B2A4A"/>
          </a:solidFill>
          <a:ln/>
          <a:effectLst>
            <a:outerShdw blurRad="76200" dist="25400" dir="5400000" algn="bl" rotWithShape="0">
              <a:srgbClr val="1B2A4A">
                <a:alpha val="18000"/>
              </a:srgbClr>
            </a:outerShdw>
          </a:effectLst>
        </p:spPr>
        <p:txBody>
          <a:bodyPr/>
          <a:lstStyle/>
          <a:p>
            <a:endParaRPr lang="en-US"/>
          </a:p>
        </p:txBody>
      </p:sp>
      <p:sp>
        <p:nvSpPr>
          <p:cNvPr id="5" name="Text 3"/>
          <p:cNvSpPr/>
          <p:nvPr/>
        </p:nvSpPr>
        <p:spPr>
          <a:xfrm>
            <a:off x="777240" y="1828800"/>
            <a:ext cx="2971800" cy="8229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943 → 364</a:t>
            </a:r>
            <a:endParaRPr lang="en-US" sz="3000" dirty="0"/>
          </a:p>
        </p:txBody>
      </p:sp>
      <p:sp>
        <p:nvSpPr>
          <p:cNvPr id="6" name="Text 4"/>
          <p:cNvSpPr/>
          <p:nvPr/>
        </p:nvSpPr>
        <p:spPr>
          <a:xfrm>
            <a:off x="777240" y="2651760"/>
            <a:ext cx="2971800" cy="64008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lines in TR's prog_dev.py</a:t>
            </a:r>
            <a:endParaRPr lang="en-US" sz="1300" dirty="0"/>
          </a:p>
        </p:txBody>
      </p:sp>
      <p:sp>
        <p:nvSpPr>
          <p:cNvPr id="7" name="Shape 5"/>
          <p:cNvSpPr/>
          <p:nvPr/>
        </p:nvSpPr>
        <p:spPr>
          <a:xfrm>
            <a:off x="4251960" y="1600200"/>
            <a:ext cx="3429000" cy="1828800"/>
          </a:xfrm>
          <a:prstGeom prst="roundRect">
            <a:avLst>
              <a:gd name="adj" fmla="val 4000"/>
            </a:avLst>
          </a:prstGeom>
          <a:solidFill>
            <a:srgbClr val="1B2A4A"/>
          </a:solidFill>
          <a:ln/>
          <a:effectLst>
            <a:outerShdw blurRad="76200" dist="25400" dir="5400000" algn="bl" rotWithShape="0">
              <a:srgbClr val="1B2A4A">
                <a:alpha val="18000"/>
              </a:srgbClr>
            </a:outerShdw>
          </a:effectLst>
        </p:spPr>
        <p:txBody>
          <a:bodyPr/>
          <a:lstStyle/>
          <a:p>
            <a:endParaRPr lang="en-US"/>
          </a:p>
        </p:txBody>
      </p:sp>
      <p:sp>
        <p:nvSpPr>
          <p:cNvPr id="8" name="Text 6"/>
          <p:cNvSpPr/>
          <p:nvPr/>
        </p:nvSpPr>
        <p:spPr>
          <a:xfrm>
            <a:off x="4480560" y="1828800"/>
            <a:ext cx="2971800" cy="8229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353 → 104</a:t>
            </a:r>
            <a:endParaRPr lang="en-US" sz="3000" dirty="0"/>
          </a:p>
        </p:txBody>
      </p:sp>
      <p:sp>
        <p:nvSpPr>
          <p:cNvPr id="9" name="Text 7"/>
          <p:cNvSpPr/>
          <p:nvPr/>
        </p:nvSpPr>
        <p:spPr>
          <a:xfrm>
            <a:off x="4480560" y="2651760"/>
            <a:ext cx="2971800" cy="64008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lines in Digi's prog_dev.py</a:t>
            </a:r>
            <a:endParaRPr lang="en-US" sz="1300" dirty="0"/>
          </a:p>
        </p:txBody>
      </p:sp>
      <p:sp>
        <p:nvSpPr>
          <p:cNvPr id="10" name="Shape 8"/>
          <p:cNvSpPr/>
          <p:nvPr/>
        </p:nvSpPr>
        <p:spPr>
          <a:xfrm>
            <a:off x="7955280" y="1600200"/>
            <a:ext cx="3429000" cy="1828800"/>
          </a:xfrm>
          <a:prstGeom prst="roundRect">
            <a:avLst>
              <a:gd name="adj" fmla="val 4000"/>
            </a:avLst>
          </a:prstGeom>
          <a:solidFill>
            <a:srgbClr val="1B2A4A"/>
          </a:solidFill>
          <a:ln/>
          <a:effectLst>
            <a:outerShdw blurRad="76200" dist="25400" dir="5400000" algn="bl" rotWithShape="0">
              <a:srgbClr val="1B2A4A">
                <a:alpha val="18000"/>
              </a:srgbClr>
            </a:outerShdw>
          </a:effectLst>
        </p:spPr>
        <p:txBody>
          <a:bodyPr/>
          <a:lstStyle/>
          <a:p>
            <a:endParaRPr lang="en-US"/>
          </a:p>
        </p:txBody>
      </p:sp>
      <p:sp>
        <p:nvSpPr>
          <p:cNvPr id="11" name="Text 9"/>
          <p:cNvSpPr/>
          <p:nvPr/>
        </p:nvSpPr>
        <p:spPr>
          <a:xfrm>
            <a:off x="8183880" y="1828800"/>
            <a:ext cx="2971800" cy="8229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44 / 6 / 2 → 83</a:t>
            </a:r>
            <a:endParaRPr lang="en-US" sz="3000" dirty="0"/>
          </a:p>
        </p:txBody>
      </p:sp>
      <p:sp>
        <p:nvSpPr>
          <p:cNvPr id="12" name="Text 10"/>
          <p:cNvSpPr/>
          <p:nvPr/>
        </p:nvSpPr>
        <p:spPr>
          <a:xfrm>
            <a:off x="8183880" y="2651760"/>
            <a:ext cx="2971800" cy="64008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tests passing / failing / broken → all passing</a:t>
            </a:r>
            <a:endParaRPr lang="en-US" sz="1300" dirty="0"/>
          </a:p>
        </p:txBody>
      </p:sp>
      <p:sp>
        <p:nvSpPr>
          <p:cNvPr id="13" name="Text 11"/>
          <p:cNvSpPr/>
          <p:nvPr/>
        </p:nvSpPr>
        <p:spPr>
          <a:xfrm>
            <a:off x="548640" y="3703320"/>
            <a:ext cx="7315200" cy="365760"/>
          </a:xfrm>
          <a:prstGeom prst="rect">
            <a:avLst/>
          </a:prstGeom>
          <a:noFill/>
          <a:ln/>
        </p:spPr>
        <p:txBody>
          <a:bodyPr wrap="square" lIns="0" tIns="0" rIns="0" bIns="0" rtlCol="0" anchor="ctr"/>
          <a:lstStyle/>
          <a:p>
            <a:pPr marL="0" indent="0">
              <a:buNone/>
            </a:pPr>
            <a:r>
              <a:rPr lang="en-US" sz="1500" b="1" dirty="0">
                <a:solidFill>
                  <a:srgbClr val="1B2A4A"/>
                </a:solidFill>
                <a:latin typeface="Cambria" pitchFamily="34" charset="0"/>
                <a:ea typeface="Cambria" pitchFamily="34" charset="-122"/>
                <a:cs typeface="Cambria" pitchFamily="34" charset="-120"/>
              </a:rPr>
              <a:t>What moved into the shared layer:</a:t>
            </a:r>
            <a:endParaRPr lang="en-US" sz="1500" dirty="0"/>
          </a:p>
        </p:txBody>
      </p:sp>
      <p:sp>
        <p:nvSpPr>
          <p:cNvPr id="14" name="Text 12"/>
          <p:cNvSpPr/>
          <p:nvPr/>
        </p:nvSpPr>
        <p:spPr>
          <a:xfrm>
            <a:off x="548640" y="4114800"/>
            <a:ext cx="10881360" cy="219456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rgbClr val="44536B"/>
                </a:solidFill>
                <a:latin typeface="Calibri" pitchFamily="34" charset="0"/>
                <a:ea typeface="Calibri" pitchFamily="34" charset="-122"/>
                <a:cs typeface="Calibri" pitchFamily="34" charset="-120"/>
              </a:rPr>
              <a:t>Three real bugs shipped with it: a double-read of stdout that made every TR run look like a success, a functional test that ran even after a failed program, and a leaked shell channel per call.</a:t>
            </a:r>
            <a:endParaRPr lang="en-US" sz="1400" dirty="0"/>
          </a:p>
          <a:p>
            <a:pPr marL="342900" indent="-342900">
              <a:spcAft>
                <a:spcPts val="1200"/>
              </a:spcAft>
              <a:buSzPct val="100000"/>
              <a:buChar char="•"/>
            </a:pPr>
            <a:r>
              <a:rPr lang="en-US" sz="1400" dirty="0">
                <a:solidFill>
                  <a:srgbClr val="44536B"/>
                </a:solidFill>
                <a:latin typeface="Calibri" pitchFamily="34" charset="0"/>
                <a:ea typeface="Calibri" pitchFamily="34" charset="-122"/>
                <a:cs typeface="Calibri" pitchFamily="34" charset="-120"/>
              </a:rPr>
              <a:t>device_types/ was deleted outright — four files of working code that nothing ever instantiated. Devices are folders; that was always the real extension mechanism.</a:t>
            </a:r>
            <a:endParaRPr lang="en-US" sz="1400" dirty="0"/>
          </a:p>
        </p:txBody>
      </p:sp>
      <p:sp>
        <p:nvSpPr>
          <p:cNvPr id="15" name="Text 13"/>
          <p:cNvSpPr/>
          <p:nvPr/>
        </p:nvSpPr>
        <p:spPr>
          <a:xfrm>
            <a:off x="457200" y="6473952"/>
            <a:ext cx="7315200" cy="274320"/>
          </a:xfrm>
          <a:prstGeom prst="rect">
            <a:avLst/>
          </a:prstGeom>
          <a:noFill/>
          <a:ln/>
        </p:spPr>
        <p:txBody>
          <a:bodyPr wrap="square" lIns="0" tIns="0" rIns="0" bIns="0" rtlCol="0" anchor="ctr"/>
          <a:lstStyle/>
          <a:p>
            <a:pPr marL="0" indent="0">
              <a:buNone/>
            </a:pPr>
            <a:r>
              <a:rPr lang="en-US" sz="1000" dirty="0">
                <a:solidFill>
                  <a:srgbClr val="7A879B"/>
                </a:solidFill>
                <a:latin typeface="Calibri" pitchFamily="34" charset="0"/>
                <a:ea typeface="Calibri" pitchFamily="34" charset="-122"/>
                <a:cs typeface="Calibri" pitchFamily="34" charset="-120"/>
              </a:rPr>
              <a:t>Programming Workstation — Handoff · commit e96074a</a:t>
            </a:r>
            <a:endParaRPr lang="en-US" sz="1000" dirty="0"/>
          </a:p>
        </p:txBody>
      </p:sp>
      <p:sp>
        <p:nvSpPr>
          <p:cNvPr id="16" name="Text 14"/>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7A879B"/>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2E9E6D"/>
                </a:solidFill>
                <a:latin typeface="Calibri" pitchFamily="34" charset="0"/>
                <a:ea typeface="Calibri" pitchFamily="34" charset="-122"/>
                <a:cs typeface="Calibri" pitchFamily="34" charset="-120"/>
              </a:rPr>
              <a:t>THE LARGEST REMAINING GAP</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marL="0" indent="0" algn="l">
              <a:buNone/>
            </a:pPr>
            <a:r>
              <a:rPr lang="en-US" sz="3200" b="1" dirty="0">
                <a:solidFill>
                  <a:srgbClr val="1B2A4A"/>
                </a:solidFill>
                <a:latin typeface="Cambria" pitchFamily="34" charset="0"/>
                <a:ea typeface="Cambria" pitchFamily="34" charset="-122"/>
                <a:cs typeface="Cambria" pitchFamily="34" charset="-120"/>
              </a:rPr>
              <a:t>TR vs. Digi: the one real difference left</a:t>
            </a:r>
            <a:endParaRPr lang="en-US" sz="3200" dirty="0"/>
          </a:p>
        </p:txBody>
      </p:sp>
      <p:sp>
        <p:nvSpPr>
          <p:cNvPr id="4" name="Shape 2"/>
          <p:cNvSpPr/>
          <p:nvPr/>
        </p:nvSpPr>
        <p:spPr>
          <a:xfrm>
            <a:off x="548640" y="1554480"/>
            <a:ext cx="5212080" cy="4023360"/>
          </a:xfrm>
          <a:prstGeom prst="roundRect">
            <a:avLst>
              <a:gd name="adj" fmla="val 1818"/>
            </a:avLst>
          </a:prstGeom>
          <a:solidFill>
            <a:srgbClr val="F5F7FA"/>
          </a:solidFill>
          <a:ln/>
          <a:effectLst>
            <a:outerShdw blurRad="76200" dist="25400" dir="5400000" algn="bl" rotWithShape="0">
              <a:srgbClr val="1B2A4A">
                <a:alpha val="18000"/>
              </a:srgbClr>
            </a:outerShdw>
          </a:effectLst>
        </p:spPr>
        <p:txBody>
          <a:bodyPr/>
          <a:lstStyle/>
          <a:p>
            <a:endParaRPr lang="en-US"/>
          </a:p>
        </p:txBody>
      </p:sp>
      <p:sp>
        <p:nvSpPr>
          <p:cNvPr id="5" name="Text 3"/>
          <p:cNvSpPr/>
          <p:nvPr/>
        </p:nvSpPr>
        <p:spPr>
          <a:xfrm>
            <a:off x="914400" y="1828800"/>
            <a:ext cx="4480560" cy="457200"/>
          </a:xfrm>
          <a:prstGeom prst="rect">
            <a:avLst/>
          </a:prstGeom>
          <a:noFill/>
          <a:ln/>
        </p:spPr>
        <p:txBody>
          <a:bodyPr wrap="square" lIns="0" tIns="0" rIns="0" bIns="0" rtlCol="0" anchor="ctr"/>
          <a:lstStyle/>
          <a:p>
            <a:pPr marL="0" indent="0">
              <a:buNone/>
            </a:pPr>
            <a:r>
              <a:rPr lang="en-US" sz="1800" b="1" dirty="0">
                <a:solidFill>
                  <a:srgbClr val="1B2A4A"/>
                </a:solidFill>
                <a:latin typeface="Cambria" pitchFamily="34" charset="0"/>
                <a:ea typeface="Cambria" pitchFamily="34" charset="-122"/>
                <a:cs typeface="Cambria" pitchFamily="34" charset="-120"/>
              </a:rPr>
              <a:t>Digi IX20 — resumes</a:t>
            </a:r>
            <a:endParaRPr lang="en-US" sz="1800" dirty="0"/>
          </a:p>
        </p:txBody>
      </p:sp>
      <p:sp>
        <p:nvSpPr>
          <p:cNvPr id="6" name="Text 4"/>
          <p:cNvSpPr/>
          <p:nvPr/>
        </p:nvSpPr>
        <p:spPr>
          <a:xfrm>
            <a:off x="914400" y="2331720"/>
            <a:ext cx="4480560" cy="3017520"/>
          </a:xfrm>
          <a:prstGeom prst="rect">
            <a:avLst/>
          </a:prstGeom>
          <a:noFill/>
          <a:ln/>
        </p:spPr>
        <p:txBody>
          <a:bodyPr wrap="square" lIns="0" tIns="0" rIns="0" bIns="0" rtlCol="0" anchor="t"/>
          <a:lstStyle/>
          <a:p>
            <a:pPr marL="0" indent="0">
              <a:buNone/>
            </a:pPr>
            <a:r>
              <a:rPr lang="en-US" sz="1400" dirty="0">
                <a:solidFill>
                  <a:srgbClr val="44536B"/>
                </a:solidFill>
                <a:latin typeface="Calibri" pitchFamily="34" charset="0"/>
                <a:ea typeface="Calibri" pitchFamily="34" charset="-122"/>
                <a:cs typeface="Calibri" pitchFamily="34" charset="-120"/>
              </a:rPr>
              <a:t>digix20.py works out where the router currently is (resume_index()) and restarts at the right milestone. A failed attempt doesn't need a factory reset before the next try.</a:t>
            </a:r>
            <a:endParaRPr lang="en-US" sz="1400" dirty="0"/>
          </a:p>
        </p:txBody>
      </p:sp>
      <p:sp>
        <p:nvSpPr>
          <p:cNvPr id="7" name="Shape 5"/>
          <p:cNvSpPr/>
          <p:nvPr/>
        </p:nvSpPr>
        <p:spPr>
          <a:xfrm>
            <a:off x="5943600" y="1554480"/>
            <a:ext cx="5669280" cy="4023360"/>
          </a:xfrm>
          <a:prstGeom prst="roundRect">
            <a:avLst>
              <a:gd name="adj" fmla="val 1818"/>
            </a:avLst>
          </a:prstGeom>
          <a:solidFill>
            <a:srgbClr val="1B2A4A"/>
          </a:solidFill>
          <a:ln/>
          <a:effectLst>
            <a:outerShdw blurRad="76200" dist="25400" dir="5400000" algn="bl" rotWithShape="0">
              <a:srgbClr val="1B2A4A">
                <a:alpha val="18000"/>
              </a:srgbClr>
            </a:outerShdw>
          </a:effectLst>
        </p:spPr>
        <p:txBody>
          <a:bodyPr/>
          <a:lstStyle/>
          <a:p>
            <a:endParaRPr lang="en-US"/>
          </a:p>
        </p:txBody>
      </p:sp>
      <p:sp>
        <p:nvSpPr>
          <p:cNvPr id="8" name="Text 6"/>
          <p:cNvSpPr/>
          <p:nvPr/>
        </p:nvSpPr>
        <p:spPr>
          <a:xfrm>
            <a:off x="6309360" y="1828800"/>
            <a:ext cx="493776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Teltonika RUTX08 — doesn't</a:t>
            </a:r>
            <a:endParaRPr lang="en-US" sz="1800" dirty="0"/>
          </a:p>
        </p:txBody>
      </p:sp>
      <p:sp>
        <p:nvSpPr>
          <p:cNvPr id="9" name="Text 7"/>
          <p:cNvSpPr/>
          <p:nvPr/>
        </p:nvSpPr>
        <p:spPr>
          <a:xfrm>
            <a:off x="6309360" y="2331720"/>
            <a:ext cx="4937760" cy="2011680"/>
          </a:xfrm>
          <a:prstGeom prst="rect">
            <a:avLst/>
          </a:prstGeom>
          <a:noFill/>
          <a:ln/>
        </p:spPr>
        <p:txBody>
          <a:bodyPr wrap="square" lIns="0" tIns="0" rIns="0" bIns="0" rtlCol="0" anchor="t"/>
          <a:lstStyle/>
          <a:p>
            <a:pPr marL="0" indent="0">
              <a:buNone/>
            </a:pPr>
            <a:r>
              <a:rPr lang="en-US" sz="1400" dirty="0">
                <a:solidFill>
                  <a:srgbClr val="CADCFC"/>
                </a:solidFill>
                <a:latin typeface="Calibri" pitchFamily="34" charset="0"/>
                <a:ea typeface="Calibri" pitchFamily="34" charset="-122"/>
                <a:cs typeface="Calibri" pitchFamily="34" charset="-120"/>
              </a:rPr>
              <a:t>teltonika.py only has a coarse check_ip / AlreadyProgrammed check — “this gate is already done, skip everything.” A failure part-way through still means a factory reset before the next attempt.</a:t>
            </a:r>
            <a:endParaRPr lang="en-US" sz="1400" dirty="0"/>
          </a:p>
        </p:txBody>
      </p:sp>
      <p:sp>
        <p:nvSpPr>
          <p:cNvPr id="10" name="Text 8"/>
          <p:cNvSpPr/>
          <p:nvPr/>
        </p:nvSpPr>
        <p:spPr>
          <a:xfrm>
            <a:off x="6309360" y="4663440"/>
            <a:ext cx="4937760" cy="640080"/>
          </a:xfrm>
          <a:prstGeom prst="rect">
            <a:avLst/>
          </a:prstGeom>
          <a:noFill/>
          <a:ln/>
        </p:spPr>
        <p:txBody>
          <a:bodyPr wrap="square" lIns="0" tIns="0" rIns="0" bIns="0" rtlCol="0" anchor="ctr"/>
          <a:lstStyle/>
          <a:p>
            <a:pPr marL="0" indent="0">
              <a:buNone/>
            </a:pPr>
            <a:r>
              <a:rPr lang="en-US" sz="1250" i="1" dirty="0">
                <a:solidFill>
                  <a:srgbClr val="2E9E6D"/>
                </a:solidFill>
                <a:latin typeface="Calibri" pitchFamily="34" charset="0"/>
                <a:ea typeface="Calibri" pitchFamily="34" charset="-122"/>
                <a:cs typeface="Calibri" pitchFamily="34" charset="-120"/>
              </a:rPr>
              <a:t>Listed as a future action in INSTRUCTIONS.md — a good first project.</a:t>
            </a:r>
            <a:endParaRPr lang="en-US" sz="1250" dirty="0"/>
          </a:p>
        </p:txBody>
      </p:sp>
      <p:sp>
        <p:nvSpPr>
          <p:cNvPr id="11" name="Text 9"/>
          <p:cNvSpPr/>
          <p:nvPr/>
        </p:nvSpPr>
        <p:spPr>
          <a:xfrm>
            <a:off x="457200" y="6473952"/>
            <a:ext cx="7315200" cy="274320"/>
          </a:xfrm>
          <a:prstGeom prst="rect">
            <a:avLst/>
          </a:prstGeom>
          <a:noFill/>
          <a:ln/>
        </p:spPr>
        <p:txBody>
          <a:bodyPr wrap="square" lIns="0" tIns="0" rIns="0" bIns="0" rtlCol="0" anchor="ctr"/>
          <a:lstStyle/>
          <a:p>
            <a:pPr marL="0" indent="0">
              <a:buNone/>
            </a:pPr>
            <a:r>
              <a:rPr lang="en-US" sz="1000" dirty="0">
                <a:solidFill>
                  <a:srgbClr val="7A879B"/>
                </a:solidFill>
                <a:latin typeface="Calibri" pitchFamily="34" charset="0"/>
                <a:ea typeface="Calibri" pitchFamily="34" charset="-122"/>
                <a:cs typeface="Calibri" pitchFamily="34" charset="-120"/>
              </a:rPr>
              <a:t>Programming Workstation — Handoff</a:t>
            </a:r>
            <a:endParaRPr lang="en-US" sz="1000" dirty="0"/>
          </a:p>
        </p:txBody>
      </p:sp>
      <p:sp>
        <p:nvSpPr>
          <p:cNvPr id="12" name="Text 10"/>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7A879B"/>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828800" y="4754880"/>
            <a:ext cx="5486400" cy="5486400"/>
          </a:xfrm>
          <a:prstGeom prst="ellipse">
            <a:avLst/>
          </a:prstGeom>
          <a:solidFill>
            <a:srgbClr val="13203A"/>
          </a:solidFill>
          <a:ln/>
        </p:spPr>
        <p:txBody>
          <a:bodyPr/>
          <a:lstStyle/>
          <a:p>
            <a:endParaRPr lang="en-US"/>
          </a:p>
        </p:txBody>
      </p:sp>
      <p:sp>
        <p:nvSpPr>
          <p:cNvPr id="3" name="Text 1"/>
          <p:cNvSpPr/>
          <p:nvPr/>
        </p:nvSpPr>
        <p:spPr>
          <a:xfrm>
            <a:off x="822960" y="2651760"/>
            <a:ext cx="7315200" cy="365760"/>
          </a:xfrm>
          <a:prstGeom prst="rect">
            <a:avLst/>
          </a:prstGeom>
          <a:noFill/>
          <a:ln/>
        </p:spPr>
        <p:txBody>
          <a:bodyPr wrap="square" lIns="0" tIns="0" rIns="0" bIns="0" rtlCol="0" anchor="ctr"/>
          <a:lstStyle/>
          <a:p>
            <a:pPr marL="0" indent="0">
              <a:buNone/>
            </a:pPr>
            <a:r>
              <a:rPr lang="en-US" sz="1400" b="1" kern="0" spc="300" dirty="0">
                <a:solidFill>
                  <a:srgbClr val="2E9E6D"/>
                </a:solidFill>
                <a:latin typeface="Calibri" pitchFamily="34" charset="0"/>
                <a:ea typeface="Calibri" pitchFamily="34" charset="-122"/>
                <a:cs typeface="Calibri" pitchFamily="34" charset="-120"/>
              </a:rPr>
              <a:t>PART 4 OF 4</a:t>
            </a:r>
            <a:endParaRPr lang="en-US" sz="1400" dirty="0"/>
          </a:p>
        </p:txBody>
      </p:sp>
      <p:sp>
        <p:nvSpPr>
          <p:cNvPr id="4" name="Text 2"/>
          <p:cNvSpPr/>
          <p:nvPr/>
        </p:nvSpPr>
        <p:spPr>
          <a:xfrm>
            <a:off x="822960" y="3017520"/>
            <a:ext cx="9601200" cy="109728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Handoff</a:t>
            </a:r>
            <a:endParaRPr lang="en-US" sz="4000" dirty="0"/>
          </a:p>
        </p:txBody>
      </p:sp>
      <p:sp>
        <p:nvSpPr>
          <p:cNvPr id="5" name="Text 3"/>
          <p:cNvSpPr/>
          <p:nvPr/>
        </p:nvSpPr>
        <p:spPr>
          <a:xfrm>
            <a:off x="822960" y="3977640"/>
            <a:ext cx="8229600" cy="54864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What's known, what's left, and where to look next.</a:t>
            </a:r>
            <a:endParaRPr lang="en-US" sz="1600" dirty="0"/>
          </a:p>
        </p:txBody>
      </p:sp>
      <p:sp>
        <p:nvSpPr>
          <p:cNvPr id="6" name="Text 4"/>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8A98B5"/>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2E9E6D"/>
                </a:solidFill>
                <a:latin typeface="Calibri" pitchFamily="34" charset="0"/>
                <a:ea typeface="Calibri" pitchFamily="34" charset="-122"/>
                <a:cs typeface="Calibri" pitchFamily="34" charset="-120"/>
              </a:rPr>
              <a:t>OBSERVED IN CODE, NOT ASPIRATIONAL</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marL="0" indent="0" algn="l">
              <a:buNone/>
            </a:pPr>
            <a:r>
              <a:rPr lang="en-US" sz="3200" b="1" dirty="0">
                <a:solidFill>
                  <a:srgbClr val="1B2A4A"/>
                </a:solidFill>
                <a:latin typeface="Cambria" pitchFamily="34" charset="0"/>
                <a:ea typeface="Cambria" pitchFamily="34" charset="-122"/>
                <a:cs typeface="Cambria" pitchFamily="34" charset="-120"/>
              </a:rPr>
              <a:t>Known limitations</a:t>
            </a:r>
            <a:endParaRPr lang="en-US" sz="3200" dirty="0"/>
          </a:p>
        </p:txBody>
      </p:sp>
      <p:sp>
        <p:nvSpPr>
          <p:cNvPr id="4" name="Shape 2"/>
          <p:cNvSpPr/>
          <p:nvPr/>
        </p:nvSpPr>
        <p:spPr>
          <a:xfrm>
            <a:off x="548640" y="1463040"/>
            <a:ext cx="128016" cy="128016"/>
          </a:xfrm>
          <a:prstGeom prst="ellipse">
            <a:avLst/>
          </a:prstGeom>
          <a:solidFill>
            <a:srgbClr val="C0443A"/>
          </a:solidFill>
          <a:ln/>
        </p:spPr>
        <p:txBody>
          <a:bodyPr/>
          <a:lstStyle/>
          <a:p>
            <a:endParaRPr lang="en-US"/>
          </a:p>
        </p:txBody>
      </p:sp>
      <p:sp>
        <p:nvSpPr>
          <p:cNvPr id="5" name="Text 3"/>
          <p:cNvSpPr/>
          <p:nvPr/>
        </p:nvSpPr>
        <p:spPr>
          <a:xfrm>
            <a:off x="841248" y="1344168"/>
            <a:ext cx="4965192" cy="365760"/>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Credentials are plaintext</a:t>
            </a:r>
            <a:endParaRPr lang="en-US" sz="1400" dirty="0"/>
          </a:p>
        </p:txBody>
      </p:sp>
      <p:sp>
        <p:nvSpPr>
          <p:cNvPr id="6" name="Text 4"/>
          <p:cNvSpPr/>
          <p:nvPr/>
        </p:nvSpPr>
        <p:spPr>
          <a:xfrm>
            <a:off x="841248" y="1709928"/>
            <a:ext cx="4965192" cy="1005840"/>
          </a:xfrm>
          <a:prstGeom prst="rect">
            <a:avLst/>
          </a:prstGeom>
          <a:noFill/>
          <a:ln/>
        </p:spPr>
        <p:txBody>
          <a:bodyPr wrap="square" lIns="0" tIns="0" rIns="0" bIns="0" rtlCol="0" anchor="t"/>
          <a:lstStyle/>
          <a:p>
            <a:pPr marL="0" indent="0">
              <a:buNone/>
            </a:pPr>
            <a:r>
              <a:rPr lang="en-US" sz="1200" dirty="0">
                <a:solidFill>
                  <a:srgbClr val="44536B"/>
                </a:solidFill>
                <a:latin typeface="Calibri" pitchFamily="34" charset="0"/>
                <a:ea typeface="Calibri" pitchFamily="34" charset="-122"/>
                <a:cs typeface="Calibri" pitchFamily="34" charset="-120"/>
              </a:rPr>
              <a:t>core/devices.json and every device_config.json. Documented, deliberate — not an oversight.</a:t>
            </a:r>
            <a:endParaRPr lang="en-US" sz="1200" dirty="0"/>
          </a:p>
        </p:txBody>
      </p:sp>
      <p:sp>
        <p:nvSpPr>
          <p:cNvPr id="7" name="Shape 5"/>
          <p:cNvSpPr/>
          <p:nvPr/>
        </p:nvSpPr>
        <p:spPr>
          <a:xfrm>
            <a:off x="6126480" y="1463040"/>
            <a:ext cx="128016" cy="128016"/>
          </a:xfrm>
          <a:prstGeom prst="ellipse">
            <a:avLst/>
          </a:prstGeom>
          <a:solidFill>
            <a:srgbClr val="C0443A"/>
          </a:solidFill>
          <a:ln/>
        </p:spPr>
        <p:txBody>
          <a:bodyPr/>
          <a:lstStyle/>
          <a:p>
            <a:endParaRPr lang="en-US"/>
          </a:p>
        </p:txBody>
      </p:sp>
      <p:sp>
        <p:nvSpPr>
          <p:cNvPr id="8" name="Text 6"/>
          <p:cNvSpPr/>
          <p:nvPr/>
        </p:nvSpPr>
        <p:spPr>
          <a:xfrm>
            <a:off x="6419088" y="1344168"/>
            <a:ext cx="4965192" cy="365760"/>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JKC-SLC.xlsx is corrupt</a:t>
            </a:r>
            <a:endParaRPr lang="en-US" sz="1400" dirty="0"/>
          </a:p>
        </p:txBody>
      </p:sp>
      <p:sp>
        <p:nvSpPr>
          <p:cNvPr id="9" name="Text 7"/>
          <p:cNvSpPr/>
          <p:nvPr/>
        </p:nvSpPr>
        <p:spPr>
          <a:xfrm>
            <a:off x="6419088" y="1709928"/>
            <a:ext cx="4965192" cy="1005840"/>
          </a:xfrm>
          <a:prstGeom prst="rect">
            <a:avLst/>
          </a:prstGeom>
          <a:noFill/>
          <a:ln/>
        </p:spPr>
        <p:txBody>
          <a:bodyPr wrap="square" lIns="0" tIns="0" rIns="0" bIns="0" rtlCol="0" anchor="t"/>
          <a:lstStyle/>
          <a:p>
            <a:pPr marL="0" indent="0">
              <a:buNone/>
            </a:pPr>
            <a:r>
              <a:rPr lang="en-US" sz="1200" dirty="0">
                <a:solidFill>
                  <a:srgbClr val="44536B"/>
                </a:solidFill>
                <a:latin typeface="Calibri" pitchFamily="34" charset="0"/>
                <a:ea typeface="Calibri" pitchFamily="34" charset="-122"/>
                <a:cs typeface="Calibri" pitchFamily="34" charset="-120"/>
              </a:rPr>
              <a:t>devices/TR/JKC-SLC.xlsx isn't a valid .xlsx. Skipped gracefully; still needs replacing from a good copy.</a:t>
            </a:r>
            <a:endParaRPr lang="en-US" sz="1200" dirty="0"/>
          </a:p>
        </p:txBody>
      </p:sp>
      <p:sp>
        <p:nvSpPr>
          <p:cNvPr id="10" name="Shape 8"/>
          <p:cNvSpPr/>
          <p:nvPr/>
        </p:nvSpPr>
        <p:spPr>
          <a:xfrm>
            <a:off x="548640" y="2990088"/>
            <a:ext cx="128016" cy="128016"/>
          </a:xfrm>
          <a:prstGeom prst="ellipse">
            <a:avLst/>
          </a:prstGeom>
          <a:solidFill>
            <a:srgbClr val="C0443A"/>
          </a:solidFill>
          <a:ln/>
        </p:spPr>
        <p:txBody>
          <a:bodyPr/>
          <a:lstStyle/>
          <a:p>
            <a:endParaRPr lang="en-US"/>
          </a:p>
        </p:txBody>
      </p:sp>
      <p:sp>
        <p:nvSpPr>
          <p:cNvPr id="11" name="Text 9"/>
          <p:cNvSpPr/>
          <p:nvPr/>
        </p:nvSpPr>
        <p:spPr>
          <a:xfrm>
            <a:off x="841248" y="2871216"/>
            <a:ext cx="4965192" cy="365760"/>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TR can't resume a failed run</a:t>
            </a:r>
            <a:endParaRPr lang="en-US" sz="1400" dirty="0"/>
          </a:p>
        </p:txBody>
      </p:sp>
      <p:sp>
        <p:nvSpPr>
          <p:cNvPr id="12" name="Text 10"/>
          <p:cNvSpPr/>
          <p:nvPr/>
        </p:nvSpPr>
        <p:spPr>
          <a:xfrm>
            <a:off x="841248" y="3236976"/>
            <a:ext cx="4965192" cy="1005840"/>
          </a:xfrm>
          <a:prstGeom prst="rect">
            <a:avLst/>
          </a:prstGeom>
          <a:noFill/>
          <a:ln/>
        </p:spPr>
        <p:txBody>
          <a:bodyPr wrap="square" lIns="0" tIns="0" rIns="0" bIns="0" rtlCol="0" anchor="t"/>
          <a:lstStyle/>
          <a:p>
            <a:pPr marL="0" indent="0">
              <a:buNone/>
            </a:pPr>
            <a:r>
              <a:rPr lang="en-US" sz="1200" dirty="0">
                <a:solidFill>
                  <a:srgbClr val="44536B"/>
                </a:solidFill>
                <a:latin typeface="Calibri" pitchFamily="34" charset="0"/>
                <a:ea typeface="Calibri" pitchFamily="34" charset="-122"/>
                <a:cs typeface="Calibri" pitchFamily="34" charset="-120"/>
              </a:rPr>
              <a:t>Coarse “already programmed” check only — see previous slide.</a:t>
            </a:r>
            <a:endParaRPr lang="en-US" sz="1200" dirty="0"/>
          </a:p>
        </p:txBody>
      </p:sp>
      <p:sp>
        <p:nvSpPr>
          <p:cNvPr id="13" name="Shape 11"/>
          <p:cNvSpPr/>
          <p:nvPr/>
        </p:nvSpPr>
        <p:spPr>
          <a:xfrm>
            <a:off x="6126480" y="2990088"/>
            <a:ext cx="128016" cy="128016"/>
          </a:xfrm>
          <a:prstGeom prst="ellipse">
            <a:avLst/>
          </a:prstGeom>
          <a:solidFill>
            <a:srgbClr val="C0443A"/>
          </a:solidFill>
          <a:ln/>
        </p:spPr>
        <p:txBody>
          <a:bodyPr/>
          <a:lstStyle/>
          <a:p>
            <a:endParaRPr lang="en-US"/>
          </a:p>
        </p:txBody>
      </p:sp>
      <p:sp>
        <p:nvSpPr>
          <p:cNvPr id="14" name="Text 12"/>
          <p:cNvSpPr/>
          <p:nvPr/>
        </p:nvSpPr>
        <p:spPr>
          <a:xfrm>
            <a:off x="6419088" y="2871216"/>
            <a:ext cx="4965192" cy="365760"/>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Trash-icon path is wrong</a:t>
            </a:r>
            <a:endParaRPr lang="en-US" sz="1400" dirty="0"/>
          </a:p>
        </p:txBody>
      </p:sp>
      <p:sp>
        <p:nvSpPr>
          <p:cNvPr id="15" name="Text 13"/>
          <p:cNvSpPr/>
          <p:nvPr/>
        </p:nvSpPr>
        <p:spPr>
          <a:xfrm>
            <a:off x="6419088" y="3236976"/>
            <a:ext cx="4965192" cy="1005840"/>
          </a:xfrm>
          <a:prstGeom prst="rect">
            <a:avLst/>
          </a:prstGeom>
          <a:noFill/>
          <a:ln/>
        </p:spPr>
        <p:txBody>
          <a:bodyPr wrap="square" lIns="0" tIns="0" rIns="0" bIns="0" rtlCol="0" anchor="t"/>
          <a:lstStyle/>
          <a:p>
            <a:pPr marL="0" indent="0">
              <a:buNone/>
            </a:pPr>
            <a:r>
              <a:rPr lang="en-US" sz="1200" dirty="0">
                <a:solidFill>
                  <a:srgbClr val="44536B"/>
                </a:solidFill>
                <a:latin typeface="Calibri" pitchFamily="34" charset="0"/>
                <a:ea typeface="Calibri" pitchFamily="34" charset="-122"/>
                <a:cs typeface="Calibri" pitchFamily="34" charset="-120"/>
              </a:rPr>
              <a:t>pages/add_device_page.py references utilities\\trash.jpg, which doesn't exist — the delete-row icon renders blank.</a:t>
            </a:r>
            <a:endParaRPr lang="en-US" sz="1200" dirty="0"/>
          </a:p>
        </p:txBody>
      </p:sp>
      <p:sp>
        <p:nvSpPr>
          <p:cNvPr id="16" name="Shape 14"/>
          <p:cNvSpPr/>
          <p:nvPr/>
        </p:nvSpPr>
        <p:spPr>
          <a:xfrm>
            <a:off x="548640" y="4517136"/>
            <a:ext cx="128016" cy="128016"/>
          </a:xfrm>
          <a:prstGeom prst="ellipse">
            <a:avLst/>
          </a:prstGeom>
          <a:solidFill>
            <a:srgbClr val="C0443A"/>
          </a:solidFill>
          <a:ln/>
        </p:spPr>
        <p:txBody>
          <a:bodyPr/>
          <a:lstStyle/>
          <a:p>
            <a:endParaRPr lang="en-US"/>
          </a:p>
        </p:txBody>
      </p:sp>
      <p:sp>
        <p:nvSpPr>
          <p:cNvPr id="17" name="Text 15"/>
          <p:cNvSpPr/>
          <p:nvPr/>
        </p:nvSpPr>
        <p:spPr>
          <a:xfrm>
            <a:off x="841248" y="4398264"/>
            <a:ext cx="4965192" cy="365760"/>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ConnectionPage is unreachable</a:t>
            </a:r>
            <a:endParaRPr lang="en-US" sz="1400" dirty="0"/>
          </a:p>
        </p:txBody>
      </p:sp>
      <p:sp>
        <p:nvSpPr>
          <p:cNvPr id="18" name="Text 16"/>
          <p:cNvSpPr/>
          <p:nvPr/>
        </p:nvSpPr>
        <p:spPr>
          <a:xfrm>
            <a:off x="841248" y="4764024"/>
            <a:ext cx="4965192" cy="1005840"/>
          </a:xfrm>
          <a:prstGeom prst="rect">
            <a:avLst/>
          </a:prstGeom>
          <a:noFill/>
          <a:ln/>
        </p:spPr>
        <p:txBody>
          <a:bodyPr wrap="square" lIns="0" tIns="0" rIns="0" bIns="0" rtlCol="0" anchor="t"/>
          <a:lstStyle/>
          <a:p>
            <a:pPr marL="0" indent="0">
              <a:buNone/>
            </a:pPr>
            <a:r>
              <a:rPr lang="en-US" sz="1200" dirty="0">
                <a:solidFill>
                  <a:srgbClr val="44536B"/>
                </a:solidFill>
                <a:latin typeface="Calibri" pitchFamily="34" charset="0"/>
                <a:ea typeface="Calibri" pitchFamily="34" charset="-122"/>
                <a:cs typeface="Calibri" pitchFamily="34" charset="-120"/>
              </a:rPr>
              <a:t>Exists at index 3, but nothing navigates there — per-device cabling checkboxes do the hardware-verification job instead. OK for now. May not even use it.</a:t>
            </a:r>
            <a:endParaRPr lang="en-US" sz="1200" dirty="0"/>
          </a:p>
        </p:txBody>
      </p:sp>
      <p:sp>
        <p:nvSpPr>
          <p:cNvPr id="19" name="Shape 17"/>
          <p:cNvSpPr/>
          <p:nvPr/>
        </p:nvSpPr>
        <p:spPr>
          <a:xfrm>
            <a:off x="6126480" y="4517136"/>
            <a:ext cx="128016" cy="128016"/>
          </a:xfrm>
          <a:prstGeom prst="ellipse">
            <a:avLst/>
          </a:prstGeom>
          <a:solidFill>
            <a:srgbClr val="C0443A"/>
          </a:solidFill>
          <a:ln/>
        </p:spPr>
        <p:txBody>
          <a:bodyPr/>
          <a:lstStyle/>
          <a:p>
            <a:endParaRPr lang="en-US"/>
          </a:p>
        </p:txBody>
      </p:sp>
      <p:sp>
        <p:nvSpPr>
          <p:cNvPr id="20" name="Text 18"/>
          <p:cNvSpPr/>
          <p:nvPr/>
        </p:nvSpPr>
        <p:spPr>
          <a:xfrm>
            <a:off x="6419088" y="4398264"/>
            <a:ext cx="4965192" cy="365760"/>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subprocess.run is monkey-patched</a:t>
            </a:r>
            <a:endParaRPr lang="en-US" sz="1400" dirty="0"/>
          </a:p>
        </p:txBody>
      </p:sp>
      <p:sp>
        <p:nvSpPr>
          <p:cNvPr id="21" name="Text 19"/>
          <p:cNvSpPr/>
          <p:nvPr/>
        </p:nvSpPr>
        <p:spPr>
          <a:xfrm>
            <a:off x="6419088" y="4764024"/>
            <a:ext cx="4965192" cy="1005840"/>
          </a:xfrm>
          <a:prstGeom prst="rect">
            <a:avLst/>
          </a:prstGeom>
          <a:noFill/>
          <a:ln/>
        </p:spPr>
        <p:txBody>
          <a:bodyPr wrap="square" lIns="0" tIns="0" rIns="0" bIns="0" rtlCol="0" anchor="t"/>
          <a:lstStyle/>
          <a:p>
            <a:pPr marL="0" indent="0">
              <a:buNone/>
            </a:pPr>
            <a:r>
              <a:rPr lang="en-US" sz="1200" dirty="0">
                <a:solidFill>
                  <a:srgbClr val="44536B"/>
                </a:solidFill>
                <a:latin typeface="Calibri" pitchFamily="34" charset="0"/>
                <a:ea typeface="Calibri" pitchFamily="34" charset="-122"/>
                <a:cs typeface="Calibri" pitchFamily="34" charset="-120"/>
              </a:rPr>
              <a:t>error_log_page forces capture_output=True, check=True process-wide — including call sites that never asked for it.</a:t>
            </a:r>
            <a:endParaRPr lang="en-US" sz="1200" dirty="0"/>
          </a:p>
        </p:txBody>
      </p:sp>
      <p:sp>
        <p:nvSpPr>
          <p:cNvPr id="22" name="Text 20"/>
          <p:cNvSpPr/>
          <p:nvPr/>
        </p:nvSpPr>
        <p:spPr>
          <a:xfrm>
            <a:off x="457200" y="6473952"/>
            <a:ext cx="7315200" cy="274320"/>
          </a:xfrm>
          <a:prstGeom prst="rect">
            <a:avLst/>
          </a:prstGeom>
          <a:noFill/>
          <a:ln/>
        </p:spPr>
        <p:txBody>
          <a:bodyPr wrap="square" lIns="0" tIns="0" rIns="0" bIns="0" rtlCol="0" anchor="ctr"/>
          <a:lstStyle/>
          <a:p>
            <a:pPr marL="0" indent="0">
              <a:buNone/>
            </a:pPr>
            <a:r>
              <a:rPr lang="en-US" sz="1000" dirty="0">
                <a:solidFill>
                  <a:srgbClr val="7A879B"/>
                </a:solidFill>
                <a:latin typeface="Calibri" pitchFamily="34" charset="0"/>
                <a:ea typeface="Calibri" pitchFamily="34" charset="-122"/>
                <a:cs typeface="Calibri" pitchFamily="34" charset="-120"/>
              </a:rPr>
              <a:t>Programming Workstation — Handoff · documentation/INSTRUCTIONS.md</a:t>
            </a:r>
            <a:endParaRPr lang="en-US" sz="1000" dirty="0"/>
          </a:p>
        </p:txBody>
      </p:sp>
      <p:sp>
        <p:nvSpPr>
          <p:cNvPr id="23" name="Text 21"/>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7A879B"/>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2E9E6D"/>
                </a:solidFill>
                <a:latin typeface="Calibri" pitchFamily="34" charset="0"/>
                <a:ea typeface="Calibri" pitchFamily="34" charset="-122"/>
                <a:cs typeface="Calibri" pitchFamily="34" charset="-120"/>
              </a:rPr>
              <a:t>EXTENDING THE APP</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marL="0" indent="0" algn="l">
              <a:buNone/>
            </a:pPr>
            <a:r>
              <a:rPr lang="en-US" sz="3200" b="1" dirty="0">
                <a:solidFill>
                  <a:srgbClr val="1B2A4A"/>
                </a:solidFill>
                <a:latin typeface="Cambria" pitchFamily="34" charset="0"/>
                <a:ea typeface="Cambria" pitchFamily="34" charset="-122"/>
                <a:cs typeface="Cambria" pitchFamily="34" charset="-120"/>
              </a:rPr>
              <a:t>Adding a new device type — the contract</a:t>
            </a:r>
            <a:endParaRPr lang="en-US" sz="3200" dirty="0"/>
          </a:p>
        </p:txBody>
      </p:sp>
      <p:sp>
        <p:nvSpPr>
          <p:cNvPr id="4" name="Text 2"/>
          <p:cNvSpPr/>
          <p:nvPr/>
        </p:nvSpPr>
        <p:spPr>
          <a:xfrm>
            <a:off x="548640" y="1188720"/>
            <a:ext cx="10515600" cy="457200"/>
          </a:xfrm>
          <a:prstGeom prst="rect">
            <a:avLst/>
          </a:prstGeom>
          <a:noFill/>
          <a:ln/>
        </p:spPr>
        <p:txBody>
          <a:bodyPr wrap="square" lIns="0" tIns="0" rIns="0" bIns="0" rtlCol="0" anchor="ctr"/>
          <a:lstStyle/>
          <a:p>
            <a:pPr marL="0" indent="0">
              <a:buNone/>
            </a:pPr>
            <a:r>
              <a:rPr lang="en-US" sz="1400" dirty="0">
                <a:solidFill>
                  <a:srgbClr val="44536B"/>
                </a:solidFill>
                <a:latin typeface="Calibri" pitchFamily="34" charset="0"/>
                <a:ea typeface="Calibri" pitchFamily="34" charset="-122"/>
                <a:cs typeface="Calibri" pitchFamily="34" charset="-120"/>
              </a:rPr>
              <a:t>Nothing is enforced by an interface. Get one of these wrong and the failure is usually silent or misleading.</a:t>
            </a:r>
            <a:endParaRPr lang="en-US" sz="1400" dirty="0"/>
          </a:p>
        </p:txBody>
      </p:sp>
      <p:sp>
        <p:nvSpPr>
          <p:cNvPr id="5" name="Shape 3"/>
          <p:cNvSpPr/>
          <p:nvPr/>
        </p:nvSpPr>
        <p:spPr>
          <a:xfrm>
            <a:off x="548640" y="1828800"/>
            <a:ext cx="411480" cy="411480"/>
          </a:xfrm>
          <a:prstGeom prst="ellipse">
            <a:avLst/>
          </a:prstGeom>
          <a:solidFill>
            <a:srgbClr val="1B2A4A"/>
          </a:solidFill>
          <a:ln/>
        </p:spPr>
        <p:txBody>
          <a:bodyPr/>
          <a:lstStyle/>
          <a:p>
            <a:endParaRPr lang="en-US"/>
          </a:p>
        </p:txBody>
      </p:sp>
      <p:sp>
        <p:nvSpPr>
          <p:cNvPr id="6" name="Text 4"/>
          <p:cNvSpPr/>
          <p:nvPr/>
        </p:nvSpPr>
        <p:spPr>
          <a:xfrm>
            <a:off x="548640" y="182880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143000" y="1773936"/>
            <a:ext cx="6583680" cy="365760"/>
          </a:xfrm>
          <a:prstGeom prst="rect">
            <a:avLst/>
          </a:prstGeom>
          <a:noFill/>
          <a:ln/>
        </p:spPr>
        <p:txBody>
          <a:bodyPr wrap="square" lIns="0" tIns="0" rIns="0" bIns="0"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File is named exactly prog_dev.py</a:t>
            </a:r>
            <a:endParaRPr lang="en-US" sz="1350" dirty="0"/>
          </a:p>
        </p:txBody>
      </p:sp>
      <p:sp>
        <p:nvSpPr>
          <p:cNvPr id="8" name="Text 6"/>
          <p:cNvSpPr/>
          <p:nvPr/>
        </p:nvSpPr>
        <p:spPr>
          <a:xfrm>
            <a:off x="1143000" y="2139696"/>
            <a:ext cx="6583680" cy="365760"/>
          </a:xfrm>
          <a:prstGeom prst="rect">
            <a:avLst/>
          </a:prstGeom>
          <a:noFill/>
          <a:ln/>
        </p:spPr>
        <p:txBody>
          <a:bodyPr wrap="square" lIns="0" tIns="0" rIns="0" bIns="0" rtlCol="0" anchor="ctr"/>
          <a:lstStyle/>
          <a:p>
            <a:pPr marL="0" indent="0">
              <a:buNone/>
            </a:pPr>
            <a:r>
              <a:rPr lang="en-US" sz="1150" dirty="0">
                <a:solidFill>
                  <a:srgbClr val="7A879B"/>
                </a:solidFill>
                <a:latin typeface="Calibri" pitchFamily="34" charset="0"/>
                <a:ea typeface="Calibri" pitchFamily="34" charset="-122"/>
                <a:cs typeface="Calibri" pitchFamily="34" charset="-120"/>
              </a:rPr>
              <a:t>directly inside devices/{NAME}/</a:t>
            </a:r>
            <a:endParaRPr lang="en-US" sz="1150" dirty="0"/>
          </a:p>
        </p:txBody>
      </p:sp>
      <p:sp>
        <p:nvSpPr>
          <p:cNvPr id="9" name="Shape 7"/>
          <p:cNvSpPr/>
          <p:nvPr/>
        </p:nvSpPr>
        <p:spPr>
          <a:xfrm>
            <a:off x="548640" y="2697480"/>
            <a:ext cx="411480" cy="411480"/>
          </a:xfrm>
          <a:prstGeom prst="ellipse">
            <a:avLst/>
          </a:prstGeom>
          <a:solidFill>
            <a:srgbClr val="1B2A4A"/>
          </a:solidFill>
          <a:ln/>
        </p:spPr>
        <p:txBody>
          <a:bodyPr/>
          <a:lstStyle/>
          <a:p>
            <a:endParaRPr lang="en-US"/>
          </a:p>
        </p:txBody>
      </p:sp>
      <p:sp>
        <p:nvSpPr>
          <p:cNvPr id="10" name="Text 8"/>
          <p:cNvSpPr/>
          <p:nvPr/>
        </p:nvSpPr>
        <p:spPr>
          <a:xfrm>
            <a:off x="548640" y="26974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9"/>
          <p:cNvSpPr/>
          <p:nvPr/>
        </p:nvSpPr>
        <p:spPr>
          <a:xfrm>
            <a:off x="1143000" y="2642616"/>
            <a:ext cx="6583680" cy="365760"/>
          </a:xfrm>
          <a:prstGeom prst="rect">
            <a:avLst/>
          </a:prstGeom>
          <a:noFill/>
          <a:ln/>
        </p:spPr>
        <p:txBody>
          <a:bodyPr wrap="square" lIns="0" tIns="0" rIns="0" bIns="0"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Defines run_main_script(airport, gate, temp_pass, device)</a:t>
            </a:r>
            <a:endParaRPr lang="en-US" sz="1350" dirty="0"/>
          </a:p>
        </p:txBody>
      </p:sp>
      <p:sp>
        <p:nvSpPr>
          <p:cNvPr id="12" name="Text 10"/>
          <p:cNvSpPr/>
          <p:nvPr/>
        </p:nvSpPr>
        <p:spPr>
          <a:xfrm>
            <a:off x="1143000" y="3008376"/>
            <a:ext cx="6583680" cy="365760"/>
          </a:xfrm>
          <a:prstGeom prst="rect">
            <a:avLst/>
          </a:prstGeom>
          <a:noFill/>
          <a:ln/>
        </p:spPr>
        <p:txBody>
          <a:bodyPr wrap="square" lIns="0" tIns="0" rIns="0" bIns="0" rtlCol="0" anchor="ctr"/>
          <a:lstStyle/>
          <a:p>
            <a:pPr marL="0" indent="0">
              <a:buNone/>
            </a:pPr>
            <a:r>
              <a:rPr lang="en-US" sz="1150" dirty="0">
                <a:solidFill>
                  <a:srgbClr val="7A879B"/>
                </a:solidFill>
                <a:latin typeface="Calibri" pitchFamily="34" charset="0"/>
                <a:ea typeface="Calibri" pitchFamily="34" charset="-122"/>
                <a:cs typeface="Calibri" pitchFamily="34" charset="-120"/>
              </a:rPr>
              <a:t>four positional params, in that order</a:t>
            </a:r>
            <a:endParaRPr lang="en-US" sz="1150" dirty="0"/>
          </a:p>
        </p:txBody>
      </p:sp>
      <p:sp>
        <p:nvSpPr>
          <p:cNvPr id="13" name="Shape 11"/>
          <p:cNvSpPr/>
          <p:nvPr/>
        </p:nvSpPr>
        <p:spPr>
          <a:xfrm>
            <a:off x="548640" y="3566160"/>
            <a:ext cx="411480" cy="411480"/>
          </a:xfrm>
          <a:prstGeom prst="ellipse">
            <a:avLst/>
          </a:prstGeom>
          <a:solidFill>
            <a:srgbClr val="1B2A4A"/>
          </a:solidFill>
          <a:ln/>
        </p:spPr>
        <p:txBody>
          <a:bodyPr/>
          <a:lstStyle/>
          <a:p>
            <a:endParaRPr lang="en-US"/>
          </a:p>
        </p:txBody>
      </p:sp>
      <p:sp>
        <p:nvSpPr>
          <p:cNvPr id="14" name="Text 12"/>
          <p:cNvSpPr/>
          <p:nvPr/>
        </p:nvSpPr>
        <p:spPr>
          <a:xfrm>
            <a:off x="548640" y="35661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3"/>
          <p:cNvSpPr/>
          <p:nvPr/>
        </p:nvSpPr>
        <p:spPr>
          <a:xfrm>
            <a:off x="1143000" y="3511296"/>
            <a:ext cx="6583680" cy="365760"/>
          </a:xfrm>
          <a:prstGeom prst="rect">
            <a:avLst/>
          </a:prstGeom>
          <a:noFill/>
          <a:ln/>
        </p:spPr>
        <p:txBody>
          <a:bodyPr wrap="square" lIns="0" tIns="0" rIns="0" bIns="0"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instructions.txt has ≥ 1 non-blank line</a:t>
            </a:r>
            <a:endParaRPr lang="en-US" sz="1350" dirty="0"/>
          </a:p>
        </p:txBody>
      </p:sp>
      <p:sp>
        <p:nvSpPr>
          <p:cNvPr id="16" name="Text 14"/>
          <p:cNvSpPr/>
          <p:nvPr/>
        </p:nvSpPr>
        <p:spPr>
          <a:xfrm>
            <a:off x="1143000" y="3877056"/>
            <a:ext cx="6583680" cy="365760"/>
          </a:xfrm>
          <a:prstGeom prst="rect">
            <a:avLst/>
          </a:prstGeom>
          <a:noFill/>
          <a:ln/>
        </p:spPr>
        <p:txBody>
          <a:bodyPr wrap="square" lIns="0" tIns="0" rIns="0" bIns="0" rtlCol="0" anchor="ctr"/>
          <a:lstStyle/>
          <a:p>
            <a:pPr marL="0" indent="0">
              <a:buNone/>
            </a:pPr>
            <a:r>
              <a:rPr lang="en-US" sz="1150" dirty="0">
                <a:solidFill>
                  <a:srgbClr val="7A879B"/>
                </a:solidFill>
                <a:latin typeface="Calibri" pitchFamily="34" charset="0"/>
                <a:ea typeface="Calibri" pitchFamily="34" charset="-122"/>
                <a:cs typeface="Calibri" pitchFamily="34" charset="-120"/>
              </a:rPr>
              <a:t>no lines → no checkboxes → Program button never enables</a:t>
            </a:r>
            <a:endParaRPr lang="en-US" sz="1150" dirty="0"/>
          </a:p>
        </p:txBody>
      </p:sp>
      <p:sp>
        <p:nvSpPr>
          <p:cNvPr id="17" name="Shape 15"/>
          <p:cNvSpPr/>
          <p:nvPr/>
        </p:nvSpPr>
        <p:spPr>
          <a:xfrm>
            <a:off x="548640" y="4434840"/>
            <a:ext cx="411480" cy="411480"/>
          </a:xfrm>
          <a:prstGeom prst="ellipse">
            <a:avLst/>
          </a:prstGeom>
          <a:solidFill>
            <a:srgbClr val="1B2A4A"/>
          </a:solidFill>
          <a:ln/>
        </p:spPr>
        <p:txBody>
          <a:bodyPr/>
          <a:lstStyle/>
          <a:p>
            <a:endParaRPr lang="en-US"/>
          </a:p>
        </p:txBody>
      </p:sp>
      <p:sp>
        <p:nvSpPr>
          <p:cNvPr id="18" name="Text 16"/>
          <p:cNvSpPr/>
          <p:nvPr/>
        </p:nvSpPr>
        <p:spPr>
          <a:xfrm>
            <a:off x="548640" y="443484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9" name="Text 17"/>
          <p:cNvSpPr/>
          <p:nvPr/>
        </p:nvSpPr>
        <p:spPr>
          <a:xfrm>
            <a:off x="1143000" y="4379976"/>
            <a:ext cx="6583680" cy="365760"/>
          </a:xfrm>
          <a:prstGeom prst="rect">
            <a:avLst/>
          </a:prstGeom>
          <a:noFill/>
          <a:ln/>
        </p:spPr>
        <p:txBody>
          <a:bodyPr wrap="square" lIns="0" tIns="0" rIns="0" bIns="0" rtlCol="0" anchor="ctr"/>
          <a:lstStyle/>
          <a:p>
            <a:pPr marL="0" indent="0">
              <a:buNone/>
            </a:pPr>
            <a:r>
              <a:rPr lang="en-US" sz="1350" b="1" dirty="0">
                <a:solidFill>
                  <a:srgbClr val="1B2A4A"/>
                </a:solidFill>
                <a:latin typeface="Calibri" pitchFamily="34" charset="0"/>
                <a:ea typeface="Calibri" pitchFamily="34" charset="-122"/>
                <a:cs typeface="Calibri" pitchFamily="34" charset="-120"/>
              </a:rPr>
              <a:t>Airport sheets are .xlsx with the standard header row</a:t>
            </a:r>
            <a:endParaRPr lang="en-US" sz="1350" dirty="0"/>
          </a:p>
        </p:txBody>
      </p:sp>
      <p:sp>
        <p:nvSpPr>
          <p:cNvPr id="20" name="Text 18"/>
          <p:cNvSpPr/>
          <p:nvPr/>
        </p:nvSpPr>
        <p:spPr>
          <a:xfrm>
            <a:off x="1143000" y="4745736"/>
            <a:ext cx="6583680" cy="365760"/>
          </a:xfrm>
          <a:prstGeom prst="rect">
            <a:avLst/>
          </a:prstGeom>
          <a:noFill/>
          <a:ln/>
        </p:spPr>
        <p:txBody>
          <a:bodyPr wrap="square" lIns="0" tIns="0" rIns="0" bIns="0" rtlCol="0" anchor="ctr"/>
          <a:lstStyle/>
          <a:p>
            <a:pPr marL="0" indent="0">
              <a:buNone/>
            </a:pPr>
            <a:r>
              <a:rPr lang="en-US" sz="1150" dirty="0">
                <a:solidFill>
                  <a:srgbClr val="7A879B"/>
                </a:solidFill>
                <a:latin typeface="Calibri" pitchFamily="34" charset="0"/>
                <a:ea typeface="Calibri" pitchFamily="34" charset="-122"/>
                <a:cs typeface="Calibri" pitchFamily="34" charset="-120"/>
              </a:rPr>
              <a:t>or the dropdown just comes back empty</a:t>
            </a:r>
            <a:endParaRPr lang="en-US" sz="1150" dirty="0"/>
          </a:p>
        </p:txBody>
      </p:sp>
      <p:sp>
        <p:nvSpPr>
          <p:cNvPr id="21" name="Shape 19"/>
          <p:cNvSpPr/>
          <p:nvPr/>
        </p:nvSpPr>
        <p:spPr>
          <a:xfrm>
            <a:off x="7955280" y="1828800"/>
            <a:ext cx="3474720" cy="3566160"/>
          </a:xfrm>
          <a:prstGeom prst="roundRect">
            <a:avLst>
              <a:gd name="adj" fmla="val 2105"/>
            </a:avLst>
          </a:prstGeom>
          <a:solidFill>
            <a:srgbClr val="1B2A4A"/>
          </a:solidFill>
          <a:ln/>
          <a:effectLst>
            <a:outerShdw blurRad="76200" dist="25400" dir="5400000" algn="bl" rotWithShape="0">
              <a:srgbClr val="1B2A4A">
                <a:alpha val="18000"/>
              </a:srgbClr>
            </a:outerShdw>
          </a:effectLst>
        </p:spPr>
        <p:txBody>
          <a:bodyPr/>
          <a:lstStyle/>
          <a:p>
            <a:endParaRPr lang="en-US"/>
          </a:p>
        </p:txBody>
      </p:sp>
      <p:sp>
        <p:nvSpPr>
          <p:cNvPr id="22" name="Text 20"/>
          <p:cNvSpPr/>
          <p:nvPr/>
        </p:nvSpPr>
        <p:spPr>
          <a:xfrm>
            <a:off x="8275320" y="2103120"/>
            <a:ext cx="2834640" cy="274320"/>
          </a:xfrm>
          <a:prstGeom prst="rect">
            <a:avLst/>
          </a:prstGeom>
          <a:noFill/>
          <a:ln/>
        </p:spPr>
        <p:txBody>
          <a:bodyPr wrap="square" lIns="0" tIns="0" rIns="0" bIns="0" rtlCol="0" anchor="ctr"/>
          <a:lstStyle/>
          <a:p>
            <a:pPr marL="0" indent="0">
              <a:buNone/>
            </a:pPr>
            <a:r>
              <a:rPr lang="en-US" sz="1100" b="1" kern="0" spc="200" dirty="0">
                <a:solidFill>
                  <a:srgbClr val="2E9E6D"/>
                </a:solidFill>
                <a:latin typeface="Calibri" pitchFamily="34" charset="0"/>
                <a:ea typeface="Calibri" pitchFamily="34" charset="-122"/>
                <a:cs typeface="Calibri" pitchFamily="34" charset="-120"/>
              </a:rPr>
              <a:t>REFERENCE</a:t>
            </a:r>
            <a:endParaRPr lang="en-US" sz="1100" dirty="0"/>
          </a:p>
        </p:txBody>
      </p:sp>
      <p:sp>
        <p:nvSpPr>
          <p:cNvPr id="23" name="Text 21"/>
          <p:cNvSpPr/>
          <p:nvPr/>
        </p:nvSpPr>
        <p:spPr>
          <a:xfrm>
            <a:off x="8275320" y="2423160"/>
            <a:ext cx="2834640" cy="548640"/>
          </a:xfrm>
          <a:prstGeom prst="rect">
            <a:avLst/>
          </a:prstGeom>
          <a:noFill/>
          <a:ln/>
        </p:spPr>
        <p:txBody>
          <a:bodyPr wrap="square" lIns="0" tIns="0" rIns="0" bIns="0" rtlCol="0" anchor="ctr"/>
          <a:lstStyle/>
          <a:p>
            <a:pPr marL="0" indent="0">
              <a:buNone/>
            </a:pPr>
            <a:r>
              <a:rPr lang="en-US" sz="1300" b="1" dirty="0">
                <a:solidFill>
                  <a:srgbClr val="FFFFFF"/>
                </a:solidFill>
                <a:latin typeface="Courier New" pitchFamily="34" charset="0"/>
                <a:ea typeface="Courier New" pitchFamily="34" charset="-122"/>
                <a:cs typeface="Courier New" pitchFamily="34" charset="-120"/>
              </a:rPr>
              <a:t>devices/digiIX20/prog_dev.py</a:t>
            </a:r>
            <a:endParaRPr lang="en-US" sz="1300" dirty="0"/>
          </a:p>
        </p:txBody>
      </p:sp>
      <p:sp>
        <p:nvSpPr>
          <p:cNvPr id="24" name="Text 22"/>
          <p:cNvSpPr/>
          <p:nvPr/>
        </p:nvSpPr>
        <p:spPr>
          <a:xfrm>
            <a:off x="8275320" y="3063240"/>
            <a:ext cx="2834640" cy="2103120"/>
          </a:xfrm>
          <a:prstGeom prst="rect">
            <a:avLst/>
          </a:prstGeom>
          <a:noFill/>
          <a:ln/>
        </p:spPr>
        <p:txBody>
          <a:bodyPr wrap="square" lIns="0" tIns="0" rIns="0" bIns="0" rtlCol="0" anchor="t"/>
          <a:lstStyle/>
          <a:p>
            <a:pPr marL="0" indent="0">
              <a:buNone/>
            </a:pPr>
            <a:r>
              <a:rPr lang="en-US" sz="1200" dirty="0">
                <a:solidFill>
                  <a:srgbClr val="CADCFC"/>
                </a:solidFill>
                <a:latin typeface="Calibri" pitchFamily="34" charset="0"/>
                <a:ea typeface="Calibri" pitchFamily="34" charset="-122"/>
                <a:cs typeface="Calibri" pitchFamily="34" charset="-120"/>
              </a:rPr>
              <a:t>104 lines. Copy this, not TR's — it's the thin, current example of orchestration on the shared layer.</a:t>
            </a:r>
            <a:endParaRPr lang="en-US" sz="1200" dirty="0"/>
          </a:p>
        </p:txBody>
      </p:sp>
      <p:sp>
        <p:nvSpPr>
          <p:cNvPr id="25" name="Text 23"/>
          <p:cNvSpPr/>
          <p:nvPr/>
        </p:nvSpPr>
        <p:spPr>
          <a:xfrm>
            <a:off x="457200" y="6473952"/>
            <a:ext cx="7315200" cy="274320"/>
          </a:xfrm>
          <a:prstGeom prst="rect">
            <a:avLst/>
          </a:prstGeom>
          <a:noFill/>
          <a:ln/>
        </p:spPr>
        <p:txBody>
          <a:bodyPr wrap="square" lIns="0" tIns="0" rIns="0" bIns="0" rtlCol="0" anchor="ctr"/>
          <a:lstStyle/>
          <a:p>
            <a:pPr marL="0" indent="0">
              <a:buNone/>
            </a:pPr>
            <a:r>
              <a:rPr lang="en-US" sz="1000" dirty="0">
                <a:solidFill>
                  <a:srgbClr val="7A879B"/>
                </a:solidFill>
                <a:latin typeface="Calibri" pitchFamily="34" charset="0"/>
                <a:ea typeface="Calibri" pitchFamily="34" charset="-122"/>
                <a:cs typeface="Calibri" pitchFamily="34" charset="-120"/>
              </a:rPr>
              <a:t>Programming Workstation — Handoff · documentation/INSTRUCTIONS.md</a:t>
            </a:r>
            <a:endParaRPr lang="en-US" sz="1000" dirty="0"/>
          </a:p>
        </p:txBody>
      </p:sp>
      <p:sp>
        <p:nvSpPr>
          <p:cNvPr id="26" name="Text 24"/>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7A879B"/>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2E9E6D"/>
                </a:solidFill>
                <a:latin typeface="Calibri" pitchFamily="34" charset="0"/>
                <a:ea typeface="Calibri" pitchFamily="34" charset="-122"/>
                <a:cs typeface="Calibri" pitchFamily="34" charset="-120"/>
              </a:rPr>
              <a:t>DOCUMENTATION MAP</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marL="0" indent="0" algn="l">
              <a:buNone/>
            </a:pPr>
            <a:r>
              <a:rPr lang="en-US" sz="3200" b="1" dirty="0">
                <a:solidFill>
                  <a:srgbClr val="1B2A4A"/>
                </a:solidFill>
                <a:latin typeface="Cambria" pitchFamily="34" charset="0"/>
                <a:ea typeface="Cambria" pitchFamily="34" charset="-122"/>
                <a:cs typeface="Cambria" pitchFamily="34" charset="-120"/>
              </a:rPr>
              <a:t>Where to look, depending on the question</a:t>
            </a:r>
            <a:endParaRPr lang="en-US" sz="3200" dirty="0"/>
          </a:p>
        </p:txBody>
      </p:sp>
      <p:sp>
        <p:nvSpPr>
          <p:cNvPr id="4" name="Shape 2"/>
          <p:cNvSpPr/>
          <p:nvPr/>
        </p:nvSpPr>
        <p:spPr>
          <a:xfrm>
            <a:off x="548640" y="1508760"/>
            <a:ext cx="10881360" cy="566928"/>
          </a:xfrm>
          <a:prstGeom prst="rect">
            <a:avLst/>
          </a:prstGeom>
          <a:solidFill>
            <a:srgbClr val="F5F7FA"/>
          </a:solidFill>
          <a:ln/>
        </p:spPr>
        <p:txBody>
          <a:bodyPr/>
          <a:lstStyle/>
          <a:p>
            <a:endParaRPr lang="en-US"/>
          </a:p>
        </p:txBody>
      </p:sp>
      <p:sp>
        <p:nvSpPr>
          <p:cNvPr id="5" name="Text 3"/>
          <p:cNvSpPr/>
          <p:nvPr/>
        </p:nvSpPr>
        <p:spPr>
          <a:xfrm>
            <a:off x="822960" y="1508760"/>
            <a:ext cx="5669280" cy="566928"/>
          </a:xfrm>
          <a:prstGeom prst="rect">
            <a:avLst/>
          </a:prstGeom>
          <a:noFill/>
          <a:ln/>
        </p:spPr>
        <p:txBody>
          <a:bodyPr wrap="square" lIns="0" tIns="0" rIns="0" bIns="0" rtlCol="0" anchor="ctr"/>
          <a:lstStyle/>
          <a:p>
            <a:pPr marL="0" indent="0">
              <a:buNone/>
            </a:pPr>
            <a:r>
              <a:rPr lang="en-US" sz="1350" dirty="0">
                <a:solidFill>
                  <a:srgbClr val="44536B"/>
                </a:solidFill>
                <a:latin typeface="Calibri" pitchFamily="34" charset="0"/>
                <a:ea typeface="Calibri" pitchFamily="34" charset="-122"/>
                <a:cs typeface="Calibri" pitchFamily="34" charset="-120"/>
              </a:rPr>
              <a:t>Not a programmer, want the gist?</a:t>
            </a:r>
            <a:endParaRPr lang="en-US" sz="1350" dirty="0"/>
          </a:p>
        </p:txBody>
      </p:sp>
      <p:sp>
        <p:nvSpPr>
          <p:cNvPr id="6" name="Text 4"/>
          <p:cNvSpPr/>
          <p:nvPr/>
        </p:nvSpPr>
        <p:spPr>
          <a:xfrm>
            <a:off x="6583680" y="1508760"/>
            <a:ext cx="4663440" cy="566928"/>
          </a:xfrm>
          <a:prstGeom prst="rect">
            <a:avLst/>
          </a:prstGeom>
          <a:noFill/>
          <a:ln/>
        </p:spPr>
        <p:txBody>
          <a:bodyPr wrap="square" lIns="0" tIns="0" rIns="0" bIns="0" rtlCol="0" anchor="ctr"/>
          <a:lstStyle/>
          <a:p>
            <a:pPr marL="0" indent="0">
              <a:buNone/>
            </a:pPr>
            <a:r>
              <a:rPr lang="en-US" sz="1250" b="1" dirty="0">
                <a:solidFill>
                  <a:srgbClr val="1B2A4A"/>
                </a:solidFill>
                <a:latin typeface="Courier New" pitchFamily="34" charset="0"/>
                <a:ea typeface="Courier New" pitchFamily="34" charset="-122"/>
                <a:cs typeface="Courier New" pitchFamily="34" charset="-120"/>
              </a:rPr>
              <a:t>documentation/CHEAT_SHEET.md</a:t>
            </a:r>
            <a:endParaRPr lang="en-US" sz="1250" dirty="0"/>
          </a:p>
        </p:txBody>
      </p:sp>
      <p:sp>
        <p:nvSpPr>
          <p:cNvPr id="7" name="Text 5"/>
          <p:cNvSpPr/>
          <p:nvPr/>
        </p:nvSpPr>
        <p:spPr>
          <a:xfrm>
            <a:off x="822960" y="2075688"/>
            <a:ext cx="5669280" cy="566928"/>
          </a:xfrm>
          <a:prstGeom prst="rect">
            <a:avLst/>
          </a:prstGeom>
          <a:noFill/>
          <a:ln/>
        </p:spPr>
        <p:txBody>
          <a:bodyPr wrap="square" lIns="0" tIns="0" rIns="0" bIns="0" rtlCol="0" anchor="ctr"/>
          <a:lstStyle/>
          <a:p>
            <a:pPr marL="0" indent="0">
              <a:buNone/>
            </a:pPr>
            <a:r>
              <a:rPr lang="en-US" sz="1350" dirty="0">
                <a:solidFill>
                  <a:srgbClr val="44536B"/>
                </a:solidFill>
                <a:latin typeface="Calibri" pitchFamily="34" charset="0"/>
                <a:ea typeface="Calibri" pitchFamily="34" charset="-122"/>
                <a:cs typeface="Calibri" pitchFamily="34" charset="-120"/>
              </a:rPr>
              <a:t>Setting up a machine that's never run this?</a:t>
            </a:r>
            <a:endParaRPr lang="en-US" sz="1350" dirty="0"/>
          </a:p>
        </p:txBody>
      </p:sp>
      <p:sp>
        <p:nvSpPr>
          <p:cNvPr id="8" name="Text 6"/>
          <p:cNvSpPr/>
          <p:nvPr/>
        </p:nvSpPr>
        <p:spPr>
          <a:xfrm>
            <a:off x="6583680" y="2075688"/>
            <a:ext cx="4663440" cy="566928"/>
          </a:xfrm>
          <a:prstGeom prst="rect">
            <a:avLst/>
          </a:prstGeom>
          <a:noFill/>
          <a:ln/>
        </p:spPr>
        <p:txBody>
          <a:bodyPr wrap="square" lIns="0" tIns="0" rIns="0" bIns="0" rtlCol="0" anchor="ctr"/>
          <a:lstStyle/>
          <a:p>
            <a:pPr marL="0" indent="0">
              <a:buNone/>
            </a:pPr>
            <a:r>
              <a:rPr lang="en-US" sz="1250" b="1" dirty="0">
                <a:solidFill>
                  <a:srgbClr val="1B2A4A"/>
                </a:solidFill>
                <a:latin typeface="Courier New" pitchFamily="34" charset="0"/>
                <a:ea typeface="Courier New" pitchFamily="34" charset="-122"/>
                <a:cs typeface="Courier New" pitchFamily="34" charset="-120"/>
              </a:rPr>
              <a:t>documentation/SETUP.md</a:t>
            </a:r>
            <a:endParaRPr lang="en-US" sz="1250" dirty="0"/>
          </a:p>
        </p:txBody>
      </p:sp>
      <p:sp>
        <p:nvSpPr>
          <p:cNvPr id="9" name="Shape 7"/>
          <p:cNvSpPr/>
          <p:nvPr/>
        </p:nvSpPr>
        <p:spPr>
          <a:xfrm>
            <a:off x="548640" y="2642616"/>
            <a:ext cx="10881360" cy="566928"/>
          </a:xfrm>
          <a:prstGeom prst="rect">
            <a:avLst/>
          </a:prstGeom>
          <a:solidFill>
            <a:srgbClr val="F5F7FA"/>
          </a:solidFill>
          <a:ln/>
        </p:spPr>
        <p:txBody>
          <a:bodyPr/>
          <a:lstStyle/>
          <a:p>
            <a:endParaRPr lang="en-US"/>
          </a:p>
        </p:txBody>
      </p:sp>
      <p:sp>
        <p:nvSpPr>
          <p:cNvPr id="10" name="Text 8"/>
          <p:cNvSpPr/>
          <p:nvPr/>
        </p:nvSpPr>
        <p:spPr>
          <a:xfrm>
            <a:off x="822960" y="2642616"/>
            <a:ext cx="5669280" cy="566928"/>
          </a:xfrm>
          <a:prstGeom prst="rect">
            <a:avLst/>
          </a:prstGeom>
          <a:noFill/>
          <a:ln/>
        </p:spPr>
        <p:txBody>
          <a:bodyPr wrap="square" lIns="0" tIns="0" rIns="0" bIns="0" rtlCol="0" anchor="ctr"/>
          <a:lstStyle/>
          <a:p>
            <a:pPr marL="0" indent="0">
              <a:buNone/>
            </a:pPr>
            <a:r>
              <a:rPr lang="en-US" sz="1350" dirty="0">
                <a:solidFill>
                  <a:srgbClr val="44536B"/>
                </a:solidFill>
                <a:latin typeface="Calibri" pitchFamily="34" charset="0"/>
                <a:ea typeface="Calibri" pitchFamily="34" charset="-122"/>
                <a:cs typeface="Calibri" pitchFamily="34" charset="-120"/>
              </a:rPr>
              <a:t>Using the app day to day?</a:t>
            </a:r>
            <a:endParaRPr lang="en-US" sz="1350" dirty="0"/>
          </a:p>
        </p:txBody>
      </p:sp>
      <p:sp>
        <p:nvSpPr>
          <p:cNvPr id="11" name="Text 9"/>
          <p:cNvSpPr/>
          <p:nvPr/>
        </p:nvSpPr>
        <p:spPr>
          <a:xfrm>
            <a:off x="6583680" y="2642616"/>
            <a:ext cx="4663440" cy="566928"/>
          </a:xfrm>
          <a:prstGeom prst="rect">
            <a:avLst/>
          </a:prstGeom>
          <a:noFill/>
          <a:ln/>
        </p:spPr>
        <p:txBody>
          <a:bodyPr wrap="square" lIns="0" tIns="0" rIns="0" bIns="0" rtlCol="0" anchor="ctr"/>
          <a:lstStyle/>
          <a:p>
            <a:pPr marL="0" indent="0">
              <a:buNone/>
            </a:pPr>
            <a:r>
              <a:rPr lang="en-US" sz="1250" b="1" dirty="0">
                <a:solidFill>
                  <a:srgbClr val="1B2A4A"/>
                </a:solidFill>
                <a:latin typeface="Courier New" pitchFamily="34" charset="0"/>
                <a:ea typeface="Courier New" pitchFamily="34" charset="-122"/>
                <a:cs typeface="Courier New" pitchFamily="34" charset="-120"/>
              </a:rPr>
              <a:t>documentation/INSTRUCTIONS.md</a:t>
            </a:r>
            <a:endParaRPr lang="en-US" sz="1250" dirty="0"/>
          </a:p>
        </p:txBody>
      </p:sp>
      <p:sp>
        <p:nvSpPr>
          <p:cNvPr id="12" name="Text 10"/>
          <p:cNvSpPr/>
          <p:nvPr/>
        </p:nvSpPr>
        <p:spPr>
          <a:xfrm>
            <a:off x="822960" y="3209544"/>
            <a:ext cx="5669280" cy="566928"/>
          </a:xfrm>
          <a:prstGeom prst="rect">
            <a:avLst/>
          </a:prstGeom>
          <a:noFill/>
          <a:ln/>
        </p:spPr>
        <p:txBody>
          <a:bodyPr wrap="square" lIns="0" tIns="0" rIns="0" bIns="0" rtlCol="0" anchor="ctr"/>
          <a:lstStyle/>
          <a:p>
            <a:pPr marL="0" indent="0">
              <a:buNone/>
            </a:pPr>
            <a:r>
              <a:rPr lang="en-US" sz="1350" dirty="0">
                <a:solidFill>
                  <a:srgbClr val="44536B"/>
                </a:solidFill>
                <a:latin typeface="Calibri" pitchFamily="34" charset="0"/>
                <a:ea typeface="Calibri" pitchFamily="34" charset="-122"/>
                <a:cs typeface="Calibri" pitchFamily="34" charset="-120"/>
              </a:rPr>
              <a:t>How the files fit together?</a:t>
            </a:r>
            <a:endParaRPr lang="en-US" sz="1350" dirty="0"/>
          </a:p>
        </p:txBody>
      </p:sp>
      <p:sp>
        <p:nvSpPr>
          <p:cNvPr id="13" name="Text 11"/>
          <p:cNvSpPr/>
          <p:nvPr/>
        </p:nvSpPr>
        <p:spPr>
          <a:xfrm>
            <a:off x="6583680" y="3209544"/>
            <a:ext cx="4663440" cy="566928"/>
          </a:xfrm>
          <a:prstGeom prst="rect">
            <a:avLst/>
          </a:prstGeom>
          <a:noFill/>
          <a:ln/>
        </p:spPr>
        <p:txBody>
          <a:bodyPr wrap="square" lIns="0" tIns="0" rIns="0" bIns="0" rtlCol="0" anchor="ctr"/>
          <a:lstStyle/>
          <a:p>
            <a:pPr marL="0" indent="0">
              <a:buNone/>
            </a:pPr>
            <a:r>
              <a:rPr lang="en-US" sz="1250" b="1" dirty="0">
                <a:solidFill>
                  <a:srgbClr val="1B2A4A"/>
                </a:solidFill>
                <a:latin typeface="Courier New" pitchFamily="34" charset="0"/>
                <a:ea typeface="Courier New" pitchFamily="34" charset="-122"/>
                <a:cs typeface="Courier New" pitchFamily="34" charset="-120"/>
              </a:rPr>
              <a:t>documentation/WORKFLOW.md</a:t>
            </a:r>
            <a:endParaRPr lang="en-US" sz="1250" dirty="0"/>
          </a:p>
        </p:txBody>
      </p:sp>
      <p:sp>
        <p:nvSpPr>
          <p:cNvPr id="14" name="Shape 12"/>
          <p:cNvSpPr/>
          <p:nvPr/>
        </p:nvSpPr>
        <p:spPr>
          <a:xfrm>
            <a:off x="548640" y="3776472"/>
            <a:ext cx="10881360" cy="566928"/>
          </a:xfrm>
          <a:prstGeom prst="rect">
            <a:avLst/>
          </a:prstGeom>
          <a:solidFill>
            <a:srgbClr val="F5F7FA"/>
          </a:solidFill>
          <a:ln/>
        </p:spPr>
        <p:txBody>
          <a:bodyPr/>
          <a:lstStyle/>
          <a:p>
            <a:endParaRPr lang="en-US"/>
          </a:p>
        </p:txBody>
      </p:sp>
      <p:sp>
        <p:nvSpPr>
          <p:cNvPr id="15" name="Text 13"/>
          <p:cNvSpPr/>
          <p:nvPr/>
        </p:nvSpPr>
        <p:spPr>
          <a:xfrm>
            <a:off x="822960" y="3776472"/>
            <a:ext cx="5669280" cy="566928"/>
          </a:xfrm>
          <a:prstGeom prst="rect">
            <a:avLst/>
          </a:prstGeom>
          <a:noFill/>
          <a:ln/>
        </p:spPr>
        <p:txBody>
          <a:bodyPr wrap="square" lIns="0" tIns="0" rIns="0" bIns="0" rtlCol="0" anchor="ctr"/>
          <a:lstStyle/>
          <a:p>
            <a:pPr marL="0" indent="0">
              <a:buNone/>
            </a:pPr>
            <a:r>
              <a:rPr lang="en-US" sz="1350" dirty="0">
                <a:solidFill>
                  <a:srgbClr val="44536B"/>
                </a:solidFill>
                <a:latin typeface="Calibri" pitchFamily="34" charset="0"/>
                <a:ea typeface="Calibri" pitchFamily="34" charset="-122"/>
                <a:cs typeface="Calibri" pitchFamily="34" charset="-120"/>
              </a:rPr>
              <a:t>What a specific function does?</a:t>
            </a:r>
            <a:endParaRPr lang="en-US" sz="1350" dirty="0"/>
          </a:p>
        </p:txBody>
      </p:sp>
      <p:sp>
        <p:nvSpPr>
          <p:cNvPr id="16" name="Text 14"/>
          <p:cNvSpPr/>
          <p:nvPr/>
        </p:nvSpPr>
        <p:spPr>
          <a:xfrm>
            <a:off x="6583680" y="3776472"/>
            <a:ext cx="4663440" cy="566928"/>
          </a:xfrm>
          <a:prstGeom prst="rect">
            <a:avLst/>
          </a:prstGeom>
          <a:noFill/>
          <a:ln/>
        </p:spPr>
        <p:txBody>
          <a:bodyPr wrap="square" lIns="0" tIns="0" rIns="0" bIns="0" rtlCol="0" anchor="ctr"/>
          <a:lstStyle/>
          <a:p>
            <a:pPr marL="0" indent="0">
              <a:buNone/>
            </a:pPr>
            <a:r>
              <a:rPr lang="en-US" sz="1250" b="1" dirty="0">
                <a:solidFill>
                  <a:srgbClr val="1B2A4A"/>
                </a:solidFill>
                <a:latin typeface="Courier New" pitchFamily="34" charset="0"/>
                <a:ea typeface="Courier New" pitchFamily="34" charset="-122"/>
                <a:cs typeface="Courier New" pitchFamily="34" charset="-120"/>
              </a:rPr>
              <a:t>documentation/CODE_EXPLAIN.md</a:t>
            </a:r>
            <a:endParaRPr lang="en-US" sz="1250" dirty="0"/>
          </a:p>
        </p:txBody>
      </p:sp>
      <p:sp>
        <p:nvSpPr>
          <p:cNvPr id="17" name="Text 15"/>
          <p:cNvSpPr/>
          <p:nvPr/>
        </p:nvSpPr>
        <p:spPr>
          <a:xfrm>
            <a:off x="822960" y="4343400"/>
            <a:ext cx="5669280" cy="566928"/>
          </a:xfrm>
          <a:prstGeom prst="rect">
            <a:avLst/>
          </a:prstGeom>
          <a:noFill/>
          <a:ln/>
        </p:spPr>
        <p:txBody>
          <a:bodyPr wrap="square" lIns="0" tIns="0" rIns="0" bIns="0" rtlCol="0" anchor="ctr"/>
          <a:lstStyle/>
          <a:p>
            <a:pPr marL="0" indent="0">
              <a:buNone/>
            </a:pPr>
            <a:r>
              <a:rPr lang="en-US" sz="1350" dirty="0">
                <a:solidFill>
                  <a:srgbClr val="44536B"/>
                </a:solidFill>
                <a:latin typeface="Calibri" pitchFamily="34" charset="0"/>
                <a:ea typeface="Calibri" pitchFamily="34" charset="-122"/>
                <a:cs typeface="Calibri" pitchFamily="34" charset="-120"/>
              </a:rPr>
              <a:t>Working on the Teltonika specifically?</a:t>
            </a:r>
            <a:endParaRPr lang="en-US" sz="1350" dirty="0"/>
          </a:p>
        </p:txBody>
      </p:sp>
      <p:sp>
        <p:nvSpPr>
          <p:cNvPr id="18" name="Text 16"/>
          <p:cNvSpPr/>
          <p:nvPr/>
        </p:nvSpPr>
        <p:spPr>
          <a:xfrm>
            <a:off x="6583680" y="4343400"/>
            <a:ext cx="4663440" cy="566928"/>
          </a:xfrm>
          <a:prstGeom prst="rect">
            <a:avLst/>
          </a:prstGeom>
          <a:noFill/>
          <a:ln/>
        </p:spPr>
        <p:txBody>
          <a:bodyPr wrap="square" lIns="0" tIns="0" rIns="0" bIns="0" rtlCol="0" anchor="ctr"/>
          <a:lstStyle/>
          <a:p>
            <a:pPr marL="0" indent="0">
              <a:buNone/>
            </a:pPr>
            <a:r>
              <a:rPr lang="en-US" sz="1250" b="1" dirty="0">
                <a:solidFill>
                  <a:srgbClr val="1B2A4A"/>
                </a:solidFill>
                <a:latin typeface="Courier New" pitchFamily="34" charset="0"/>
                <a:ea typeface="Courier New" pitchFamily="34" charset="-122"/>
                <a:cs typeface="Courier New" pitchFamily="34" charset="-120"/>
              </a:rPr>
              <a:t>devices/TR/documentation/</a:t>
            </a:r>
            <a:endParaRPr lang="en-US" sz="1250" dirty="0"/>
          </a:p>
        </p:txBody>
      </p:sp>
      <p:sp>
        <p:nvSpPr>
          <p:cNvPr id="19" name="Shape 17"/>
          <p:cNvSpPr/>
          <p:nvPr/>
        </p:nvSpPr>
        <p:spPr>
          <a:xfrm>
            <a:off x="548640" y="4910328"/>
            <a:ext cx="10881360" cy="566928"/>
          </a:xfrm>
          <a:prstGeom prst="rect">
            <a:avLst/>
          </a:prstGeom>
          <a:solidFill>
            <a:srgbClr val="F5F7FA"/>
          </a:solidFill>
          <a:ln/>
        </p:spPr>
        <p:txBody>
          <a:bodyPr/>
          <a:lstStyle/>
          <a:p>
            <a:endParaRPr lang="en-US"/>
          </a:p>
        </p:txBody>
      </p:sp>
      <p:sp>
        <p:nvSpPr>
          <p:cNvPr id="20" name="Text 18"/>
          <p:cNvSpPr/>
          <p:nvPr/>
        </p:nvSpPr>
        <p:spPr>
          <a:xfrm>
            <a:off x="822960" y="4910328"/>
            <a:ext cx="5669280" cy="566928"/>
          </a:xfrm>
          <a:prstGeom prst="rect">
            <a:avLst/>
          </a:prstGeom>
          <a:noFill/>
          <a:ln/>
        </p:spPr>
        <p:txBody>
          <a:bodyPr wrap="square" lIns="0" tIns="0" rIns="0" bIns="0" rtlCol="0" anchor="ctr"/>
          <a:lstStyle/>
          <a:p>
            <a:pPr marL="0" indent="0">
              <a:buNone/>
            </a:pPr>
            <a:r>
              <a:rPr lang="en-US" sz="1350" dirty="0">
                <a:solidFill>
                  <a:srgbClr val="44536B"/>
                </a:solidFill>
                <a:latin typeface="Calibri" pitchFamily="34" charset="0"/>
                <a:ea typeface="Calibri" pitchFamily="34" charset="-122"/>
                <a:cs typeface="Calibri" pitchFamily="34" charset="-120"/>
              </a:rPr>
              <a:t>Weird TR failure, seen it before?</a:t>
            </a:r>
            <a:endParaRPr lang="en-US" sz="1350" dirty="0"/>
          </a:p>
        </p:txBody>
      </p:sp>
      <p:sp>
        <p:nvSpPr>
          <p:cNvPr id="21" name="Text 19"/>
          <p:cNvSpPr/>
          <p:nvPr/>
        </p:nvSpPr>
        <p:spPr>
          <a:xfrm>
            <a:off x="6583680" y="4910328"/>
            <a:ext cx="4663440" cy="566928"/>
          </a:xfrm>
          <a:prstGeom prst="rect">
            <a:avLst/>
          </a:prstGeom>
          <a:noFill/>
          <a:ln/>
        </p:spPr>
        <p:txBody>
          <a:bodyPr wrap="square" lIns="0" tIns="0" rIns="0" bIns="0" rtlCol="0" anchor="ctr"/>
          <a:lstStyle/>
          <a:p>
            <a:pPr marL="0" indent="0">
              <a:buNone/>
            </a:pPr>
            <a:r>
              <a:rPr lang="en-US" sz="1250" b="1" dirty="0">
                <a:solidFill>
                  <a:srgbClr val="1B2A4A"/>
                </a:solidFill>
                <a:latin typeface="Courier New" pitchFamily="34" charset="0"/>
                <a:ea typeface="Courier New" pitchFamily="34" charset="-122"/>
                <a:cs typeface="Courier New" pitchFamily="34" charset="-120"/>
              </a:rPr>
              <a:t>devices/TR/debugging.md</a:t>
            </a:r>
            <a:endParaRPr lang="en-US" sz="1250" dirty="0"/>
          </a:p>
        </p:txBody>
      </p:sp>
      <p:sp>
        <p:nvSpPr>
          <p:cNvPr id="22" name="Text 20"/>
          <p:cNvSpPr/>
          <p:nvPr/>
        </p:nvSpPr>
        <p:spPr>
          <a:xfrm>
            <a:off x="457200" y="6473952"/>
            <a:ext cx="7315200" cy="274320"/>
          </a:xfrm>
          <a:prstGeom prst="rect">
            <a:avLst/>
          </a:prstGeom>
          <a:noFill/>
          <a:ln/>
        </p:spPr>
        <p:txBody>
          <a:bodyPr wrap="square" lIns="0" tIns="0" rIns="0" bIns="0" rtlCol="0" anchor="ctr"/>
          <a:lstStyle/>
          <a:p>
            <a:pPr marL="0" indent="0">
              <a:buNone/>
            </a:pPr>
            <a:r>
              <a:rPr lang="en-US" sz="1000" dirty="0">
                <a:solidFill>
                  <a:srgbClr val="7A879B"/>
                </a:solidFill>
                <a:latin typeface="Calibri" pitchFamily="34" charset="0"/>
                <a:ea typeface="Calibri" pitchFamily="34" charset="-122"/>
                <a:cs typeface="Calibri" pitchFamily="34" charset="-120"/>
              </a:rPr>
              <a:t>Programming Workstation — Handoff</a:t>
            </a:r>
            <a:endParaRPr lang="en-US" sz="1000" dirty="0"/>
          </a:p>
        </p:txBody>
      </p:sp>
      <p:sp>
        <p:nvSpPr>
          <p:cNvPr id="23" name="Text 21"/>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7A879B"/>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2E9E6D"/>
                </a:solidFill>
                <a:latin typeface="Calibri" pitchFamily="34" charset="0"/>
                <a:ea typeface="Calibri" pitchFamily="34" charset="-122"/>
                <a:cs typeface="Calibri" pitchFamily="34" charset="-120"/>
              </a:rPr>
              <a:t>DAY ONE COMMANDS</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marL="0" indent="0" algn="l">
              <a:buNone/>
            </a:pPr>
            <a:r>
              <a:rPr lang="en-US" sz="3200" b="1" dirty="0">
                <a:solidFill>
                  <a:srgbClr val="1B2A4A"/>
                </a:solidFill>
                <a:latin typeface="Cambria" pitchFamily="34" charset="0"/>
                <a:ea typeface="Cambria" pitchFamily="34" charset="-122"/>
                <a:cs typeface="Cambria" pitchFamily="34" charset="-120"/>
              </a:rPr>
              <a:t>Getting started</a:t>
            </a:r>
            <a:endParaRPr lang="en-US" sz="3200" dirty="0"/>
          </a:p>
        </p:txBody>
      </p:sp>
      <p:sp>
        <p:nvSpPr>
          <p:cNvPr id="4" name="Shape 2"/>
          <p:cNvSpPr/>
          <p:nvPr/>
        </p:nvSpPr>
        <p:spPr>
          <a:xfrm>
            <a:off x="548640" y="1508760"/>
            <a:ext cx="10881360" cy="1371600"/>
          </a:xfrm>
          <a:prstGeom prst="roundRect">
            <a:avLst>
              <a:gd name="adj" fmla="val 5333"/>
            </a:avLst>
          </a:prstGeom>
          <a:solidFill>
            <a:srgbClr val="1B2A4A"/>
          </a:solidFill>
          <a:ln/>
          <a:effectLst>
            <a:outerShdw blurRad="76200" dist="25400" dir="5400000" algn="bl" rotWithShape="0">
              <a:srgbClr val="1B2A4A">
                <a:alpha val="18000"/>
              </a:srgbClr>
            </a:outerShdw>
          </a:effectLst>
        </p:spPr>
        <p:txBody>
          <a:bodyPr/>
          <a:lstStyle/>
          <a:p>
            <a:endParaRPr lang="en-US"/>
          </a:p>
        </p:txBody>
      </p:sp>
      <p:sp>
        <p:nvSpPr>
          <p:cNvPr id="5" name="Text 3"/>
          <p:cNvSpPr/>
          <p:nvPr/>
        </p:nvSpPr>
        <p:spPr>
          <a:xfrm>
            <a:off x="868680" y="1691640"/>
            <a:ext cx="3657600" cy="365760"/>
          </a:xfrm>
          <a:prstGeom prst="rect">
            <a:avLst/>
          </a:prstGeom>
          <a:noFill/>
          <a:ln/>
        </p:spPr>
        <p:txBody>
          <a:bodyPr wrap="square" lIns="0" tIns="0" rIns="0" bIns="0" rtlCol="0" anchor="ctr"/>
          <a:lstStyle/>
          <a:p>
            <a:pPr marL="0" indent="0">
              <a:buNone/>
            </a:pPr>
            <a:r>
              <a:rPr lang="en-US" sz="1400" b="1" dirty="0">
                <a:solidFill>
                  <a:srgbClr val="2E9E6D"/>
                </a:solidFill>
                <a:latin typeface="Cambria" pitchFamily="34" charset="0"/>
                <a:ea typeface="Cambria" pitchFamily="34" charset="-122"/>
                <a:cs typeface="Cambria" pitchFamily="34" charset="-120"/>
              </a:rPr>
              <a:t>Run the app</a:t>
            </a:r>
            <a:endParaRPr lang="en-US" sz="1400" dirty="0"/>
          </a:p>
        </p:txBody>
      </p:sp>
      <p:sp>
        <p:nvSpPr>
          <p:cNvPr id="6" name="Text 4"/>
          <p:cNvSpPr/>
          <p:nvPr/>
        </p:nvSpPr>
        <p:spPr>
          <a:xfrm>
            <a:off x="868680" y="2057400"/>
            <a:ext cx="10241280" cy="457200"/>
          </a:xfrm>
          <a:prstGeom prst="rect">
            <a:avLst/>
          </a:prstGeom>
          <a:noFill/>
          <a:ln/>
        </p:spPr>
        <p:txBody>
          <a:bodyPr wrap="square" lIns="0" tIns="0" rIns="0" bIns="0" rtlCol="0" anchor="ctr"/>
          <a:lstStyle/>
          <a:p>
            <a:pPr marL="0" indent="0">
              <a:buNone/>
            </a:pPr>
            <a:r>
              <a:rPr lang="en-US" sz="1500" dirty="0">
                <a:solidFill>
                  <a:srgbClr val="FFFFFF"/>
                </a:solidFill>
                <a:latin typeface="Courier New" pitchFamily="34" charset="0"/>
                <a:ea typeface="Courier New" pitchFamily="34" charset="-122"/>
                <a:cs typeface="Courier New" pitchFamily="34" charset="-120"/>
              </a:rPr>
              <a:t>./venv/Scripts/python.exe main.py</a:t>
            </a:r>
            <a:endParaRPr lang="en-US" sz="1500" dirty="0"/>
          </a:p>
        </p:txBody>
      </p:sp>
      <p:sp>
        <p:nvSpPr>
          <p:cNvPr id="7" name="Text 5"/>
          <p:cNvSpPr/>
          <p:nvPr/>
        </p:nvSpPr>
        <p:spPr>
          <a:xfrm>
            <a:off x="868680" y="2514600"/>
            <a:ext cx="10241280" cy="320040"/>
          </a:xfrm>
          <a:prstGeom prst="rect">
            <a:avLst/>
          </a:prstGeom>
          <a:noFill/>
          <a:ln/>
        </p:spPr>
        <p:txBody>
          <a:bodyPr wrap="square" lIns="0" tIns="0" rIns="0" bIns="0" rtlCol="0" anchor="ctr"/>
          <a:lstStyle/>
          <a:p>
            <a:pPr marL="0" indent="0">
              <a:buNone/>
            </a:pPr>
            <a:r>
              <a:rPr lang="en-US" sz="1150" dirty="0">
                <a:solidFill>
                  <a:srgbClr val="CADCFC"/>
                </a:solidFill>
                <a:latin typeface="Calibri" pitchFamily="34" charset="0"/>
                <a:ea typeface="Calibri" pitchFamily="34" charset="-122"/>
                <a:cs typeface="Calibri" pitchFamily="34" charset="-120"/>
              </a:rPr>
              <a:t>Windows will show a UAC prompt — the Digi flow needs admin rights to reconfigure this PC's network adapter.</a:t>
            </a:r>
            <a:endParaRPr lang="en-US" sz="1150" dirty="0"/>
          </a:p>
        </p:txBody>
      </p:sp>
      <p:sp>
        <p:nvSpPr>
          <p:cNvPr id="8" name="Shape 6"/>
          <p:cNvSpPr/>
          <p:nvPr/>
        </p:nvSpPr>
        <p:spPr>
          <a:xfrm>
            <a:off x="548640" y="3063240"/>
            <a:ext cx="10881360" cy="1371600"/>
          </a:xfrm>
          <a:prstGeom prst="roundRect">
            <a:avLst>
              <a:gd name="adj" fmla="val 5333"/>
            </a:avLst>
          </a:prstGeom>
          <a:solidFill>
            <a:srgbClr val="F5F7FA"/>
          </a:solidFill>
          <a:ln/>
          <a:effectLst>
            <a:outerShdw blurRad="76200" dist="25400" dir="5400000" algn="bl" rotWithShape="0">
              <a:srgbClr val="1B2A4A">
                <a:alpha val="18000"/>
              </a:srgbClr>
            </a:outerShdw>
          </a:effectLst>
        </p:spPr>
        <p:txBody>
          <a:bodyPr/>
          <a:lstStyle/>
          <a:p>
            <a:endParaRPr lang="en-US"/>
          </a:p>
        </p:txBody>
      </p:sp>
      <p:sp>
        <p:nvSpPr>
          <p:cNvPr id="9" name="Text 7"/>
          <p:cNvSpPr/>
          <p:nvPr/>
        </p:nvSpPr>
        <p:spPr>
          <a:xfrm>
            <a:off x="868680" y="3246120"/>
            <a:ext cx="3657600" cy="365760"/>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Run the test suite</a:t>
            </a:r>
            <a:endParaRPr lang="en-US" sz="1400" dirty="0"/>
          </a:p>
        </p:txBody>
      </p:sp>
      <p:sp>
        <p:nvSpPr>
          <p:cNvPr id="10" name="Text 8"/>
          <p:cNvSpPr/>
          <p:nvPr/>
        </p:nvSpPr>
        <p:spPr>
          <a:xfrm>
            <a:off x="868680" y="3611880"/>
            <a:ext cx="10241280" cy="457200"/>
          </a:xfrm>
          <a:prstGeom prst="rect">
            <a:avLst/>
          </a:prstGeom>
          <a:noFill/>
          <a:ln/>
        </p:spPr>
        <p:txBody>
          <a:bodyPr wrap="square" lIns="0" tIns="0" rIns="0" bIns="0" rtlCol="0" anchor="ctr"/>
          <a:lstStyle/>
          <a:p>
            <a:pPr marL="0" indent="0">
              <a:buNone/>
            </a:pPr>
            <a:r>
              <a:rPr lang="en-US" sz="1500" dirty="0">
                <a:solidFill>
                  <a:srgbClr val="1B2A4A"/>
                </a:solidFill>
                <a:latin typeface="Courier New" pitchFamily="34" charset="0"/>
                <a:ea typeface="Courier New" pitchFamily="34" charset="-122"/>
                <a:cs typeface="Courier New" pitchFamily="34" charset="-120"/>
              </a:rPr>
              <a:t>./venv/Scripts/python.exe -m pytest tests/</a:t>
            </a:r>
            <a:endParaRPr lang="en-US" sz="1500" dirty="0"/>
          </a:p>
        </p:txBody>
      </p:sp>
      <p:sp>
        <p:nvSpPr>
          <p:cNvPr id="11" name="Text 9"/>
          <p:cNvSpPr/>
          <p:nvPr/>
        </p:nvSpPr>
        <p:spPr>
          <a:xfrm>
            <a:off x="868680" y="4069080"/>
            <a:ext cx="10241280" cy="320040"/>
          </a:xfrm>
          <a:prstGeom prst="rect">
            <a:avLst/>
          </a:prstGeom>
          <a:noFill/>
          <a:ln/>
        </p:spPr>
        <p:txBody>
          <a:bodyPr wrap="square" lIns="0" tIns="0" rIns="0" bIns="0" rtlCol="0" anchor="ctr"/>
          <a:lstStyle/>
          <a:p>
            <a:pPr marL="0" indent="0">
              <a:buNone/>
            </a:pPr>
            <a:r>
              <a:rPr lang="en-US" sz="1150" dirty="0">
                <a:solidFill>
                  <a:srgbClr val="44536B"/>
                </a:solidFill>
                <a:latin typeface="Calibri" pitchFamily="34" charset="0"/>
                <a:ea typeface="Calibri" pitchFamily="34" charset="-122"/>
                <a:cs typeface="Calibri" pitchFamily="34" charset="-120"/>
              </a:rPr>
              <a:t>From the repo root, as a module — there's no conftest.py adding it to sys.path. All 83 tests should pass; a failure is a real regression.</a:t>
            </a:r>
            <a:endParaRPr lang="en-US" sz="1150" dirty="0"/>
          </a:p>
        </p:txBody>
      </p:sp>
      <p:sp>
        <p:nvSpPr>
          <p:cNvPr id="12" name="Shape 10"/>
          <p:cNvSpPr/>
          <p:nvPr/>
        </p:nvSpPr>
        <p:spPr>
          <a:xfrm>
            <a:off x="548640" y="4617720"/>
            <a:ext cx="10881360" cy="1371600"/>
          </a:xfrm>
          <a:prstGeom prst="roundRect">
            <a:avLst>
              <a:gd name="adj" fmla="val 5333"/>
            </a:avLst>
          </a:prstGeom>
          <a:solidFill>
            <a:srgbClr val="F5F7FA"/>
          </a:solidFill>
          <a:ln/>
          <a:effectLst>
            <a:outerShdw blurRad="76200" dist="25400" dir="5400000" algn="bl" rotWithShape="0">
              <a:srgbClr val="1B2A4A">
                <a:alpha val="18000"/>
              </a:srgbClr>
            </a:outerShdw>
          </a:effectLst>
        </p:spPr>
        <p:txBody>
          <a:bodyPr/>
          <a:lstStyle/>
          <a:p>
            <a:endParaRPr lang="en-US"/>
          </a:p>
        </p:txBody>
      </p:sp>
      <p:sp>
        <p:nvSpPr>
          <p:cNvPr id="13" name="Text 11"/>
          <p:cNvSpPr/>
          <p:nvPr/>
        </p:nvSpPr>
        <p:spPr>
          <a:xfrm>
            <a:off x="868680" y="4800600"/>
            <a:ext cx="3657600" cy="365760"/>
          </a:xfrm>
          <a:prstGeom prst="rect">
            <a:avLst/>
          </a:prstGeom>
          <a:noFill/>
          <a:ln/>
        </p:spPr>
        <p:txBody>
          <a:bodyPr wrap="square" lIns="0" tIns="0" rIns="0" bIns="0" rtlCol="0" anchor="ctr"/>
          <a:lstStyle/>
          <a:p>
            <a:pPr marL="0" indent="0">
              <a:buNone/>
            </a:pPr>
            <a:r>
              <a:rPr lang="en-US" sz="1400" b="1" dirty="0">
                <a:solidFill>
                  <a:srgbClr val="1B2A4A"/>
                </a:solidFill>
                <a:latin typeface="Cambria" pitchFamily="34" charset="0"/>
                <a:ea typeface="Cambria" pitchFamily="34" charset="-122"/>
                <a:cs typeface="Cambria" pitchFamily="34" charset="-120"/>
              </a:rPr>
              <a:t>Where things live</a:t>
            </a:r>
            <a:endParaRPr lang="en-US" sz="1400" dirty="0"/>
          </a:p>
        </p:txBody>
      </p:sp>
      <p:sp>
        <p:nvSpPr>
          <p:cNvPr id="14" name="Text 12"/>
          <p:cNvSpPr/>
          <p:nvPr/>
        </p:nvSpPr>
        <p:spPr>
          <a:xfrm>
            <a:off x="868680" y="5166360"/>
            <a:ext cx="10241280" cy="640080"/>
          </a:xfrm>
          <a:prstGeom prst="rect">
            <a:avLst/>
          </a:prstGeom>
          <a:noFill/>
          <a:ln/>
        </p:spPr>
        <p:txBody>
          <a:bodyPr wrap="square" lIns="0" tIns="0" rIns="0" bIns="0" rtlCol="0" anchor="t"/>
          <a:lstStyle/>
          <a:p>
            <a:pPr marL="0" indent="0">
              <a:buNone/>
            </a:pPr>
            <a:r>
              <a:rPr lang="en-US" sz="1300" dirty="0">
                <a:solidFill>
                  <a:srgbClr val="44536B"/>
                </a:solidFill>
                <a:latin typeface="Calibri" pitchFamily="34" charset="0"/>
                <a:ea typeface="Calibri" pitchFamily="34" charset="-122"/>
                <a:cs typeface="Calibri" pitchFamily="34" charset="-120"/>
              </a:rPr>
              <a:t>No linter/formatter config exists in this repo — don't invent style-check commands. venv/ is Python 3.13 with PyQt5, paramiko, openpyxl, ping3, pytest, pyinstaller.</a:t>
            </a:r>
            <a:endParaRPr lang="en-US" sz="1300" dirty="0"/>
          </a:p>
        </p:txBody>
      </p:sp>
      <p:sp>
        <p:nvSpPr>
          <p:cNvPr id="15" name="Text 13"/>
          <p:cNvSpPr/>
          <p:nvPr/>
        </p:nvSpPr>
        <p:spPr>
          <a:xfrm>
            <a:off x="457200" y="6473952"/>
            <a:ext cx="7315200" cy="274320"/>
          </a:xfrm>
          <a:prstGeom prst="rect">
            <a:avLst/>
          </a:prstGeom>
          <a:noFill/>
          <a:ln/>
        </p:spPr>
        <p:txBody>
          <a:bodyPr wrap="square" lIns="0" tIns="0" rIns="0" bIns="0" rtlCol="0" anchor="ctr"/>
          <a:lstStyle/>
          <a:p>
            <a:pPr marL="0" indent="0">
              <a:buNone/>
            </a:pPr>
            <a:r>
              <a:rPr lang="en-US" sz="1000" dirty="0">
                <a:solidFill>
                  <a:srgbClr val="7A879B"/>
                </a:solidFill>
                <a:latin typeface="Calibri" pitchFamily="34" charset="0"/>
                <a:ea typeface="Calibri" pitchFamily="34" charset="-122"/>
                <a:cs typeface="Calibri" pitchFamily="34" charset="-120"/>
              </a:rPr>
              <a:t>Programming Workstation — Handoff · documentation/SETUP.md</a:t>
            </a:r>
            <a:endParaRPr lang="en-US" sz="1000" dirty="0"/>
          </a:p>
        </p:txBody>
      </p:sp>
      <p:sp>
        <p:nvSpPr>
          <p:cNvPr id="16" name="Text 14"/>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7A879B"/>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2286000" y="-2286000"/>
            <a:ext cx="5486400" cy="5486400"/>
          </a:xfrm>
          <a:prstGeom prst="ellipse">
            <a:avLst/>
          </a:prstGeom>
          <a:solidFill>
            <a:srgbClr val="13203A"/>
          </a:solidFill>
          <a:ln/>
        </p:spPr>
        <p:txBody>
          <a:bodyPr/>
          <a:lstStyle/>
          <a:p>
            <a:endParaRPr lang="en-US"/>
          </a:p>
        </p:txBody>
      </p:sp>
      <p:sp>
        <p:nvSpPr>
          <p:cNvPr id="3" name="Text 1"/>
          <p:cNvSpPr/>
          <p:nvPr/>
        </p:nvSpPr>
        <p:spPr>
          <a:xfrm>
            <a:off x="548640" y="164592"/>
            <a:ext cx="7315200" cy="274320"/>
          </a:xfrm>
          <a:prstGeom prst="rect">
            <a:avLst/>
          </a:prstGeom>
          <a:noFill/>
          <a:ln/>
        </p:spPr>
        <p:txBody>
          <a:bodyPr wrap="square" lIns="0" tIns="0" rIns="0" bIns="0" rtlCol="0" anchor="ctr"/>
          <a:lstStyle/>
          <a:p>
            <a:pPr marL="0" indent="0">
              <a:buNone/>
            </a:pPr>
            <a:r>
              <a:rPr lang="en-US" sz="1200" b="1" kern="0" spc="200" dirty="0">
                <a:solidFill>
                  <a:srgbClr val="2E9E6D"/>
                </a:solidFill>
                <a:latin typeface="Calibri" pitchFamily="34" charset="0"/>
                <a:ea typeface="Calibri" pitchFamily="34" charset="-122"/>
                <a:cs typeface="Calibri" pitchFamily="34" charset="-120"/>
              </a:rPr>
              <a:t>HANDOFF COMPLETE</a:t>
            </a:r>
            <a:endParaRPr lang="en-US" sz="1200" dirty="0"/>
          </a:p>
        </p:txBody>
      </p:sp>
      <p:sp>
        <p:nvSpPr>
          <p:cNvPr id="4" name="Text 2"/>
          <p:cNvSpPr/>
          <p:nvPr/>
        </p:nvSpPr>
        <p:spPr>
          <a:xfrm>
            <a:off x="731520" y="2011680"/>
            <a:ext cx="9144000" cy="100584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Over to you.</a:t>
            </a:r>
            <a:endParaRPr lang="en-US" sz="4200" dirty="0"/>
          </a:p>
        </p:txBody>
      </p:sp>
      <p:sp>
        <p:nvSpPr>
          <p:cNvPr id="5" name="Text 3"/>
          <p:cNvSpPr/>
          <p:nvPr/>
        </p:nvSpPr>
        <p:spPr>
          <a:xfrm>
            <a:off x="731520" y="3063240"/>
            <a:ext cx="8686800" cy="1188720"/>
          </a:xfrm>
          <a:prstGeom prst="rect">
            <a:avLst/>
          </a:prstGeom>
          <a:noFill/>
          <a:ln/>
        </p:spPr>
        <p:txBody>
          <a:bodyPr wrap="square" lIns="0" tIns="0" rIns="0" bIns="0" rtlCol="0" anchor="ctr"/>
          <a:lstStyle/>
          <a:p>
            <a:pPr marL="0" indent="0">
              <a:lnSpc>
                <a:spcPct val="130000"/>
              </a:lnSpc>
              <a:buNone/>
            </a:pPr>
            <a:r>
              <a:rPr lang="en-US" sz="1600" dirty="0">
                <a:solidFill>
                  <a:srgbClr val="CADCFC"/>
                </a:solidFill>
                <a:latin typeface="Calibri" pitchFamily="34" charset="0"/>
                <a:ea typeface="Calibri" pitchFamily="34" charset="-122"/>
                <a:cs typeface="Calibri" pitchFamily="34" charset="-120"/>
              </a:rPr>
              <a:t>Both devices are fully migrated onto the shared layer, 83 tests pass, and the documentation set is current as of this commit. Start with the Cheat Sheet, keep the shared layer shared, and ping me with questions before Friday.</a:t>
            </a:r>
            <a:endParaRPr lang="en-US" sz="1600" dirty="0"/>
          </a:p>
        </p:txBody>
      </p:sp>
      <p:sp>
        <p:nvSpPr>
          <p:cNvPr id="6" name="Text 4"/>
          <p:cNvSpPr/>
          <p:nvPr/>
        </p:nvSpPr>
        <p:spPr>
          <a:xfrm>
            <a:off x="731520" y="6035040"/>
            <a:ext cx="7315200" cy="365760"/>
          </a:xfrm>
          <a:prstGeom prst="rect">
            <a:avLst/>
          </a:prstGeom>
          <a:noFill/>
          <a:ln/>
        </p:spPr>
        <p:txBody>
          <a:bodyPr wrap="square" lIns="0" tIns="0" rIns="0" bIns="0" rtlCol="0" anchor="ctr"/>
          <a:lstStyle/>
          <a:p>
            <a:pPr marL="0" indent="0">
              <a:buNone/>
            </a:pPr>
            <a:r>
              <a:rPr lang="en-US" sz="1300" dirty="0">
                <a:solidFill>
                  <a:srgbClr val="8A98B5"/>
                </a:solidFill>
                <a:latin typeface="Calibri" pitchFamily="34" charset="0"/>
                <a:ea typeface="Calibri" pitchFamily="34" charset="-122"/>
                <a:cs typeface="Calibri" pitchFamily="34" charset="-120"/>
              </a:rPr>
              <a:t>Nate Lehnhof   ·   n.lehnhof01@gmail.com</a:t>
            </a:r>
            <a:endParaRPr lang="en-US" sz="1300" dirty="0"/>
          </a:p>
        </p:txBody>
      </p:sp>
      <p:sp>
        <p:nvSpPr>
          <p:cNvPr id="7" name="Text 5"/>
          <p:cNvSpPr/>
          <p:nvPr/>
        </p:nvSpPr>
        <p:spPr>
          <a:xfrm>
            <a:off x="11368735" y="6473952"/>
            <a:ext cx="457200" cy="274320"/>
          </a:xfrm>
          <a:prstGeom prst="rect">
            <a:avLst/>
          </a:prstGeom>
          <a:noFill/>
          <a:ln/>
        </p:spPr>
        <p:txBody>
          <a:bodyPr wrap="square" lIns="0" tIns="0" rIns="0" bIns="0" rtlCol="0" anchor="ctr"/>
          <a:lstStyle/>
          <a:p>
            <a:pPr marL="0" indent="0" algn="r">
              <a:buNone/>
            </a:pPr>
            <a:r>
              <a:rPr lang="en-US" sz="1000" dirty="0">
                <a:solidFill>
                  <a:srgbClr val="8A98B5"/>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2571</Words>
  <Application>Microsoft Office PowerPoint</Application>
  <PresentationFormat>Widescreen</PresentationFormat>
  <Paragraphs>329</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Programming Workstation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Workstation — Project Handoff</dc:title>
  <dc:subject>PptxGenJS Presentation</dc:subject>
  <dc:creator>Nate Lehnhof</dc:creator>
  <cp:lastModifiedBy>Nate Lehnhof</cp:lastModifiedBy>
  <cp:revision>2</cp:revision>
  <dcterms:created xsi:type="dcterms:W3CDTF">2026-08-04T19:36:32Z</dcterms:created>
  <dcterms:modified xsi:type="dcterms:W3CDTF">2026-08-04T20:14:09Z</dcterms:modified>
</cp:coreProperties>
</file>